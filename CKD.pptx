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64" r:id="rId5"/>
    <p:sldId id="261" r:id="rId6"/>
    <p:sldId id="260" r:id="rId7"/>
    <p:sldId id="265" r:id="rId8"/>
    <p:sldId id="266" r:id="rId9"/>
    <p:sldId id="267" r:id="rId10"/>
    <p:sldId id="269" r:id="rId11"/>
    <p:sldId id="270" r:id="rId12"/>
    <p:sldId id="271" r:id="rId13"/>
    <p:sldId id="272" r:id="rId14"/>
    <p:sldId id="273" r:id="rId15"/>
    <p:sldId id="274" r:id="rId16"/>
    <p:sldId id="275" r:id="rId17"/>
    <p:sldId id="276" r:id="rId18"/>
    <p:sldId id="277" r:id="rId19"/>
    <p:sldId id="278" r:id="rId20"/>
    <p:sldId id="281" r:id="rId21"/>
    <p:sldId id="279" r:id="rId22"/>
    <p:sldId id="280"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5" r:id="rId36"/>
    <p:sldId id="294" r:id="rId37"/>
    <p:sldId id="296" r:id="rId38"/>
    <p:sldId id="29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74"/>
    <p:restoredTop sz="94710"/>
  </p:normalViewPr>
  <p:slideViewPr>
    <p:cSldViewPr snapToGrid="0">
      <p:cViewPr varScale="1">
        <p:scale>
          <a:sx n="78" d="100"/>
          <a:sy n="78" d="100"/>
        </p:scale>
        <p:origin x="941"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8.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8.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CE42CC-1364-471D-A900-713A25A4398E}"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4DDAAE6B-D7E9-4C54-B42E-A7F0F6997D29}">
      <dgm:prSet custT="1"/>
      <dgm:spPr/>
      <dgm:t>
        <a:bodyPr/>
        <a:lstStyle/>
        <a:p>
          <a:r>
            <a:rPr lang="en-US" sz="2000" dirty="0">
              <a:latin typeface="Times New Roman" panose="02020603050405020304" pitchFamily="18" charset="0"/>
              <a:cs typeface="Times New Roman" panose="02020603050405020304" pitchFamily="18" charset="0"/>
            </a:rPr>
            <a:t>Loaded </a:t>
          </a:r>
          <a:r>
            <a:rPr lang="en-US" sz="2000" b="1" dirty="0">
              <a:latin typeface="Times New Roman" panose="02020603050405020304" pitchFamily="18" charset="0"/>
              <a:cs typeface="Times New Roman" panose="02020603050405020304" pitchFamily="18" charset="0"/>
            </a:rPr>
            <a:t>train (280 rows)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test (120 rows)</a:t>
          </a:r>
          <a:r>
            <a:rPr lang="en-US" sz="2000" dirty="0">
              <a:latin typeface="Times New Roman" panose="02020603050405020304" pitchFamily="18" charset="0"/>
              <a:cs typeface="Times New Roman" panose="02020603050405020304" pitchFamily="18" charset="0"/>
            </a:rPr>
            <a:t> datasets.</a:t>
          </a:r>
        </a:p>
      </dgm:t>
    </dgm:pt>
    <dgm:pt modelId="{6FCF6F0A-EBD1-4727-8B88-4569D558FB55}" type="parTrans" cxnId="{6FCC9436-A90B-4698-B0C9-43198F65F349}">
      <dgm:prSet/>
      <dgm:spPr/>
      <dgm:t>
        <a:bodyPr/>
        <a:lstStyle/>
        <a:p>
          <a:endParaRPr lang="en-US"/>
        </a:p>
      </dgm:t>
    </dgm:pt>
    <dgm:pt modelId="{DB582ECB-97EB-4AC9-8DDD-CDC2BE3B9488}" type="sibTrans" cxnId="{6FCC9436-A90B-4698-B0C9-43198F65F349}">
      <dgm:prSet/>
      <dgm:spPr/>
      <dgm:t>
        <a:bodyPr/>
        <a:lstStyle/>
        <a:p>
          <a:endParaRPr lang="en-US"/>
        </a:p>
      </dgm:t>
    </dgm:pt>
    <dgm:pt modelId="{E50758CE-766F-455B-AB35-F9716587C063}">
      <dgm:prSet custT="1"/>
      <dgm:spPr/>
      <dgm:t>
        <a:bodyPr/>
        <a:lstStyle/>
        <a:p>
          <a:r>
            <a:rPr lang="en-US" sz="2000" dirty="0">
              <a:latin typeface="Times New Roman" panose="02020603050405020304" pitchFamily="18" charset="0"/>
              <a:cs typeface="Times New Roman" panose="02020603050405020304" pitchFamily="18" charset="0"/>
            </a:rPr>
            <a:t>Converted numeric-looking columns (</a:t>
          </a:r>
          <a:r>
            <a:rPr lang="en-US" sz="2000" b="1" dirty="0">
              <a:latin typeface="Times New Roman" panose="02020603050405020304" pitchFamily="18" charset="0"/>
              <a:cs typeface="Times New Roman" panose="02020603050405020304" pitchFamily="18" charset="0"/>
            </a:rPr>
            <a:t>bp, </a:t>
          </a:r>
          <a:r>
            <a:rPr lang="en-US" sz="2000" b="1" dirty="0" err="1">
              <a:latin typeface="Times New Roman" panose="02020603050405020304" pitchFamily="18" charset="0"/>
              <a:cs typeface="Times New Roman" panose="02020603050405020304" pitchFamily="18" charset="0"/>
            </a:rPr>
            <a:t>sc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pcv</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wc</a:t>
          </a:r>
          <a:r>
            <a:rPr lang="en-US" sz="2000" b="1" dirty="0">
              <a:latin typeface="Times New Roman" panose="02020603050405020304" pitchFamily="18" charset="0"/>
              <a:cs typeface="Times New Roman" panose="02020603050405020304" pitchFamily="18" charset="0"/>
            </a:rPr>
            <a:t>, </a:t>
          </a:r>
          <a:r>
            <a:rPr lang="en-US" sz="2000" b="1" dirty="0" err="1">
              <a:latin typeface="Times New Roman" panose="02020603050405020304" pitchFamily="18" charset="0"/>
              <a:cs typeface="Times New Roman" panose="02020603050405020304" pitchFamily="18" charset="0"/>
            </a:rPr>
            <a:t>rc</a:t>
          </a:r>
          <a:r>
            <a:rPr lang="en-US" sz="2000" dirty="0">
              <a:latin typeface="Times New Roman" panose="02020603050405020304" pitchFamily="18" charset="0"/>
              <a:cs typeface="Times New Roman" panose="02020603050405020304" pitchFamily="18" charset="0"/>
            </a:rPr>
            <a:t>) to numeric type.</a:t>
          </a:r>
        </a:p>
      </dgm:t>
    </dgm:pt>
    <dgm:pt modelId="{4ABA38FA-E2DF-4645-83C6-1DCCD65B5519}" type="parTrans" cxnId="{AF69C7E0-64E8-4524-A38D-C57BA51EF3B4}">
      <dgm:prSet/>
      <dgm:spPr/>
      <dgm:t>
        <a:bodyPr/>
        <a:lstStyle/>
        <a:p>
          <a:endParaRPr lang="en-US"/>
        </a:p>
      </dgm:t>
    </dgm:pt>
    <dgm:pt modelId="{6C9357F1-2ED2-4917-A12E-E870E867C513}" type="sibTrans" cxnId="{AF69C7E0-64E8-4524-A38D-C57BA51EF3B4}">
      <dgm:prSet/>
      <dgm:spPr/>
      <dgm:t>
        <a:bodyPr/>
        <a:lstStyle/>
        <a:p>
          <a:endParaRPr lang="en-US"/>
        </a:p>
      </dgm:t>
    </dgm:pt>
    <dgm:pt modelId="{C5073D75-9B7D-40ED-885C-1D6599F0C742}">
      <dgm:prSet custT="1"/>
      <dgm:spPr/>
      <dgm:t>
        <a:bodyPr/>
        <a:lstStyle/>
        <a:p>
          <a:r>
            <a:rPr lang="en-US" sz="2000" dirty="0">
              <a:latin typeface="Times New Roman" panose="02020603050405020304" pitchFamily="18" charset="0"/>
              <a:cs typeface="Times New Roman" panose="02020603050405020304" pitchFamily="18" charset="0"/>
            </a:rPr>
            <a:t>Kept target variable classification in the train set only.</a:t>
          </a:r>
        </a:p>
      </dgm:t>
    </dgm:pt>
    <dgm:pt modelId="{E2B06A90-AA48-49F1-A4EE-7354C74B5D72}" type="parTrans" cxnId="{0D49E01B-97AC-43C7-AC9E-40C13999CE3E}">
      <dgm:prSet/>
      <dgm:spPr/>
      <dgm:t>
        <a:bodyPr/>
        <a:lstStyle/>
        <a:p>
          <a:endParaRPr lang="en-US"/>
        </a:p>
      </dgm:t>
    </dgm:pt>
    <dgm:pt modelId="{5FF71005-199B-43B0-B0CC-59B9DC282660}" type="sibTrans" cxnId="{0D49E01B-97AC-43C7-AC9E-40C13999CE3E}">
      <dgm:prSet/>
      <dgm:spPr/>
      <dgm:t>
        <a:bodyPr/>
        <a:lstStyle/>
        <a:p>
          <a:endParaRPr lang="en-US"/>
        </a:p>
      </dgm:t>
    </dgm:pt>
    <dgm:pt modelId="{752B28A4-7296-4EFE-BB30-08D477381B33}">
      <dgm:prSet custT="1"/>
      <dgm:spPr/>
      <dgm:t>
        <a:bodyPr/>
        <a:lstStyle/>
        <a:p>
          <a:r>
            <a:rPr lang="en-US" sz="2000" dirty="0">
              <a:latin typeface="Times New Roman" panose="02020603050405020304" pitchFamily="18" charset="0"/>
              <a:cs typeface="Times New Roman" panose="02020603050405020304" pitchFamily="18" charset="0"/>
            </a:rPr>
            <a:t>Ensured dataset is ready for </a:t>
          </a:r>
          <a:r>
            <a:rPr lang="en-US" sz="2000" b="1" dirty="0">
              <a:latin typeface="Times New Roman" panose="02020603050405020304" pitchFamily="18" charset="0"/>
              <a:cs typeface="Times New Roman" panose="02020603050405020304" pitchFamily="18" charset="0"/>
            </a:rPr>
            <a:t>visualization (EDA)</a:t>
          </a:r>
          <a:r>
            <a:rPr lang="en-US" sz="2000" dirty="0">
              <a:latin typeface="Times New Roman" panose="02020603050405020304" pitchFamily="18" charset="0"/>
              <a:cs typeface="Times New Roman" panose="02020603050405020304" pitchFamily="18" charset="0"/>
            </a:rPr>
            <a:t> .</a:t>
          </a:r>
        </a:p>
      </dgm:t>
    </dgm:pt>
    <dgm:pt modelId="{0B0943BE-B6DA-4A3A-8812-0CED5CE22ECC}" type="parTrans" cxnId="{94C38274-4D36-42F6-AD0B-7546818F51F6}">
      <dgm:prSet/>
      <dgm:spPr/>
      <dgm:t>
        <a:bodyPr/>
        <a:lstStyle/>
        <a:p>
          <a:endParaRPr lang="en-US"/>
        </a:p>
      </dgm:t>
    </dgm:pt>
    <dgm:pt modelId="{DC38C856-6958-4100-9C2E-C4EC53357100}" type="sibTrans" cxnId="{94C38274-4D36-42F6-AD0B-7546818F51F6}">
      <dgm:prSet/>
      <dgm:spPr/>
      <dgm:t>
        <a:bodyPr/>
        <a:lstStyle/>
        <a:p>
          <a:endParaRPr lang="en-US"/>
        </a:p>
      </dgm:t>
    </dgm:pt>
    <dgm:pt modelId="{E599A1B5-EC8D-4545-9659-F260DF85F2D6}" type="pres">
      <dgm:prSet presAssocID="{CBCE42CC-1364-471D-A900-713A25A4398E}" presName="linearFlow" presStyleCnt="0">
        <dgm:presLayoutVars>
          <dgm:resizeHandles val="exact"/>
        </dgm:presLayoutVars>
      </dgm:prSet>
      <dgm:spPr/>
    </dgm:pt>
    <dgm:pt modelId="{1375CF55-AA06-6C42-9A46-BF65325CB1D3}" type="pres">
      <dgm:prSet presAssocID="{4DDAAE6B-D7E9-4C54-B42E-A7F0F6997D29}" presName="node" presStyleLbl="node1" presStyleIdx="0" presStyleCnt="4" custLinFactNeighborX="-97715" custLinFactNeighborY="9747">
        <dgm:presLayoutVars>
          <dgm:bulletEnabled val="1"/>
        </dgm:presLayoutVars>
      </dgm:prSet>
      <dgm:spPr/>
    </dgm:pt>
    <dgm:pt modelId="{8949EB58-6728-2A43-8247-156FFD41326E}" type="pres">
      <dgm:prSet presAssocID="{DB582ECB-97EB-4AC9-8DDD-CDC2BE3B9488}" presName="sibTrans" presStyleLbl="sibTrans2D1" presStyleIdx="0" presStyleCnt="3"/>
      <dgm:spPr/>
    </dgm:pt>
    <dgm:pt modelId="{B77BFA61-322D-734A-AB87-CEAD67F7909E}" type="pres">
      <dgm:prSet presAssocID="{DB582ECB-97EB-4AC9-8DDD-CDC2BE3B9488}" presName="connectorText" presStyleLbl="sibTrans2D1" presStyleIdx="0" presStyleCnt="3"/>
      <dgm:spPr/>
    </dgm:pt>
    <dgm:pt modelId="{F06CD614-6A6F-4B4E-B359-7A304CBB7EF5}" type="pres">
      <dgm:prSet presAssocID="{E50758CE-766F-455B-AB35-F9716587C063}" presName="node" presStyleLbl="node1" presStyleIdx="1" presStyleCnt="4" custLinFactNeighborX="26317" custLinFactNeighborY="-52635">
        <dgm:presLayoutVars>
          <dgm:bulletEnabled val="1"/>
        </dgm:presLayoutVars>
      </dgm:prSet>
      <dgm:spPr/>
    </dgm:pt>
    <dgm:pt modelId="{7D54B165-48E9-6647-80B5-45C235EEACFF}" type="pres">
      <dgm:prSet presAssocID="{6C9357F1-2ED2-4917-A12E-E870E867C513}" presName="sibTrans" presStyleLbl="sibTrans2D1" presStyleIdx="1" presStyleCnt="3"/>
      <dgm:spPr/>
    </dgm:pt>
    <dgm:pt modelId="{4501BDFF-B3A7-5C41-85F7-BA2F4DAB289F}" type="pres">
      <dgm:prSet presAssocID="{6C9357F1-2ED2-4917-A12E-E870E867C513}" presName="connectorText" presStyleLbl="sibTrans2D1" presStyleIdx="1" presStyleCnt="3"/>
      <dgm:spPr/>
    </dgm:pt>
    <dgm:pt modelId="{04BC0BF8-B823-284A-84EE-E455CC4F74B2}" type="pres">
      <dgm:prSet presAssocID="{C5073D75-9B7D-40ED-885C-1D6599F0C742}" presName="node" presStyleLbl="node1" presStyleIdx="2" presStyleCnt="4" custLinFactNeighborX="-70667" custLinFactNeighborY="-33140">
        <dgm:presLayoutVars>
          <dgm:bulletEnabled val="1"/>
        </dgm:presLayoutVars>
      </dgm:prSet>
      <dgm:spPr/>
    </dgm:pt>
    <dgm:pt modelId="{89407B41-6F35-304F-9C84-305D6320E19E}" type="pres">
      <dgm:prSet presAssocID="{5FF71005-199B-43B0-B0CC-59B9DC282660}" presName="sibTrans" presStyleLbl="sibTrans2D1" presStyleIdx="2" presStyleCnt="3"/>
      <dgm:spPr/>
    </dgm:pt>
    <dgm:pt modelId="{47B93208-6815-4B44-ADCB-C567905B9328}" type="pres">
      <dgm:prSet presAssocID="{5FF71005-199B-43B0-B0CC-59B9DC282660}" presName="connectorText" presStyleLbl="sibTrans2D1" presStyleIdx="2" presStyleCnt="3"/>
      <dgm:spPr/>
    </dgm:pt>
    <dgm:pt modelId="{E66554A3-D419-2848-B996-4BC72C6292CF}" type="pres">
      <dgm:prSet presAssocID="{752B28A4-7296-4EFE-BB30-08D477381B33}" presName="node" presStyleLbl="node1" presStyleIdx="3" presStyleCnt="4" custLinFactNeighborX="35820" custLinFactNeighborY="-36403">
        <dgm:presLayoutVars>
          <dgm:bulletEnabled val="1"/>
        </dgm:presLayoutVars>
      </dgm:prSet>
      <dgm:spPr/>
    </dgm:pt>
  </dgm:ptLst>
  <dgm:cxnLst>
    <dgm:cxn modelId="{B08A0317-3548-ED4C-8CBA-1A7FD3A07029}" type="presOf" srcId="{752B28A4-7296-4EFE-BB30-08D477381B33}" destId="{E66554A3-D419-2848-B996-4BC72C6292CF}" srcOrd="0" destOrd="0" presId="urn:microsoft.com/office/officeart/2005/8/layout/process2"/>
    <dgm:cxn modelId="{0D49E01B-97AC-43C7-AC9E-40C13999CE3E}" srcId="{CBCE42CC-1364-471D-A900-713A25A4398E}" destId="{C5073D75-9B7D-40ED-885C-1D6599F0C742}" srcOrd="2" destOrd="0" parTransId="{E2B06A90-AA48-49F1-A4EE-7354C74B5D72}" sibTransId="{5FF71005-199B-43B0-B0CC-59B9DC282660}"/>
    <dgm:cxn modelId="{99E66636-F1A0-DC40-A023-852DA979820E}" type="presOf" srcId="{4DDAAE6B-D7E9-4C54-B42E-A7F0F6997D29}" destId="{1375CF55-AA06-6C42-9A46-BF65325CB1D3}" srcOrd="0" destOrd="0" presId="urn:microsoft.com/office/officeart/2005/8/layout/process2"/>
    <dgm:cxn modelId="{6FCC9436-A90B-4698-B0C9-43198F65F349}" srcId="{CBCE42CC-1364-471D-A900-713A25A4398E}" destId="{4DDAAE6B-D7E9-4C54-B42E-A7F0F6997D29}" srcOrd="0" destOrd="0" parTransId="{6FCF6F0A-EBD1-4727-8B88-4569D558FB55}" sibTransId="{DB582ECB-97EB-4AC9-8DDD-CDC2BE3B9488}"/>
    <dgm:cxn modelId="{92810663-5892-A748-B39F-6DE0973C06FB}" type="presOf" srcId="{5FF71005-199B-43B0-B0CC-59B9DC282660}" destId="{89407B41-6F35-304F-9C84-305D6320E19E}" srcOrd="0" destOrd="0" presId="urn:microsoft.com/office/officeart/2005/8/layout/process2"/>
    <dgm:cxn modelId="{1258CE45-801D-D04F-9843-6808BD052B4A}" type="presOf" srcId="{6C9357F1-2ED2-4917-A12E-E870E867C513}" destId="{7D54B165-48E9-6647-80B5-45C235EEACFF}" srcOrd="0" destOrd="0" presId="urn:microsoft.com/office/officeart/2005/8/layout/process2"/>
    <dgm:cxn modelId="{D158F453-8F76-CD4F-BB4F-ADA2B506E56C}" type="presOf" srcId="{E50758CE-766F-455B-AB35-F9716587C063}" destId="{F06CD614-6A6F-4B4E-B359-7A304CBB7EF5}" srcOrd="0" destOrd="0" presId="urn:microsoft.com/office/officeart/2005/8/layout/process2"/>
    <dgm:cxn modelId="{94C38274-4D36-42F6-AD0B-7546818F51F6}" srcId="{CBCE42CC-1364-471D-A900-713A25A4398E}" destId="{752B28A4-7296-4EFE-BB30-08D477381B33}" srcOrd="3" destOrd="0" parTransId="{0B0943BE-B6DA-4A3A-8812-0CED5CE22ECC}" sibTransId="{DC38C856-6958-4100-9C2E-C4EC53357100}"/>
    <dgm:cxn modelId="{D3187280-600F-7F4B-BC64-65FA1FA062C7}" type="presOf" srcId="{C5073D75-9B7D-40ED-885C-1D6599F0C742}" destId="{04BC0BF8-B823-284A-84EE-E455CC4F74B2}" srcOrd="0" destOrd="0" presId="urn:microsoft.com/office/officeart/2005/8/layout/process2"/>
    <dgm:cxn modelId="{4F30B885-17A0-704D-8FB6-D68044E021B3}" type="presOf" srcId="{DB582ECB-97EB-4AC9-8DDD-CDC2BE3B9488}" destId="{8949EB58-6728-2A43-8247-156FFD41326E}" srcOrd="0" destOrd="0" presId="urn:microsoft.com/office/officeart/2005/8/layout/process2"/>
    <dgm:cxn modelId="{BDE10BA9-2D59-E545-B0F8-46650C5E482D}" type="presOf" srcId="{6C9357F1-2ED2-4917-A12E-E870E867C513}" destId="{4501BDFF-B3A7-5C41-85F7-BA2F4DAB289F}" srcOrd="1" destOrd="0" presId="urn:microsoft.com/office/officeart/2005/8/layout/process2"/>
    <dgm:cxn modelId="{49DE9DC3-AE32-D847-AE53-D389FB68702B}" type="presOf" srcId="{5FF71005-199B-43B0-B0CC-59B9DC282660}" destId="{47B93208-6815-4B44-ADCB-C567905B9328}" srcOrd="1" destOrd="0" presId="urn:microsoft.com/office/officeart/2005/8/layout/process2"/>
    <dgm:cxn modelId="{257E7ECE-D7BF-174F-AD47-C7F485542EEC}" type="presOf" srcId="{CBCE42CC-1364-471D-A900-713A25A4398E}" destId="{E599A1B5-EC8D-4545-9659-F260DF85F2D6}" srcOrd="0" destOrd="0" presId="urn:microsoft.com/office/officeart/2005/8/layout/process2"/>
    <dgm:cxn modelId="{AF69C7E0-64E8-4524-A38D-C57BA51EF3B4}" srcId="{CBCE42CC-1364-471D-A900-713A25A4398E}" destId="{E50758CE-766F-455B-AB35-F9716587C063}" srcOrd="1" destOrd="0" parTransId="{4ABA38FA-E2DF-4645-83C6-1DCCD65B5519}" sibTransId="{6C9357F1-2ED2-4917-A12E-E870E867C513}"/>
    <dgm:cxn modelId="{18E2C8FA-2520-0547-9F8E-C94447D611B1}" type="presOf" srcId="{DB582ECB-97EB-4AC9-8DDD-CDC2BE3B9488}" destId="{B77BFA61-322D-734A-AB87-CEAD67F7909E}" srcOrd="1" destOrd="0" presId="urn:microsoft.com/office/officeart/2005/8/layout/process2"/>
    <dgm:cxn modelId="{19EE5DD9-3755-C242-B79A-5D59FDDEBAC1}" type="presParOf" srcId="{E599A1B5-EC8D-4545-9659-F260DF85F2D6}" destId="{1375CF55-AA06-6C42-9A46-BF65325CB1D3}" srcOrd="0" destOrd="0" presId="urn:microsoft.com/office/officeart/2005/8/layout/process2"/>
    <dgm:cxn modelId="{60238128-1152-1544-B104-9077528EFF6E}" type="presParOf" srcId="{E599A1B5-EC8D-4545-9659-F260DF85F2D6}" destId="{8949EB58-6728-2A43-8247-156FFD41326E}" srcOrd="1" destOrd="0" presId="urn:microsoft.com/office/officeart/2005/8/layout/process2"/>
    <dgm:cxn modelId="{686639A2-3B4D-FF4D-821D-ED5E8C1FE5A4}" type="presParOf" srcId="{8949EB58-6728-2A43-8247-156FFD41326E}" destId="{B77BFA61-322D-734A-AB87-CEAD67F7909E}" srcOrd="0" destOrd="0" presId="urn:microsoft.com/office/officeart/2005/8/layout/process2"/>
    <dgm:cxn modelId="{4C20784A-7758-DF47-90DE-20EE4FBDA3C2}" type="presParOf" srcId="{E599A1B5-EC8D-4545-9659-F260DF85F2D6}" destId="{F06CD614-6A6F-4B4E-B359-7A304CBB7EF5}" srcOrd="2" destOrd="0" presId="urn:microsoft.com/office/officeart/2005/8/layout/process2"/>
    <dgm:cxn modelId="{20733605-E017-9A4F-A56E-705167673830}" type="presParOf" srcId="{E599A1B5-EC8D-4545-9659-F260DF85F2D6}" destId="{7D54B165-48E9-6647-80B5-45C235EEACFF}" srcOrd="3" destOrd="0" presId="urn:microsoft.com/office/officeart/2005/8/layout/process2"/>
    <dgm:cxn modelId="{72A8095C-A00D-D144-87E0-C474F879973A}" type="presParOf" srcId="{7D54B165-48E9-6647-80B5-45C235EEACFF}" destId="{4501BDFF-B3A7-5C41-85F7-BA2F4DAB289F}" srcOrd="0" destOrd="0" presId="urn:microsoft.com/office/officeart/2005/8/layout/process2"/>
    <dgm:cxn modelId="{E56911A3-E233-EE47-8513-37297A8BBEAA}" type="presParOf" srcId="{E599A1B5-EC8D-4545-9659-F260DF85F2D6}" destId="{04BC0BF8-B823-284A-84EE-E455CC4F74B2}" srcOrd="4" destOrd="0" presId="urn:microsoft.com/office/officeart/2005/8/layout/process2"/>
    <dgm:cxn modelId="{2882A9AB-9E23-3C42-8DEE-D48CA7E17737}" type="presParOf" srcId="{E599A1B5-EC8D-4545-9659-F260DF85F2D6}" destId="{89407B41-6F35-304F-9C84-305D6320E19E}" srcOrd="5" destOrd="0" presId="urn:microsoft.com/office/officeart/2005/8/layout/process2"/>
    <dgm:cxn modelId="{627A5B93-89CB-E648-8D20-1574E022F8E3}" type="presParOf" srcId="{89407B41-6F35-304F-9C84-305D6320E19E}" destId="{47B93208-6815-4B44-ADCB-C567905B9328}" srcOrd="0" destOrd="0" presId="urn:microsoft.com/office/officeart/2005/8/layout/process2"/>
    <dgm:cxn modelId="{75E12EBC-F583-1243-B9A9-9885DA53C26E}" type="presParOf" srcId="{E599A1B5-EC8D-4545-9659-F260DF85F2D6}" destId="{E66554A3-D419-2848-B996-4BC72C6292CF}"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BEC657F-7390-4811-896A-3AE98D0293E2}" type="doc">
      <dgm:prSet loTypeId="urn:microsoft.com/office/officeart/2008/layout/LinedList" loCatId="list" qsTypeId="urn:microsoft.com/office/officeart/2005/8/quickstyle/simple4" qsCatId="simple" csTypeId="urn:microsoft.com/office/officeart/2005/8/colors/accent4_2" csCatId="accent4" phldr="1"/>
      <dgm:spPr/>
      <dgm:t>
        <a:bodyPr/>
        <a:lstStyle/>
        <a:p>
          <a:endParaRPr lang="en-US"/>
        </a:p>
      </dgm:t>
    </dgm:pt>
    <dgm:pt modelId="{83DB948D-8A49-44B2-8509-D18FAA27B558}">
      <dgm:prSet/>
      <dgm:spPr/>
      <dgm:t>
        <a:bodyPr/>
        <a:lstStyle/>
        <a:p>
          <a:r>
            <a:rPr lang="en-US" b="1" dirty="0">
              <a:latin typeface="Times New Roman" panose="02020603050405020304" pitchFamily="18" charset="0"/>
              <a:cs typeface="Times New Roman" panose="02020603050405020304" pitchFamily="18" charset="0"/>
            </a:rPr>
            <a:t>Bar chart (counts of hypertension):</a:t>
          </a:r>
          <a:r>
            <a:rPr lang="en-US" dirty="0">
              <a:latin typeface="Times New Roman" panose="02020603050405020304" pitchFamily="18" charset="0"/>
              <a:cs typeface="Times New Roman" panose="02020603050405020304" pitchFamily="18" charset="0"/>
            </a:rPr>
            <a:t>Most patients (177) do not have hypertension, while 102 patients do. Only 1 record is missing this information. Even though more patients are in the ‘no’ group, the large number with hypertension shows it is still an important factor in CKD</a:t>
          </a:r>
          <a:r>
            <a:rPr lang="en-US" dirty="0"/>
            <a:t>.</a:t>
          </a:r>
        </a:p>
      </dgm:t>
    </dgm:pt>
    <dgm:pt modelId="{EC90B366-74FA-4241-B6CC-BACABA91F72F}" type="parTrans" cxnId="{7BE8A27F-2541-40D0-91D3-92F79E6D3B88}">
      <dgm:prSet/>
      <dgm:spPr/>
      <dgm:t>
        <a:bodyPr/>
        <a:lstStyle/>
        <a:p>
          <a:endParaRPr lang="en-US"/>
        </a:p>
      </dgm:t>
    </dgm:pt>
    <dgm:pt modelId="{F384BB51-7DE3-4CE9-90CE-757C4C931380}" type="sibTrans" cxnId="{7BE8A27F-2541-40D0-91D3-92F79E6D3B88}">
      <dgm:prSet/>
      <dgm:spPr/>
      <dgm:t>
        <a:bodyPr/>
        <a:lstStyle/>
        <a:p>
          <a:endParaRPr lang="en-US"/>
        </a:p>
      </dgm:t>
    </dgm:pt>
    <dgm:pt modelId="{995B2A59-719F-374D-9040-0E7135D40FCA}" type="pres">
      <dgm:prSet presAssocID="{6BEC657F-7390-4811-896A-3AE98D0293E2}" presName="vert0" presStyleCnt="0">
        <dgm:presLayoutVars>
          <dgm:dir/>
          <dgm:animOne val="branch"/>
          <dgm:animLvl val="lvl"/>
        </dgm:presLayoutVars>
      </dgm:prSet>
      <dgm:spPr/>
    </dgm:pt>
    <dgm:pt modelId="{99172A87-D1A1-4442-86AA-0863123ABDDD}" type="pres">
      <dgm:prSet presAssocID="{83DB948D-8A49-44B2-8509-D18FAA27B558}" presName="thickLine" presStyleLbl="alignNode1" presStyleIdx="0" presStyleCnt="1"/>
      <dgm:spPr/>
    </dgm:pt>
    <dgm:pt modelId="{0F9912CA-F0C1-EB40-ACFE-BA1AC5AAF5F1}" type="pres">
      <dgm:prSet presAssocID="{83DB948D-8A49-44B2-8509-D18FAA27B558}" presName="horz1" presStyleCnt="0"/>
      <dgm:spPr/>
    </dgm:pt>
    <dgm:pt modelId="{BC771DB9-B562-6F48-B40F-6FB7A2FFE5C1}" type="pres">
      <dgm:prSet presAssocID="{83DB948D-8A49-44B2-8509-D18FAA27B558}" presName="tx1" presStyleLbl="revTx" presStyleIdx="0" presStyleCnt="1"/>
      <dgm:spPr/>
    </dgm:pt>
    <dgm:pt modelId="{35975A56-9CE4-CB4B-96BF-E228ED20E0EB}" type="pres">
      <dgm:prSet presAssocID="{83DB948D-8A49-44B2-8509-D18FAA27B558}" presName="vert1" presStyleCnt="0"/>
      <dgm:spPr/>
    </dgm:pt>
  </dgm:ptLst>
  <dgm:cxnLst>
    <dgm:cxn modelId="{82A0CF6C-33A7-6A4F-A79F-A0DBB3630DF7}" type="presOf" srcId="{6BEC657F-7390-4811-896A-3AE98D0293E2}" destId="{995B2A59-719F-374D-9040-0E7135D40FCA}" srcOrd="0" destOrd="0" presId="urn:microsoft.com/office/officeart/2008/layout/LinedList"/>
    <dgm:cxn modelId="{7BE8A27F-2541-40D0-91D3-92F79E6D3B88}" srcId="{6BEC657F-7390-4811-896A-3AE98D0293E2}" destId="{83DB948D-8A49-44B2-8509-D18FAA27B558}" srcOrd="0" destOrd="0" parTransId="{EC90B366-74FA-4241-B6CC-BACABA91F72F}" sibTransId="{F384BB51-7DE3-4CE9-90CE-757C4C931380}"/>
    <dgm:cxn modelId="{305B63C2-9B4B-1340-A35F-80ADBFF8A8E9}" type="presOf" srcId="{83DB948D-8A49-44B2-8509-D18FAA27B558}" destId="{BC771DB9-B562-6F48-B40F-6FB7A2FFE5C1}" srcOrd="0" destOrd="0" presId="urn:microsoft.com/office/officeart/2008/layout/LinedList"/>
    <dgm:cxn modelId="{C788924E-B97E-F14E-AC97-12FD94460893}" type="presParOf" srcId="{995B2A59-719F-374D-9040-0E7135D40FCA}" destId="{99172A87-D1A1-4442-86AA-0863123ABDDD}" srcOrd="0" destOrd="0" presId="urn:microsoft.com/office/officeart/2008/layout/LinedList"/>
    <dgm:cxn modelId="{4FC9FC3D-8FFF-D14D-9C5E-CD03D260B7F6}" type="presParOf" srcId="{995B2A59-719F-374D-9040-0E7135D40FCA}" destId="{0F9912CA-F0C1-EB40-ACFE-BA1AC5AAF5F1}" srcOrd="1" destOrd="0" presId="urn:microsoft.com/office/officeart/2008/layout/LinedList"/>
    <dgm:cxn modelId="{6458D356-6FC3-3A4C-98CC-24F5FBEDE943}" type="presParOf" srcId="{0F9912CA-F0C1-EB40-ACFE-BA1AC5AAF5F1}" destId="{BC771DB9-B562-6F48-B40F-6FB7A2FFE5C1}" srcOrd="0" destOrd="0" presId="urn:microsoft.com/office/officeart/2008/layout/LinedList"/>
    <dgm:cxn modelId="{CB0BAAAF-C8CB-CB45-B5EC-635FF81E7E3C}" type="presParOf" srcId="{0F9912CA-F0C1-EB40-ACFE-BA1AC5AAF5F1}" destId="{35975A56-9CE4-CB4B-96BF-E228ED20E0E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44FD39-69CB-4516-9894-6CA8329C0DEF}" type="doc">
      <dgm:prSet loTypeId="urn:microsoft.com/office/officeart/2005/8/layout/process5" loCatId="process" qsTypeId="urn:microsoft.com/office/officeart/2005/8/quickstyle/simple5" qsCatId="simple" csTypeId="urn:microsoft.com/office/officeart/2005/8/colors/accent6_2" csCatId="accent6"/>
      <dgm:spPr/>
      <dgm:t>
        <a:bodyPr/>
        <a:lstStyle/>
        <a:p>
          <a:endParaRPr lang="en-US"/>
        </a:p>
      </dgm:t>
    </dgm:pt>
    <dgm:pt modelId="{447E6F39-1B2A-4E09-AF34-EC22D692AF6D}">
      <dgm:prSet/>
      <dgm:spPr/>
      <dgm:t>
        <a:bodyPr/>
        <a:lstStyle/>
        <a:p>
          <a:r>
            <a:rPr lang="en-US" dirty="0">
              <a:latin typeface="Times New Roman" panose="02020603050405020304" pitchFamily="18" charset="0"/>
              <a:cs typeface="Times New Roman" panose="02020603050405020304" pitchFamily="18" charset="0"/>
            </a:rPr>
            <a:t>The attributes </a:t>
          </a:r>
        </a:p>
      </dgm:t>
    </dgm:pt>
    <dgm:pt modelId="{83A2273B-20F1-4EF0-8432-806DAB5EE136}" type="parTrans" cxnId="{70DF3C69-684E-47D5-B733-1CEEE4884820}">
      <dgm:prSet/>
      <dgm:spPr/>
      <dgm:t>
        <a:bodyPr/>
        <a:lstStyle/>
        <a:p>
          <a:endParaRPr lang="en-US"/>
        </a:p>
      </dgm:t>
    </dgm:pt>
    <dgm:pt modelId="{8332DC46-FA9C-4864-86ED-D68F6E1A440C}" type="sibTrans" cxnId="{70DF3C69-684E-47D5-B733-1CEEE4884820}">
      <dgm:prSet/>
      <dgm:spPr/>
      <dgm:t>
        <a:bodyPr/>
        <a:lstStyle/>
        <a:p>
          <a:endParaRPr lang="en-US"/>
        </a:p>
      </dgm:t>
    </dgm:pt>
    <dgm:pt modelId="{F2C4C938-ECB6-4104-AA2D-6E7456419128}">
      <dgm:prSet/>
      <dgm:spPr/>
      <dgm:t>
        <a:bodyPr/>
        <a:lstStyle/>
        <a:p>
          <a:r>
            <a:rPr lang="en-US" b="1" dirty="0">
              <a:latin typeface="Times New Roman" panose="02020603050405020304" pitchFamily="18" charset="0"/>
              <a:cs typeface="Times New Roman" panose="02020603050405020304" pitchFamily="18" charset="0"/>
            </a:rPr>
            <a:t>Age (age)</a:t>
          </a:r>
          <a:r>
            <a:rPr lang="en-US" dirty="0">
              <a:latin typeface="Times New Roman" panose="02020603050405020304" pitchFamily="18" charset="0"/>
              <a:cs typeface="Times New Roman" panose="02020603050405020304" pitchFamily="18" charset="0"/>
            </a:rPr>
            <a:t> – patient’s age (numeric).</a:t>
          </a:r>
        </a:p>
      </dgm:t>
    </dgm:pt>
    <dgm:pt modelId="{E5C10D82-05DE-46C8-9BDD-128F91BC31E8}" type="parTrans" cxnId="{97F455FD-3856-4704-8DCB-400FB1E1183A}">
      <dgm:prSet/>
      <dgm:spPr/>
      <dgm:t>
        <a:bodyPr/>
        <a:lstStyle/>
        <a:p>
          <a:endParaRPr lang="en-US"/>
        </a:p>
      </dgm:t>
    </dgm:pt>
    <dgm:pt modelId="{61E38254-5E87-4514-98D2-9D0F74849F0A}" type="sibTrans" cxnId="{97F455FD-3856-4704-8DCB-400FB1E1183A}">
      <dgm:prSet/>
      <dgm:spPr/>
      <dgm:t>
        <a:bodyPr/>
        <a:lstStyle/>
        <a:p>
          <a:endParaRPr lang="en-US"/>
        </a:p>
      </dgm:t>
    </dgm:pt>
    <dgm:pt modelId="{107A4D35-E12F-44C0-99A0-D42BF241DC26}">
      <dgm:prSet/>
      <dgm:spPr/>
      <dgm:t>
        <a:bodyPr/>
        <a:lstStyle/>
        <a:p>
          <a:r>
            <a:rPr lang="en-US" b="1" dirty="0">
              <a:latin typeface="Times New Roman" panose="02020603050405020304" pitchFamily="18" charset="0"/>
              <a:cs typeface="Times New Roman" panose="02020603050405020304" pitchFamily="18" charset="0"/>
            </a:rPr>
            <a:t>Blood Pressure (bp)</a:t>
          </a:r>
          <a:r>
            <a:rPr lang="en-US" dirty="0">
              <a:latin typeface="Times New Roman" panose="02020603050405020304" pitchFamily="18" charset="0"/>
              <a:cs typeface="Times New Roman" panose="02020603050405020304" pitchFamily="18" charset="0"/>
            </a:rPr>
            <a:t> – in mmHg (numeric).</a:t>
          </a:r>
        </a:p>
      </dgm:t>
    </dgm:pt>
    <dgm:pt modelId="{249ABE74-EBC6-4687-8374-B432EEB77F84}" type="parTrans" cxnId="{8CF3ADDF-407A-4DF0-9370-970BB0332D7F}">
      <dgm:prSet/>
      <dgm:spPr/>
      <dgm:t>
        <a:bodyPr/>
        <a:lstStyle/>
        <a:p>
          <a:endParaRPr lang="en-US"/>
        </a:p>
      </dgm:t>
    </dgm:pt>
    <dgm:pt modelId="{D2763BA5-F6D4-4702-BEF4-4C0A6D4C68C6}" type="sibTrans" cxnId="{8CF3ADDF-407A-4DF0-9370-970BB0332D7F}">
      <dgm:prSet/>
      <dgm:spPr/>
      <dgm:t>
        <a:bodyPr/>
        <a:lstStyle/>
        <a:p>
          <a:endParaRPr lang="en-US"/>
        </a:p>
      </dgm:t>
    </dgm:pt>
    <dgm:pt modelId="{E6B3233A-3F23-4AAF-97A3-F02BEC960755}">
      <dgm:prSet/>
      <dgm:spPr/>
      <dgm:t>
        <a:bodyPr/>
        <a:lstStyle/>
        <a:p>
          <a:r>
            <a:rPr lang="en-US" b="1" dirty="0">
              <a:latin typeface="Times New Roman" panose="02020603050405020304" pitchFamily="18" charset="0"/>
              <a:cs typeface="Times New Roman" panose="02020603050405020304" pitchFamily="18" charset="0"/>
            </a:rPr>
            <a:t>Serum Creatinine (</a:t>
          </a:r>
          <a:r>
            <a:rPr lang="en-US" b="1" dirty="0" err="1">
              <a:latin typeface="Times New Roman" panose="02020603050405020304" pitchFamily="18" charset="0"/>
              <a:cs typeface="Times New Roman" panose="02020603050405020304" pitchFamily="18" charset="0"/>
            </a:rPr>
            <a:t>sc</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 kidney function marker in mg/dL (numeric).</a:t>
          </a:r>
        </a:p>
      </dgm:t>
    </dgm:pt>
    <dgm:pt modelId="{F28E3745-0207-4D6B-85A4-217A1F414C87}" type="parTrans" cxnId="{AE85E541-D447-48BE-B9D4-D62FFA178256}">
      <dgm:prSet/>
      <dgm:spPr/>
      <dgm:t>
        <a:bodyPr/>
        <a:lstStyle/>
        <a:p>
          <a:endParaRPr lang="en-US"/>
        </a:p>
      </dgm:t>
    </dgm:pt>
    <dgm:pt modelId="{7F9B4CDD-DF8C-458A-B607-7470C605EB36}" type="sibTrans" cxnId="{AE85E541-D447-48BE-B9D4-D62FFA178256}">
      <dgm:prSet/>
      <dgm:spPr/>
      <dgm:t>
        <a:bodyPr/>
        <a:lstStyle/>
        <a:p>
          <a:endParaRPr lang="en-US"/>
        </a:p>
      </dgm:t>
    </dgm:pt>
    <dgm:pt modelId="{3C6CBC63-C356-4E3D-91AA-D890DA6FAD2C}" type="pres">
      <dgm:prSet presAssocID="{6344FD39-69CB-4516-9894-6CA8329C0DEF}" presName="diagram" presStyleCnt="0">
        <dgm:presLayoutVars>
          <dgm:dir/>
          <dgm:resizeHandles val="exact"/>
        </dgm:presLayoutVars>
      </dgm:prSet>
      <dgm:spPr/>
    </dgm:pt>
    <dgm:pt modelId="{8DD4169C-9534-4BC7-A553-997D08003D9B}" type="pres">
      <dgm:prSet presAssocID="{447E6F39-1B2A-4E09-AF34-EC22D692AF6D}" presName="node" presStyleLbl="node1" presStyleIdx="0" presStyleCnt="1" custLinFactNeighborX="1744" custLinFactNeighborY="-13253">
        <dgm:presLayoutVars>
          <dgm:bulletEnabled val="1"/>
        </dgm:presLayoutVars>
      </dgm:prSet>
      <dgm:spPr/>
    </dgm:pt>
  </dgm:ptLst>
  <dgm:cxnLst>
    <dgm:cxn modelId="{2379BB0A-8CE8-4856-A34E-501273E01422}" type="presOf" srcId="{E6B3233A-3F23-4AAF-97A3-F02BEC960755}" destId="{8DD4169C-9534-4BC7-A553-997D08003D9B}" srcOrd="0" destOrd="3" presId="urn:microsoft.com/office/officeart/2005/8/layout/process5"/>
    <dgm:cxn modelId="{7DE0B61A-04DA-4A4E-AD0D-C0242C420694}" type="presOf" srcId="{107A4D35-E12F-44C0-99A0-D42BF241DC26}" destId="{8DD4169C-9534-4BC7-A553-997D08003D9B}" srcOrd="0" destOrd="2" presId="urn:microsoft.com/office/officeart/2005/8/layout/process5"/>
    <dgm:cxn modelId="{EEAAD261-AEAB-4551-94F5-5A1178D26770}" type="presOf" srcId="{F2C4C938-ECB6-4104-AA2D-6E7456419128}" destId="{8DD4169C-9534-4BC7-A553-997D08003D9B}" srcOrd="0" destOrd="1" presId="urn:microsoft.com/office/officeart/2005/8/layout/process5"/>
    <dgm:cxn modelId="{AE85E541-D447-48BE-B9D4-D62FFA178256}" srcId="{447E6F39-1B2A-4E09-AF34-EC22D692AF6D}" destId="{E6B3233A-3F23-4AAF-97A3-F02BEC960755}" srcOrd="2" destOrd="0" parTransId="{F28E3745-0207-4D6B-85A4-217A1F414C87}" sibTransId="{7F9B4CDD-DF8C-458A-B607-7470C605EB36}"/>
    <dgm:cxn modelId="{702A6747-5A0B-453D-84D1-861808B5C88A}" type="presOf" srcId="{6344FD39-69CB-4516-9894-6CA8329C0DEF}" destId="{3C6CBC63-C356-4E3D-91AA-D890DA6FAD2C}" srcOrd="0" destOrd="0" presId="urn:microsoft.com/office/officeart/2005/8/layout/process5"/>
    <dgm:cxn modelId="{70DF3C69-684E-47D5-B733-1CEEE4884820}" srcId="{6344FD39-69CB-4516-9894-6CA8329C0DEF}" destId="{447E6F39-1B2A-4E09-AF34-EC22D692AF6D}" srcOrd="0" destOrd="0" parTransId="{83A2273B-20F1-4EF0-8432-806DAB5EE136}" sibTransId="{8332DC46-FA9C-4864-86ED-D68F6E1A440C}"/>
    <dgm:cxn modelId="{0D11774C-7B8A-4A80-8FF6-7E7FCB9A09ED}" type="presOf" srcId="{447E6F39-1B2A-4E09-AF34-EC22D692AF6D}" destId="{8DD4169C-9534-4BC7-A553-997D08003D9B}" srcOrd="0" destOrd="0" presId="urn:microsoft.com/office/officeart/2005/8/layout/process5"/>
    <dgm:cxn modelId="{8CF3ADDF-407A-4DF0-9370-970BB0332D7F}" srcId="{447E6F39-1B2A-4E09-AF34-EC22D692AF6D}" destId="{107A4D35-E12F-44C0-99A0-D42BF241DC26}" srcOrd="1" destOrd="0" parTransId="{249ABE74-EBC6-4687-8374-B432EEB77F84}" sibTransId="{D2763BA5-F6D4-4702-BEF4-4C0A6D4C68C6}"/>
    <dgm:cxn modelId="{97F455FD-3856-4704-8DCB-400FB1E1183A}" srcId="{447E6F39-1B2A-4E09-AF34-EC22D692AF6D}" destId="{F2C4C938-ECB6-4104-AA2D-6E7456419128}" srcOrd="0" destOrd="0" parTransId="{E5C10D82-05DE-46C8-9BDD-128F91BC31E8}" sibTransId="{61E38254-5E87-4514-98D2-9D0F74849F0A}"/>
    <dgm:cxn modelId="{D8783DF8-E038-4E0E-A7D1-25D0AF83628B}" type="presParOf" srcId="{3C6CBC63-C356-4E3D-91AA-D890DA6FAD2C}" destId="{8DD4169C-9534-4BC7-A553-997D08003D9B}" srcOrd="0"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0A9B93-44A8-437A-B856-43BD5DB7F40F}" type="doc">
      <dgm:prSet loTypeId="urn:microsoft.com/office/officeart/2005/8/layout/bProcess2" loCatId="process" qsTypeId="urn:microsoft.com/office/officeart/2005/8/quickstyle/simple1" qsCatId="simple" csTypeId="urn:microsoft.com/office/officeart/2005/8/colors/accent1_2" csCatId="accent1" phldr="1"/>
      <dgm:spPr/>
      <dgm:t>
        <a:bodyPr/>
        <a:lstStyle/>
        <a:p>
          <a:endParaRPr lang="en-US"/>
        </a:p>
      </dgm:t>
    </dgm:pt>
    <dgm:pt modelId="{70D0138A-88E7-4014-8613-5235727FB06D}">
      <dgm:prSet custT="1"/>
      <dgm:spPr/>
      <dgm:t>
        <a:bodyPr/>
        <a:lstStyle/>
        <a:p>
          <a:r>
            <a:rPr lang="en-US" sz="1800" b="1" dirty="0">
              <a:latin typeface="Times New Roman" panose="02020603050405020304" pitchFamily="18" charset="0"/>
              <a:cs typeface="Times New Roman" panose="02020603050405020304" pitchFamily="18" charset="0"/>
            </a:rPr>
            <a:t>Interpretation of Confusion Matrix</a:t>
          </a:r>
          <a:endParaRPr lang="en-US" sz="1800" dirty="0">
            <a:latin typeface="Times New Roman" panose="02020603050405020304" pitchFamily="18" charset="0"/>
            <a:cs typeface="Times New Roman" panose="02020603050405020304" pitchFamily="18" charset="0"/>
          </a:endParaRPr>
        </a:p>
      </dgm:t>
    </dgm:pt>
    <dgm:pt modelId="{096C89A2-C987-4EB3-AC5F-495846BB0FD9}" type="parTrans" cxnId="{D958CC5D-531C-4E7F-A197-C8A03E43AC7E}">
      <dgm:prSet/>
      <dgm:spPr/>
      <dgm:t>
        <a:bodyPr/>
        <a:lstStyle/>
        <a:p>
          <a:endParaRPr lang="en-US"/>
        </a:p>
      </dgm:t>
    </dgm:pt>
    <dgm:pt modelId="{3033CEB1-44CA-4505-A807-59F15B6FDA64}" type="sibTrans" cxnId="{D958CC5D-531C-4E7F-A197-C8A03E43AC7E}">
      <dgm:prSet/>
      <dgm:spPr/>
      <dgm:t>
        <a:bodyPr/>
        <a:lstStyle/>
        <a:p>
          <a:endParaRPr lang="en-US"/>
        </a:p>
      </dgm:t>
    </dgm:pt>
    <dgm:pt modelId="{DD04B339-E8BE-43A1-9214-FB4BC7E75029}">
      <dgm:prSet custT="1"/>
      <dgm:spPr/>
      <dgm:t>
        <a:bodyPr/>
        <a:lstStyle/>
        <a:p>
          <a:r>
            <a:rPr lang="en-US" sz="1600" b="1" dirty="0">
              <a:latin typeface="Times New Roman" panose="02020603050405020304" pitchFamily="18" charset="0"/>
              <a:cs typeface="Times New Roman" panose="02020603050405020304" pitchFamily="18" charset="0"/>
            </a:rPr>
            <a:t>Overall Accuracy</a:t>
          </a:r>
          <a:r>
            <a:rPr lang="en-US" sz="1600" dirty="0">
              <a:latin typeface="Times New Roman" panose="02020603050405020304" pitchFamily="18" charset="0"/>
              <a:cs typeface="Times New Roman" panose="02020603050405020304" pitchFamily="18" charset="0"/>
            </a:rPr>
            <a:t>: The model achieved </a:t>
          </a:r>
          <a:r>
            <a:rPr lang="en-US" sz="1600" b="1" dirty="0">
              <a:latin typeface="Times New Roman" panose="02020603050405020304" pitchFamily="18" charset="0"/>
              <a:cs typeface="Times New Roman" panose="02020603050405020304" pitchFamily="18" charset="0"/>
            </a:rPr>
            <a:t>83% accuracy</a:t>
          </a:r>
          <a:r>
            <a:rPr lang="en-US" sz="1600" dirty="0">
              <a:latin typeface="Times New Roman" panose="02020603050405020304" pitchFamily="18" charset="0"/>
              <a:cs typeface="Times New Roman" panose="02020603050405020304" pitchFamily="18" charset="0"/>
            </a:rPr>
            <a:t>, meaning it correctly classified CKD vs non-CKD in 83% of the test cases.</a:t>
          </a:r>
        </a:p>
      </dgm:t>
    </dgm:pt>
    <dgm:pt modelId="{BAAA7273-7ED9-4987-B7D3-3A3F86ED4087}" type="parTrans" cxnId="{5D36A552-F268-4D62-9C2F-934738DC2FD6}">
      <dgm:prSet/>
      <dgm:spPr/>
      <dgm:t>
        <a:bodyPr/>
        <a:lstStyle/>
        <a:p>
          <a:endParaRPr lang="en-US"/>
        </a:p>
      </dgm:t>
    </dgm:pt>
    <dgm:pt modelId="{AEF629A7-1F2D-491F-9B5F-97C435DF732F}" type="sibTrans" cxnId="{5D36A552-F268-4D62-9C2F-934738DC2FD6}">
      <dgm:prSet/>
      <dgm:spPr/>
      <dgm:t>
        <a:bodyPr/>
        <a:lstStyle/>
        <a:p>
          <a:endParaRPr lang="en-US"/>
        </a:p>
      </dgm:t>
    </dgm:pt>
    <dgm:pt modelId="{D771D5C0-87F1-451D-9461-FD29704D370C}">
      <dgm:prSet custT="1"/>
      <dgm:spPr/>
      <dgm:t>
        <a:bodyPr/>
        <a:lstStyle/>
        <a:p>
          <a:r>
            <a:rPr lang="en-US" sz="1400" b="1" dirty="0">
              <a:latin typeface="Times New Roman" panose="02020603050405020304" pitchFamily="18" charset="0"/>
              <a:cs typeface="Times New Roman" panose="02020603050405020304" pitchFamily="18" charset="0"/>
            </a:rPr>
            <a:t>CKD Patients (Class 1)</a:t>
          </a:r>
          <a:endParaRPr lang="en-US" sz="1400" dirty="0">
            <a:latin typeface="Times New Roman" panose="02020603050405020304" pitchFamily="18" charset="0"/>
            <a:cs typeface="Times New Roman" panose="02020603050405020304" pitchFamily="18" charset="0"/>
          </a:endParaRPr>
        </a:p>
      </dgm:t>
    </dgm:pt>
    <dgm:pt modelId="{432F4B33-5623-41A9-88EE-4683704DA76E}" type="parTrans" cxnId="{A927A596-37E4-4D65-8244-F8D5468CFFA2}">
      <dgm:prSet/>
      <dgm:spPr/>
      <dgm:t>
        <a:bodyPr/>
        <a:lstStyle/>
        <a:p>
          <a:endParaRPr lang="en-US"/>
        </a:p>
      </dgm:t>
    </dgm:pt>
    <dgm:pt modelId="{EA6325CE-8442-4A81-A930-C7678F1D0BD0}" type="sibTrans" cxnId="{A927A596-37E4-4D65-8244-F8D5468CFFA2}">
      <dgm:prSet/>
      <dgm:spPr/>
      <dgm:t>
        <a:bodyPr/>
        <a:lstStyle/>
        <a:p>
          <a:endParaRPr lang="en-US"/>
        </a:p>
      </dgm:t>
    </dgm:pt>
    <dgm:pt modelId="{99864070-98F9-478A-8EBB-C2CEA0318394}">
      <dgm:prSet custT="1"/>
      <dgm:spPr/>
      <dgm:t>
        <a:bodyPr/>
        <a:lstStyle/>
        <a:p>
          <a:r>
            <a:rPr lang="en-US" sz="1400" b="1" dirty="0">
              <a:latin typeface="Times New Roman" panose="02020603050405020304" pitchFamily="18" charset="0"/>
              <a:cs typeface="Times New Roman" panose="02020603050405020304" pitchFamily="18" charset="0"/>
            </a:rPr>
            <a:t>Precision (0.86)</a:t>
          </a:r>
          <a:r>
            <a:rPr lang="en-US" sz="1400" dirty="0">
              <a:latin typeface="Times New Roman" panose="02020603050405020304" pitchFamily="18" charset="0"/>
              <a:cs typeface="Times New Roman" panose="02020603050405020304" pitchFamily="18" charset="0"/>
            </a:rPr>
            <a:t> → When the model predicts CKD, it is correct </a:t>
          </a:r>
          <a:r>
            <a:rPr lang="en-US" sz="1400" b="1" dirty="0">
              <a:latin typeface="Times New Roman" panose="02020603050405020304" pitchFamily="18" charset="0"/>
              <a:cs typeface="Times New Roman" panose="02020603050405020304" pitchFamily="18" charset="0"/>
            </a:rPr>
            <a:t>86% of the time</a:t>
          </a:r>
          <a:r>
            <a:rPr lang="en-US" sz="1400" dirty="0">
              <a:latin typeface="Times New Roman" panose="02020603050405020304" pitchFamily="18" charset="0"/>
              <a:cs typeface="Times New Roman" panose="02020603050405020304" pitchFamily="18" charset="0"/>
            </a:rPr>
            <a:t>.</a:t>
          </a:r>
        </a:p>
      </dgm:t>
    </dgm:pt>
    <dgm:pt modelId="{C15D5991-BBD5-4C2C-A55F-BD9144702A65}" type="parTrans" cxnId="{5E3E2277-53F8-4673-9827-8247CA8B8619}">
      <dgm:prSet/>
      <dgm:spPr/>
      <dgm:t>
        <a:bodyPr/>
        <a:lstStyle/>
        <a:p>
          <a:endParaRPr lang="en-US"/>
        </a:p>
      </dgm:t>
    </dgm:pt>
    <dgm:pt modelId="{01DBE358-2575-4B67-8719-C98836B2800F}" type="sibTrans" cxnId="{5E3E2277-53F8-4673-9827-8247CA8B8619}">
      <dgm:prSet/>
      <dgm:spPr/>
      <dgm:t>
        <a:bodyPr/>
        <a:lstStyle/>
        <a:p>
          <a:endParaRPr lang="en-US"/>
        </a:p>
      </dgm:t>
    </dgm:pt>
    <dgm:pt modelId="{D3142EE3-4DFE-4231-B5AF-061907D4B520}">
      <dgm:prSet custT="1"/>
      <dgm:spPr/>
      <dgm:t>
        <a:bodyPr/>
        <a:lstStyle/>
        <a:p>
          <a:r>
            <a:rPr lang="en-US" sz="1400" b="1" dirty="0">
              <a:latin typeface="Times New Roman" panose="02020603050405020304" pitchFamily="18" charset="0"/>
              <a:cs typeface="Times New Roman" panose="02020603050405020304" pitchFamily="18" charset="0"/>
            </a:rPr>
            <a:t>Recall (0.83)</a:t>
          </a:r>
          <a:r>
            <a:rPr lang="en-US" sz="1400" dirty="0">
              <a:latin typeface="Times New Roman" panose="02020603050405020304" pitchFamily="18" charset="0"/>
              <a:cs typeface="Times New Roman" panose="02020603050405020304" pitchFamily="18" charset="0"/>
            </a:rPr>
            <a:t> → The model detects </a:t>
          </a:r>
          <a:r>
            <a:rPr lang="en-US" sz="1400" b="1" dirty="0">
              <a:latin typeface="Times New Roman" panose="02020603050405020304" pitchFamily="18" charset="0"/>
              <a:cs typeface="Times New Roman" panose="02020603050405020304" pitchFamily="18" charset="0"/>
            </a:rPr>
            <a:t>83% of actual CKD cases</a:t>
          </a:r>
          <a:r>
            <a:rPr lang="en-US" sz="1400" dirty="0">
              <a:latin typeface="Times New Roman" panose="02020603050405020304" pitchFamily="18" charset="0"/>
              <a:cs typeface="Times New Roman" panose="02020603050405020304" pitchFamily="18" charset="0"/>
            </a:rPr>
            <a:t>.</a:t>
          </a:r>
        </a:p>
      </dgm:t>
    </dgm:pt>
    <dgm:pt modelId="{DA938E5A-D797-42C4-9597-65ADF616DEDB}" type="parTrans" cxnId="{C55D6BEB-8A87-4906-810D-A8019BB17635}">
      <dgm:prSet/>
      <dgm:spPr/>
      <dgm:t>
        <a:bodyPr/>
        <a:lstStyle/>
        <a:p>
          <a:endParaRPr lang="en-US"/>
        </a:p>
      </dgm:t>
    </dgm:pt>
    <dgm:pt modelId="{20875D63-09DE-47D5-BBEF-3D17C8750161}" type="sibTrans" cxnId="{C55D6BEB-8A87-4906-810D-A8019BB17635}">
      <dgm:prSet/>
      <dgm:spPr/>
      <dgm:t>
        <a:bodyPr/>
        <a:lstStyle/>
        <a:p>
          <a:endParaRPr lang="en-US"/>
        </a:p>
      </dgm:t>
    </dgm:pt>
    <dgm:pt modelId="{52CFBB70-F990-473E-B69F-469E74A38957}">
      <dgm:prSet custT="1"/>
      <dgm:spPr/>
      <dgm:t>
        <a:bodyPr/>
        <a:lstStyle/>
        <a:p>
          <a:r>
            <a:rPr lang="en-US" sz="1400" b="1" dirty="0">
              <a:latin typeface="Times New Roman" panose="02020603050405020304" pitchFamily="18" charset="0"/>
              <a:cs typeface="Times New Roman" panose="02020603050405020304" pitchFamily="18" charset="0"/>
            </a:rPr>
            <a:t>F1-score (0.85)</a:t>
          </a:r>
          <a:r>
            <a:rPr lang="en-US" sz="1400" dirty="0">
              <a:latin typeface="Times New Roman" panose="02020603050405020304" pitchFamily="18" charset="0"/>
              <a:cs typeface="Times New Roman" panose="02020603050405020304" pitchFamily="18" charset="0"/>
            </a:rPr>
            <a:t> → Good balance between precision and recall.</a:t>
          </a:r>
        </a:p>
      </dgm:t>
    </dgm:pt>
    <dgm:pt modelId="{D5B09E6D-3839-46A9-980B-9CECCA9F6645}" type="parTrans" cxnId="{A868C538-F353-4EE8-B227-5D1EB8BDC9D4}">
      <dgm:prSet/>
      <dgm:spPr/>
      <dgm:t>
        <a:bodyPr/>
        <a:lstStyle/>
        <a:p>
          <a:endParaRPr lang="en-US"/>
        </a:p>
      </dgm:t>
    </dgm:pt>
    <dgm:pt modelId="{86600C97-0880-459F-B49F-AF7A9074E129}" type="sibTrans" cxnId="{A868C538-F353-4EE8-B227-5D1EB8BDC9D4}">
      <dgm:prSet/>
      <dgm:spPr/>
      <dgm:t>
        <a:bodyPr/>
        <a:lstStyle/>
        <a:p>
          <a:endParaRPr lang="en-US"/>
        </a:p>
      </dgm:t>
    </dgm:pt>
    <dgm:pt modelId="{FFB2CD35-1E80-4607-A5DE-1EBEC062467F}">
      <dgm:prSet custT="1"/>
      <dgm:spPr/>
      <dgm:t>
        <a:bodyPr/>
        <a:lstStyle/>
        <a:p>
          <a:r>
            <a:rPr lang="en-US" sz="1200" b="1">
              <a:latin typeface="Times New Roman" panose="02020603050405020304" pitchFamily="18" charset="0"/>
              <a:cs typeface="Times New Roman" panose="02020603050405020304" pitchFamily="18" charset="0"/>
            </a:rPr>
            <a:t>Non-CKD Patients (Class 0)</a:t>
          </a:r>
          <a:endParaRPr lang="en-US" sz="1200" dirty="0">
            <a:latin typeface="Times New Roman" panose="02020603050405020304" pitchFamily="18" charset="0"/>
            <a:cs typeface="Times New Roman" panose="02020603050405020304" pitchFamily="18" charset="0"/>
          </a:endParaRPr>
        </a:p>
      </dgm:t>
    </dgm:pt>
    <dgm:pt modelId="{E10FFFF9-6D9A-4761-AA48-90C9A3814606}" type="parTrans" cxnId="{2F52E289-85D3-4AB4-97E8-106370FC62AD}">
      <dgm:prSet/>
      <dgm:spPr/>
      <dgm:t>
        <a:bodyPr/>
        <a:lstStyle/>
        <a:p>
          <a:endParaRPr lang="en-US"/>
        </a:p>
      </dgm:t>
    </dgm:pt>
    <dgm:pt modelId="{D2CADD04-1A11-4838-96B9-8A6E04AA1696}" type="sibTrans" cxnId="{2F52E289-85D3-4AB4-97E8-106370FC62AD}">
      <dgm:prSet/>
      <dgm:spPr/>
      <dgm:t>
        <a:bodyPr/>
        <a:lstStyle/>
        <a:p>
          <a:endParaRPr lang="en-US"/>
        </a:p>
      </dgm:t>
    </dgm:pt>
    <dgm:pt modelId="{E9F99EC3-4710-45E6-B8DD-26B9AE0CE86E}">
      <dgm:prSet custT="1"/>
      <dgm:spPr/>
      <dgm:t>
        <a:bodyPr/>
        <a:lstStyle/>
        <a:p>
          <a:r>
            <a:rPr lang="en-US" sz="1200" b="1">
              <a:latin typeface="Times New Roman" panose="02020603050405020304" pitchFamily="18" charset="0"/>
              <a:cs typeface="Times New Roman" panose="02020603050405020304" pitchFamily="18" charset="0"/>
            </a:rPr>
            <a:t>Precision (0.78)</a:t>
          </a:r>
          <a:r>
            <a:rPr lang="en-US" sz="1200">
              <a:latin typeface="Times New Roman" panose="02020603050405020304" pitchFamily="18" charset="0"/>
              <a:cs typeface="Times New Roman" panose="02020603050405020304" pitchFamily="18" charset="0"/>
            </a:rPr>
            <a:t> → Slightly more false positives compared to CKD class.</a:t>
          </a:r>
          <a:endParaRPr lang="en-US" sz="1200" dirty="0">
            <a:latin typeface="Times New Roman" panose="02020603050405020304" pitchFamily="18" charset="0"/>
            <a:cs typeface="Times New Roman" panose="02020603050405020304" pitchFamily="18" charset="0"/>
          </a:endParaRPr>
        </a:p>
      </dgm:t>
    </dgm:pt>
    <dgm:pt modelId="{73EC3771-420F-4118-BF2F-30DA5E8DAA1B}" type="parTrans" cxnId="{2C615452-A8B4-49CF-A495-E3A38C0709A6}">
      <dgm:prSet/>
      <dgm:spPr/>
      <dgm:t>
        <a:bodyPr/>
        <a:lstStyle/>
        <a:p>
          <a:endParaRPr lang="en-US"/>
        </a:p>
      </dgm:t>
    </dgm:pt>
    <dgm:pt modelId="{E2F52552-69AF-4275-8A6F-0D04710E214C}" type="sibTrans" cxnId="{2C615452-A8B4-49CF-A495-E3A38C0709A6}">
      <dgm:prSet/>
      <dgm:spPr/>
      <dgm:t>
        <a:bodyPr/>
        <a:lstStyle/>
        <a:p>
          <a:endParaRPr lang="en-US"/>
        </a:p>
      </dgm:t>
    </dgm:pt>
    <dgm:pt modelId="{0D1D3830-E753-4320-A867-2B1095301E7C}">
      <dgm:prSet custT="1"/>
      <dgm:spPr/>
      <dgm:t>
        <a:bodyPr/>
        <a:lstStyle/>
        <a:p>
          <a:r>
            <a:rPr lang="en-US" sz="1200" b="1" dirty="0">
              <a:latin typeface="Times New Roman" panose="02020603050405020304" pitchFamily="18" charset="0"/>
              <a:cs typeface="Times New Roman" panose="02020603050405020304" pitchFamily="18" charset="0"/>
            </a:rPr>
            <a:t>Recall (0.82)</a:t>
          </a:r>
          <a:r>
            <a:rPr lang="en-US" sz="1200" dirty="0">
              <a:latin typeface="Times New Roman" panose="02020603050405020304" pitchFamily="18" charset="0"/>
              <a:cs typeface="Times New Roman" panose="02020603050405020304" pitchFamily="18" charset="0"/>
            </a:rPr>
            <a:t> → Correctly identifies most non-CKD cases.</a:t>
          </a:r>
        </a:p>
      </dgm:t>
    </dgm:pt>
    <dgm:pt modelId="{D5F5372E-2B9C-4CC4-BBA7-90764C830D3D}" type="parTrans" cxnId="{86ED19DF-198D-4DBD-AB73-3D61634587B8}">
      <dgm:prSet/>
      <dgm:spPr/>
      <dgm:t>
        <a:bodyPr/>
        <a:lstStyle/>
        <a:p>
          <a:endParaRPr lang="en-US"/>
        </a:p>
      </dgm:t>
    </dgm:pt>
    <dgm:pt modelId="{248AB31A-52E6-489D-B1A1-4FBE9959DD56}" type="sibTrans" cxnId="{86ED19DF-198D-4DBD-AB73-3D61634587B8}">
      <dgm:prSet/>
      <dgm:spPr/>
      <dgm:t>
        <a:bodyPr/>
        <a:lstStyle/>
        <a:p>
          <a:endParaRPr lang="en-US"/>
        </a:p>
      </dgm:t>
    </dgm:pt>
    <dgm:pt modelId="{A378F7E4-FD0A-4DDC-9778-FEBC83FEB0EE}">
      <dgm:prSet custT="1"/>
      <dgm:spPr/>
      <dgm:t>
        <a:bodyPr/>
        <a:lstStyle/>
        <a:p>
          <a:r>
            <a:rPr lang="en-US" sz="1200" b="1">
              <a:latin typeface="Times New Roman" panose="02020603050405020304" pitchFamily="18" charset="0"/>
              <a:cs typeface="Times New Roman" panose="02020603050405020304" pitchFamily="18" charset="0"/>
            </a:rPr>
            <a:t>F1-score (0.80)</a:t>
          </a:r>
          <a:r>
            <a:rPr lang="en-US" sz="1200">
              <a:latin typeface="Times New Roman" panose="02020603050405020304" pitchFamily="18" charset="0"/>
              <a:cs typeface="Times New Roman" panose="02020603050405020304" pitchFamily="18" charset="0"/>
            </a:rPr>
            <a:t> → Strong but slightly lower than CKD group.</a:t>
          </a:r>
          <a:endParaRPr lang="en-US" sz="1200" dirty="0">
            <a:latin typeface="Times New Roman" panose="02020603050405020304" pitchFamily="18" charset="0"/>
            <a:cs typeface="Times New Roman" panose="02020603050405020304" pitchFamily="18" charset="0"/>
          </a:endParaRPr>
        </a:p>
      </dgm:t>
    </dgm:pt>
    <dgm:pt modelId="{155E63A9-2E91-4649-97FC-99B96CA96AC8}" type="parTrans" cxnId="{66D0EDF4-AA32-4EC5-92FE-D762BE2C7904}">
      <dgm:prSet/>
      <dgm:spPr/>
      <dgm:t>
        <a:bodyPr/>
        <a:lstStyle/>
        <a:p>
          <a:endParaRPr lang="en-US"/>
        </a:p>
      </dgm:t>
    </dgm:pt>
    <dgm:pt modelId="{B67F6647-AB39-47D1-9467-99F757787381}" type="sibTrans" cxnId="{66D0EDF4-AA32-4EC5-92FE-D762BE2C7904}">
      <dgm:prSet/>
      <dgm:spPr/>
      <dgm:t>
        <a:bodyPr/>
        <a:lstStyle/>
        <a:p>
          <a:endParaRPr lang="en-US"/>
        </a:p>
      </dgm:t>
    </dgm:pt>
    <dgm:pt modelId="{2C28E3C4-3090-4B33-864A-A0C3321835D8}">
      <dgm:prSet custT="1"/>
      <dgm:spPr/>
      <dgm:t>
        <a:bodyPr/>
        <a:lstStyle/>
        <a:p>
          <a:r>
            <a:rPr lang="en-US" sz="1400" b="1" dirty="0">
              <a:latin typeface="Times New Roman" panose="02020603050405020304" pitchFamily="18" charset="0"/>
              <a:cs typeface="Times New Roman" panose="02020603050405020304" pitchFamily="18" charset="0"/>
            </a:rPr>
            <a:t>Confusion Matrix Insight</a:t>
          </a:r>
          <a:endParaRPr lang="en-US" sz="1400" dirty="0">
            <a:latin typeface="Times New Roman" panose="02020603050405020304" pitchFamily="18" charset="0"/>
            <a:cs typeface="Times New Roman" panose="02020603050405020304" pitchFamily="18" charset="0"/>
          </a:endParaRPr>
        </a:p>
      </dgm:t>
    </dgm:pt>
    <dgm:pt modelId="{7A1801F6-091B-4B98-BA7B-A4F2EBB7EC29}" type="parTrans" cxnId="{36C21390-0151-43AF-9207-88868C5A4D9A}">
      <dgm:prSet/>
      <dgm:spPr/>
      <dgm:t>
        <a:bodyPr/>
        <a:lstStyle/>
        <a:p>
          <a:endParaRPr lang="en-US"/>
        </a:p>
      </dgm:t>
    </dgm:pt>
    <dgm:pt modelId="{758E200D-58C9-445A-A88F-2A96FFE2710A}" type="sibTrans" cxnId="{36C21390-0151-43AF-9207-88868C5A4D9A}">
      <dgm:prSet/>
      <dgm:spPr/>
      <dgm:t>
        <a:bodyPr/>
        <a:lstStyle/>
        <a:p>
          <a:endParaRPr lang="en-US"/>
        </a:p>
      </dgm:t>
    </dgm:pt>
    <dgm:pt modelId="{DEA49DA2-A50C-48C0-B208-6847D46D122E}">
      <dgm:prSet custT="1"/>
      <dgm:spPr/>
      <dgm:t>
        <a:bodyPr/>
        <a:lstStyle/>
        <a:p>
          <a:r>
            <a:rPr lang="en-US" sz="1400" dirty="0">
              <a:latin typeface="Times New Roman" panose="02020603050405020304" pitchFamily="18" charset="0"/>
              <a:cs typeface="Times New Roman" panose="02020603050405020304" pitchFamily="18" charset="0"/>
            </a:rPr>
            <a:t>Correctly identified </a:t>
          </a:r>
          <a:r>
            <a:rPr lang="en-US" sz="1400" b="1" dirty="0">
              <a:latin typeface="Times New Roman" panose="02020603050405020304" pitchFamily="18" charset="0"/>
              <a:cs typeface="Times New Roman" panose="02020603050405020304" pitchFamily="18" charset="0"/>
            </a:rPr>
            <a:t>18 non-CKD</a:t>
          </a:r>
          <a:r>
            <a:rPr lang="en-US" sz="1400" dirty="0">
              <a:latin typeface="Times New Roman" panose="02020603050405020304" pitchFamily="18" charset="0"/>
              <a:cs typeface="Times New Roman" panose="02020603050405020304" pitchFamily="18" charset="0"/>
            </a:rPr>
            <a:t> and </a:t>
          </a:r>
          <a:r>
            <a:rPr lang="en-US" sz="1400" b="1" dirty="0">
              <a:latin typeface="Times New Roman" panose="02020603050405020304" pitchFamily="18" charset="0"/>
              <a:cs typeface="Times New Roman" panose="02020603050405020304" pitchFamily="18" charset="0"/>
            </a:rPr>
            <a:t>25 CKD</a:t>
          </a:r>
          <a:r>
            <a:rPr lang="en-US" sz="1400" dirty="0">
              <a:latin typeface="Times New Roman" panose="02020603050405020304" pitchFamily="18" charset="0"/>
              <a:cs typeface="Times New Roman" panose="02020603050405020304" pitchFamily="18" charset="0"/>
            </a:rPr>
            <a:t> patients.</a:t>
          </a:r>
        </a:p>
      </dgm:t>
    </dgm:pt>
    <dgm:pt modelId="{E6511E1C-5630-4C95-AD39-86F35410DFE5}" type="parTrans" cxnId="{417E3841-A11F-4AB9-B2BF-6FC994D4CFFA}">
      <dgm:prSet/>
      <dgm:spPr/>
      <dgm:t>
        <a:bodyPr/>
        <a:lstStyle/>
        <a:p>
          <a:endParaRPr lang="en-US"/>
        </a:p>
      </dgm:t>
    </dgm:pt>
    <dgm:pt modelId="{B5BE9888-2747-44EB-A8B5-3044D7AFA526}" type="sibTrans" cxnId="{417E3841-A11F-4AB9-B2BF-6FC994D4CFFA}">
      <dgm:prSet/>
      <dgm:spPr/>
      <dgm:t>
        <a:bodyPr/>
        <a:lstStyle/>
        <a:p>
          <a:endParaRPr lang="en-US"/>
        </a:p>
      </dgm:t>
    </dgm:pt>
    <dgm:pt modelId="{97EB7D01-6D83-4A2E-B196-33E1266F1B1A}">
      <dgm:prSet custT="1"/>
      <dgm:spPr/>
      <dgm:t>
        <a:bodyPr/>
        <a:lstStyle/>
        <a:p>
          <a:r>
            <a:rPr lang="en-US" sz="1400" dirty="0">
              <a:latin typeface="Times New Roman" panose="02020603050405020304" pitchFamily="18" charset="0"/>
              <a:cs typeface="Times New Roman" panose="02020603050405020304" pitchFamily="18" charset="0"/>
            </a:rPr>
            <a:t>Made </a:t>
          </a:r>
          <a:r>
            <a:rPr lang="en-US" sz="1400" b="1" dirty="0">
              <a:latin typeface="Times New Roman" panose="02020603050405020304" pitchFamily="18" charset="0"/>
              <a:cs typeface="Times New Roman" panose="02020603050405020304" pitchFamily="18" charset="0"/>
            </a:rPr>
            <a:t>4 false positive</a:t>
          </a:r>
          <a:r>
            <a:rPr lang="en-US" sz="1400" dirty="0">
              <a:latin typeface="Times New Roman" panose="02020603050405020304" pitchFamily="18" charset="0"/>
              <a:cs typeface="Times New Roman" panose="02020603050405020304" pitchFamily="18" charset="0"/>
            </a:rPr>
            <a:t> errors (predicted CKD when not present).</a:t>
          </a:r>
        </a:p>
      </dgm:t>
    </dgm:pt>
    <dgm:pt modelId="{9EBACCC4-1C62-4B0F-B1DC-14B8759C5AD4}" type="parTrans" cxnId="{971929A6-D52B-4C40-930C-C899FEF09AF7}">
      <dgm:prSet/>
      <dgm:spPr/>
      <dgm:t>
        <a:bodyPr/>
        <a:lstStyle/>
        <a:p>
          <a:endParaRPr lang="en-US"/>
        </a:p>
      </dgm:t>
    </dgm:pt>
    <dgm:pt modelId="{6786A0EA-5DFD-4E15-BE49-0F94B996C530}" type="sibTrans" cxnId="{971929A6-D52B-4C40-930C-C899FEF09AF7}">
      <dgm:prSet/>
      <dgm:spPr/>
      <dgm:t>
        <a:bodyPr/>
        <a:lstStyle/>
        <a:p>
          <a:endParaRPr lang="en-US"/>
        </a:p>
      </dgm:t>
    </dgm:pt>
    <dgm:pt modelId="{1A69ACD7-FFF1-4206-84B2-2E6EE8A1868B}">
      <dgm:prSet custT="1"/>
      <dgm:spPr/>
      <dgm:t>
        <a:bodyPr/>
        <a:lstStyle/>
        <a:p>
          <a:r>
            <a:rPr lang="en-US" sz="1400" dirty="0">
              <a:latin typeface="Times New Roman" panose="02020603050405020304" pitchFamily="18" charset="0"/>
              <a:cs typeface="Times New Roman" panose="02020603050405020304" pitchFamily="18" charset="0"/>
            </a:rPr>
            <a:t>Made </a:t>
          </a:r>
          <a:r>
            <a:rPr lang="en-US" sz="1400" b="1" dirty="0">
              <a:latin typeface="Times New Roman" panose="02020603050405020304" pitchFamily="18" charset="0"/>
              <a:cs typeface="Times New Roman" panose="02020603050405020304" pitchFamily="18" charset="0"/>
            </a:rPr>
            <a:t>5 false negative</a:t>
          </a:r>
          <a:r>
            <a:rPr lang="en-US" sz="1400" dirty="0">
              <a:latin typeface="Times New Roman" panose="02020603050405020304" pitchFamily="18" charset="0"/>
              <a:cs typeface="Times New Roman" panose="02020603050405020304" pitchFamily="18" charset="0"/>
            </a:rPr>
            <a:t> errors (missed CKD patients).</a:t>
          </a:r>
        </a:p>
      </dgm:t>
    </dgm:pt>
    <dgm:pt modelId="{FEB1B5D2-579E-478D-8013-9133EB96EE33}" type="parTrans" cxnId="{E3EA38E5-0E74-437F-9100-2DC6BF2050DC}">
      <dgm:prSet/>
      <dgm:spPr/>
      <dgm:t>
        <a:bodyPr/>
        <a:lstStyle/>
        <a:p>
          <a:endParaRPr lang="en-US"/>
        </a:p>
      </dgm:t>
    </dgm:pt>
    <dgm:pt modelId="{AC9AAC5E-3700-4CF6-89C3-96316D37CAD9}" type="sibTrans" cxnId="{E3EA38E5-0E74-437F-9100-2DC6BF2050DC}">
      <dgm:prSet/>
      <dgm:spPr/>
      <dgm:t>
        <a:bodyPr/>
        <a:lstStyle/>
        <a:p>
          <a:endParaRPr lang="en-US"/>
        </a:p>
      </dgm:t>
    </dgm:pt>
    <dgm:pt modelId="{12C7D80E-05FA-40ED-8BBE-208628ED336C}">
      <dgm:prSet/>
      <dgm:spPr/>
      <dgm:t>
        <a:bodyPr/>
        <a:lstStyle/>
        <a:p>
          <a:r>
            <a:rPr lang="en-US" b="1" dirty="0"/>
            <a:t>Conclusion</a:t>
          </a:r>
          <a:r>
            <a:rPr lang="en-US" dirty="0"/>
            <a:t>:</a:t>
          </a:r>
          <a:br>
            <a:rPr lang="en-US" dirty="0"/>
          </a:br>
          <a:r>
            <a:rPr lang="en-US" dirty="0"/>
            <a:t>The model is more reliable in predicting </a:t>
          </a:r>
          <a:r>
            <a:rPr lang="en-US" b="1" dirty="0"/>
            <a:t>CKD</a:t>
          </a:r>
          <a:r>
            <a:rPr lang="en-US" dirty="0"/>
            <a:t> cases than non-CKD, which is desirable in healthcare since missing CKD (false negatives) can be riskier than over-predicting it. The results show that even with only </a:t>
          </a:r>
          <a:r>
            <a:rPr lang="en-US" b="1" dirty="0"/>
            <a:t>age, blood pressure, and serum creatinine</a:t>
          </a:r>
          <a:r>
            <a:rPr lang="en-US" dirty="0"/>
            <a:t>, the model can provide </a:t>
          </a:r>
          <a:r>
            <a:rPr lang="en-US" b="1" dirty="0"/>
            <a:t>clinically useful predictions</a:t>
          </a:r>
          <a:r>
            <a:rPr lang="en-US" dirty="0"/>
            <a:t>.</a:t>
          </a:r>
        </a:p>
      </dgm:t>
    </dgm:pt>
    <dgm:pt modelId="{72709564-5260-4643-BCCF-E46255DE3FA3}" type="parTrans" cxnId="{2958F65D-730B-4363-9142-E6B960211DAC}">
      <dgm:prSet/>
      <dgm:spPr/>
      <dgm:t>
        <a:bodyPr/>
        <a:lstStyle/>
        <a:p>
          <a:endParaRPr lang="en-US"/>
        </a:p>
      </dgm:t>
    </dgm:pt>
    <dgm:pt modelId="{27D36E6E-6B3E-4173-B788-2BFCD11038DB}" type="sibTrans" cxnId="{2958F65D-730B-4363-9142-E6B960211DAC}">
      <dgm:prSet/>
      <dgm:spPr/>
      <dgm:t>
        <a:bodyPr/>
        <a:lstStyle/>
        <a:p>
          <a:endParaRPr lang="en-US"/>
        </a:p>
      </dgm:t>
    </dgm:pt>
    <dgm:pt modelId="{C1ED910B-98F1-4E07-A58D-CE89E78D3806}" type="pres">
      <dgm:prSet presAssocID="{C00A9B93-44A8-437A-B856-43BD5DB7F40F}" presName="diagram" presStyleCnt="0">
        <dgm:presLayoutVars>
          <dgm:dir/>
          <dgm:resizeHandles/>
        </dgm:presLayoutVars>
      </dgm:prSet>
      <dgm:spPr/>
    </dgm:pt>
    <dgm:pt modelId="{CE5DA7D8-0674-41F6-9FA8-787683C7A73F}" type="pres">
      <dgm:prSet presAssocID="{70D0138A-88E7-4014-8613-5235727FB06D}" presName="firstNode" presStyleLbl="node1" presStyleIdx="0" presStyleCnt="6" custScaleX="109471" custScaleY="87655" custLinFactNeighborX="-2259" custLinFactNeighborY="-50240">
        <dgm:presLayoutVars>
          <dgm:bulletEnabled val="1"/>
        </dgm:presLayoutVars>
      </dgm:prSet>
      <dgm:spPr/>
    </dgm:pt>
    <dgm:pt modelId="{49E87D72-BA55-4A57-8361-0AD3DAE47481}" type="pres">
      <dgm:prSet presAssocID="{3033CEB1-44CA-4505-A807-59F15B6FDA64}" presName="sibTrans" presStyleLbl="sibTrans2D1" presStyleIdx="0" presStyleCnt="5" custLinFactNeighborX="4161" custLinFactNeighborY="-4529"/>
      <dgm:spPr/>
    </dgm:pt>
    <dgm:pt modelId="{37CF54F0-D0DB-4246-AA85-8685561E90E5}" type="pres">
      <dgm:prSet presAssocID="{DD04B339-E8BE-43A1-9214-FB4BC7E75029}" presName="middleNode" presStyleCnt="0"/>
      <dgm:spPr/>
    </dgm:pt>
    <dgm:pt modelId="{CD7BB9EB-BDF1-46C4-BCB3-E5ABA0C2A71D}" type="pres">
      <dgm:prSet presAssocID="{DD04B339-E8BE-43A1-9214-FB4BC7E75029}" presName="padding" presStyleLbl="node1" presStyleIdx="0" presStyleCnt="6"/>
      <dgm:spPr/>
    </dgm:pt>
    <dgm:pt modelId="{D87CDB8E-F997-40DD-8326-59CE8952E047}" type="pres">
      <dgm:prSet presAssocID="{DD04B339-E8BE-43A1-9214-FB4BC7E75029}" presName="shape" presStyleLbl="node1" presStyleIdx="1" presStyleCnt="6" custScaleX="182423" custScaleY="172725" custLinFactNeighborX="20990" custLinFactNeighborY="-80270">
        <dgm:presLayoutVars>
          <dgm:bulletEnabled val="1"/>
        </dgm:presLayoutVars>
      </dgm:prSet>
      <dgm:spPr/>
    </dgm:pt>
    <dgm:pt modelId="{CD0F59B4-CE67-4547-AA9A-6BF36BC9FE2F}" type="pres">
      <dgm:prSet presAssocID="{AEF629A7-1F2D-491F-9B5F-97C435DF732F}" presName="sibTrans" presStyleLbl="sibTrans2D1" presStyleIdx="1" presStyleCnt="5"/>
      <dgm:spPr/>
    </dgm:pt>
    <dgm:pt modelId="{72D3061D-07C0-4CD6-9409-9476284D6ECC}" type="pres">
      <dgm:prSet presAssocID="{D771D5C0-87F1-451D-9461-FD29704D370C}" presName="middleNode" presStyleCnt="0"/>
      <dgm:spPr/>
    </dgm:pt>
    <dgm:pt modelId="{BDFF39CC-1BDB-458B-BE73-60D23654A29D}" type="pres">
      <dgm:prSet presAssocID="{D771D5C0-87F1-451D-9461-FD29704D370C}" presName="padding" presStyleLbl="node1" presStyleIdx="1" presStyleCnt="6"/>
      <dgm:spPr/>
    </dgm:pt>
    <dgm:pt modelId="{4DA541EA-E24A-4202-8D16-F1C981EFCAD9}" type="pres">
      <dgm:prSet presAssocID="{D771D5C0-87F1-451D-9461-FD29704D370C}" presName="shape" presStyleLbl="node1" presStyleIdx="2" presStyleCnt="6" custScaleX="224198" custScaleY="184983" custLinFactNeighborX="-14636" custLinFactNeighborY="-7591">
        <dgm:presLayoutVars>
          <dgm:bulletEnabled val="1"/>
        </dgm:presLayoutVars>
      </dgm:prSet>
      <dgm:spPr/>
    </dgm:pt>
    <dgm:pt modelId="{A6DFCDAE-7220-4740-9006-70E69F76A726}" type="pres">
      <dgm:prSet presAssocID="{EA6325CE-8442-4A81-A930-C7678F1D0BD0}" presName="sibTrans" presStyleLbl="sibTrans2D1" presStyleIdx="2" presStyleCnt="5"/>
      <dgm:spPr/>
    </dgm:pt>
    <dgm:pt modelId="{0C348857-56A9-4645-BE2A-5D07328A7FAA}" type="pres">
      <dgm:prSet presAssocID="{FFB2CD35-1E80-4607-A5DE-1EBEC062467F}" presName="middleNode" presStyleCnt="0"/>
      <dgm:spPr/>
    </dgm:pt>
    <dgm:pt modelId="{1F80D9B3-94C9-4772-A4F8-10AC22DDFB4F}" type="pres">
      <dgm:prSet presAssocID="{FFB2CD35-1E80-4607-A5DE-1EBEC062467F}" presName="padding" presStyleLbl="node1" presStyleIdx="2" presStyleCnt="6"/>
      <dgm:spPr/>
    </dgm:pt>
    <dgm:pt modelId="{E0B24CCA-6E77-4497-A84B-68628A1901EA}" type="pres">
      <dgm:prSet presAssocID="{FFB2CD35-1E80-4607-A5DE-1EBEC062467F}" presName="shape" presStyleLbl="node1" presStyleIdx="3" presStyleCnt="6" custScaleX="214402" custScaleY="195471">
        <dgm:presLayoutVars>
          <dgm:bulletEnabled val="1"/>
        </dgm:presLayoutVars>
      </dgm:prSet>
      <dgm:spPr/>
    </dgm:pt>
    <dgm:pt modelId="{27C3B362-99BD-4C38-ACC9-74B208645614}" type="pres">
      <dgm:prSet presAssocID="{D2CADD04-1A11-4838-96B9-8A6E04AA1696}" presName="sibTrans" presStyleLbl="sibTrans2D1" presStyleIdx="3" presStyleCnt="5" custLinFactNeighborX="-66669"/>
      <dgm:spPr/>
    </dgm:pt>
    <dgm:pt modelId="{5BD630FB-ACD8-4EE8-AEF0-ADD31DB28D01}" type="pres">
      <dgm:prSet presAssocID="{2C28E3C4-3090-4B33-864A-A0C3321835D8}" presName="middleNode" presStyleCnt="0"/>
      <dgm:spPr/>
    </dgm:pt>
    <dgm:pt modelId="{BBA9EAC8-A5B1-4E30-A20E-89F098CF260B}" type="pres">
      <dgm:prSet presAssocID="{2C28E3C4-3090-4B33-864A-A0C3321835D8}" presName="padding" presStyleLbl="node1" presStyleIdx="3" presStyleCnt="6"/>
      <dgm:spPr/>
    </dgm:pt>
    <dgm:pt modelId="{4E79B461-8A2B-45B4-9FA9-D5199D85EF8F}" type="pres">
      <dgm:prSet presAssocID="{2C28E3C4-3090-4B33-864A-A0C3321835D8}" presName="shape" presStyleLbl="node1" presStyleIdx="4" presStyleCnt="6" custScaleX="233568" custScaleY="181435" custLinFactNeighborX="-30936" custLinFactNeighborY="4266">
        <dgm:presLayoutVars>
          <dgm:bulletEnabled val="1"/>
        </dgm:presLayoutVars>
      </dgm:prSet>
      <dgm:spPr/>
    </dgm:pt>
    <dgm:pt modelId="{E2E6BBE3-9640-44C9-86F1-9CC7F7C61AAC}" type="pres">
      <dgm:prSet presAssocID="{758E200D-58C9-445A-A88F-2A96FFE2710A}" presName="sibTrans" presStyleLbl="sibTrans2D1" presStyleIdx="4" presStyleCnt="5"/>
      <dgm:spPr/>
    </dgm:pt>
    <dgm:pt modelId="{C3B06CE2-557D-4AD7-A790-B6E86513F02F}" type="pres">
      <dgm:prSet presAssocID="{12C7D80E-05FA-40ED-8BBE-208628ED336C}" presName="lastNode" presStyleLbl="node1" presStyleIdx="5" presStyleCnt="6" custScaleX="187756" custScaleY="152305" custLinFactNeighborX="-297">
        <dgm:presLayoutVars>
          <dgm:bulletEnabled val="1"/>
        </dgm:presLayoutVars>
      </dgm:prSet>
      <dgm:spPr/>
    </dgm:pt>
  </dgm:ptLst>
  <dgm:cxnLst>
    <dgm:cxn modelId="{39F92302-DB0E-4B6E-83AB-DCAD7C5E869C}" type="presOf" srcId="{758E200D-58C9-445A-A88F-2A96FFE2710A}" destId="{E2E6BBE3-9640-44C9-86F1-9CC7F7C61AAC}" srcOrd="0" destOrd="0" presId="urn:microsoft.com/office/officeart/2005/8/layout/bProcess2"/>
    <dgm:cxn modelId="{BBD1DB04-EFC5-48B5-A2DA-09202AFB4303}" type="presOf" srcId="{D2CADD04-1A11-4838-96B9-8A6E04AA1696}" destId="{27C3B362-99BD-4C38-ACC9-74B208645614}" srcOrd="0" destOrd="0" presId="urn:microsoft.com/office/officeart/2005/8/layout/bProcess2"/>
    <dgm:cxn modelId="{611B8A0E-2EDF-454A-8381-9B65FE706304}" type="presOf" srcId="{FFB2CD35-1E80-4607-A5DE-1EBEC062467F}" destId="{E0B24CCA-6E77-4497-A84B-68628A1901EA}" srcOrd="0" destOrd="0" presId="urn:microsoft.com/office/officeart/2005/8/layout/bProcess2"/>
    <dgm:cxn modelId="{B8DD5313-099D-4F16-99D1-2D7E6B41E99E}" type="presOf" srcId="{DEA49DA2-A50C-48C0-B208-6847D46D122E}" destId="{4E79B461-8A2B-45B4-9FA9-D5199D85EF8F}" srcOrd="0" destOrd="1" presId="urn:microsoft.com/office/officeart/2005/8/layout/bProcess2"/>
    <dgm:cxn modelId="{B9634323-6712-4874-B39E-37AE95641A94}" type="presOf" srcId="{3033CEB1-44CA-4505-A807-59F15B6FDA64}" destId="{49E87D72-BA55-4A57-8361-0AD3DAE47481}" srcOrd="0" destOrd="0" presId="urn:microsoft.com/office/officeart/2005/8/layout/bProcess2"/>
    <dgm:cxn modelId="{55657E2A-BA3A-4E85-AF8C-E42D67EC092A}" type="presOf" srcId="{70D0138A-88E7-4014-8613-5235727FB06D}" destId="{CE5DA7D8-0674-41F6-9FA8-787683C7A73F}" srcOrd="0" destOrd="0" presId="urn:microsoft.com/office/officeart/2005/8/layout/bProcess2"/>
    <dgm:cxn modelId="{A868C538-F353-4EE8-B227-5D1EB8BDC9D4}" srcId="{D771D5C0-87F1-451D-9461-FD29704D370C}" destId="{52CFBB70-F990-473E-B69F-469E74A38957}" srcOrd="2" destOrd="0" parTransId="{D5B09E6D-3839-46A9-980B-9CECCA9F6645}" sibTransId="{86600C97-0880-459F-B49F-AF7A9074E129}"/>
    <dgm:cxn modelId="{4E493639-0789-4782-8951-4663E00218C2}" type="presOf" srcId="{52CFBB70-F990-473E-B69F-469E74A38957}" destId="{4DA541EA-E24A-4202-8D16-F1C981EFCAD9}" srcOrd="0" destOrd="3" presId="urn:microsoft.com/office/officeart/2005/8/layout/bProcess2"/>
    <dgm:cxn modelId="{D958CC5D-531C-4E7F-A197-C8A03E43AC7E}" srcId="{C00A9B93-44A8-437A-B856-43BD5DB7F40F}" destId="{70D0138A-88E7-4014-8613-5235727FB06D}" srcOrd="0" destOrd="0" parTransId="{096C89A2-C987-4EB3-AC5F-495846BB0FD9}" sibTransId="{3033CEB1-44CA-4505-A807-59F15B6FDA64}"/>
    <dgm:cxn modelId="{2958F65D-730B-4363-9142-E6B960211DAC}" srcId="{C00A9B93-44A8-437A-B856-43BD5DB7F40F}" destId="{12C7D80E-05FA-40ED-8BBE-208628ED336C}" srcOrd="5" destOrd="0" parTransId="{72709564-5260-4643-BCCF-E46255DE3FA3}" sibTransId="{27D36E6E-6B3E-4173-B788-2BFCD11038DB}"/>
    <dgm:cxn modelId="{417E3841-A11F-4AB9-B2BF-6FC994D4CFFA}" srcId="{2C28E3C4-3090-4B33-864A-A0C3321835D8}" destId="{DEA49DA2-A50C-48C0-B208-6847D46D122E}" srcOrd="0" destOrd="0" parTransId="{E6511E1C-5630-4C95-AD39-86F35410DFE5}" sibTransId="{B5BE9888-2747-44EB-A8B5-3044D7AFA526}"/>
    <dgm:cxn modelId="{FA27D964-746A-4174-81F7-6E7F503202E9}" type="presOf" srcId="{12C7D80E-05FA-40ED-8BBE-208628ED336C}" destId="{C3B06CE2-557D-4AD7-A790-B6E86513F02F}" srcOrd="0" destOrd="0" presId="urn:microsoft.com/office/officeart/2005/8/layout/bProcess2"/>
    <dgm:cxn modelId="{2C615452-A8B4-49CF-A495-E3A38C0709A6}" srcId="{FFB2CD35-1E80-4607-A5DE-1EBEC062467F}" destId="{E9F99EC3-4710-45E6-B8DD-26B9AE0CE86E}" srcOrd="0" destOrd="0" parTransId="{73EC3771-420F-4118-BF2F-30DA5E8DAA1B}" sibTransId="{E2F52552-69AF-4275-8A6F-0D04710E214C}"/>
    <dgm:cxn modelId="{5D36A552-F268-4D62-9C2F-934738DC2FD6}" srcId="{C00A9B93-44A8-437A-B856-43BD5DB7F40F}" destId="{DD04B339-E8BE-43A1-9214-FB4BC7E75029}" srcOrd="1" destOrd="0" parTransId="{BAAA7273-7ED9-4987-B7D3-3A3F86ED4087}" sibTransId="{AEF629A7-1F2D-491F-9B5F-97C435DF732F}"/>
    <dgm:cxn modelId="{5E3E2277-53F8-4673-9827-8247CA8B8619}" srcId="{D771D5C0-87F1-451D-9461-FD29704D370C}" destId="{99864070-98F9-478A-8EBB-C2CEA0318394}" srcOrd="0" destOrd="0" parTransId="{C15D5991-BBD5-4C2C-A55F-BD9144702A65}" sibTransId="{01DBE358-2575-4B67-8719-C98836B2800F}"/>
    <dgm:cxn modelId="{5BED7D79-5058-4CF7-BB0D-C4A1012D5F21}" type="presOf" srcId="{A378F7E4-FD0A-4DDC-9778-FEBC83FEB0EE}" destId="{E0B24CCA-6E77-4497-A84B-68628A1901EA}" srcOrd="0" destOrd="3" presId="urn:microsoft.com/office/officeart/2005/8/layout/bProcess2"/>
    <dgm:cxn modelId="{2F52E289-85D3-4AB4-97E8-106370FC62AD}" srcId="{C00A9B93-44A8-437A-B856-43BD5DB7F40F}" destId="{FFB2CD35-1E80-4607-A5DE-1EBEC062467F}" srcOrd="3" destOrd="0" parTransId="{E10FFFF9-6D9A-4761-AA48-90C9A3814606}" sibTransId="{D2CADD04-1A11-4838-96B9-8A6E04AA1696}"/>
    <dgm:cxn modelId="{268E2B8A-F590-4331-8B22-97A7BD90CF33}" type="presOf" srcId="{1A69ACD7-FFF1-4206-84B2-2E6EE8A1868B}" destId="{4E79B461-8A2B-45B4-9FA9-D5199D85EF8F}" srcOrd="0" destOrd="3" presId="urn:microsoft.com/office/officeart/2005/8/layout/bProcess2"/>
    <dgm:cxn modelId="{36C21390-0151-43AF-9207-88868C5A4D9A}" srcId="{C00A9B93-44A8-437A-B856-43BD5DB7F40F}" destId="{2C28E3C4-3090-4B33-864A-A0C3321835D8}" srcOrd="4" destOrd="0" parTransId="{7A1801F6-091B-4B98-BA7B-A4F2EBB7EC29}" sibTransId="{758E200D-58C9-445A-A88F-2A96FFE2710A}"/>
    <dgm:cxn modelId="{89B3D390-82B9-4AF7-88EE-60C6FCDC347D}" type="presOf" srcId="{C00A9B93-44A8-437A-B856-43BD5DB7F40F}" destId="{C1ED910B-98F1-4E07-A58D-CE89E78D3806}" srcOrd="0" destOrd="0" presId="urn:microsoft.com/office/officeart/2005/8/layout/bProcess2"/>
    <dgm:cxn modelId="{A927A596-37E4-4D65-8244-F8D5468CFFA2}" srcId="{C00A9B93-44A8-437A-B856-43BD5DB7F40F}" destId="{D771D5C0-87F1-451D-9461-FD29704D370C}" srcOrd="2" destOrd="0" parTransId="{432F4B33-5623-41A9-88EE-4683704DA76E}" sibTransId="{EA6325CE-8442-4A81-A930-C7678F1D0BD0}"/>
    <dgm:cxn modelId="{F43C7F9A-645B-46FF-B5D4-418977BEDAC7}" type="presOf" srcId="{D771D5C0-87F1-451D-9461-FD29704D370C}" destId="{4DA541EA-E24A-4202-8D16-F1C981EFCAD9}" srcOrd="0" destOrd="0" presId="urn:microsoft.com/office/officeart/2005/8/layout/bProcess2"/>
    <dgm:cxn modelId="{4A0E679C-8B3A-4669-804A-DE4E15AD9206}" type="presOf" srcId="{0D1D3830-E753-4320-A867-2B1095301E7C}" destId="{E0B24CCA-6E77-4497-A84B-68628A1901EA}" srcOrd="0" destOrd="2" presId="urn:microsoft.com/office/officeart/2005/8/layout/bProcess2"/>
    <dgm:cxn modelId="{971929A6-D52B-4C40-930C-C899FEF09AF7}" srcId="{2C28E3C4-3090-4B33-864A-A0C3321835D8}" destId="{97EB7D01-6D83-4A2E-B196-33E1266F1B1A}" srcOrd="1" destOrd="0" parTransId="{9EBACCC4-1C62-4B0F-B1DC-14B8759C5AD4}" sibTransId="{6786A0EA-5DFD-4E15-BE49-0F94B996C530}"/>
    <dgm:cxn modelId="{43B9EDB1-877D-4B35-A34A-A4743162D876}" type="presOf" srcId="{DD04B339-E8BE-43A1-9214-FB4BC7E75029}" destId="{D87CDB8E-F997-40DD-8326-59CE8952E047}" srcOrd="0" destOrd="0" presId="urn:microsoft.com/office/officeart/2005/8/layout/bProcess2"/>
    <dgm:cxn modelId="{5E301FB6-9D10-4FD2-AE2D-F06E4AF72615}" type="presOf" srcId="{EA6325CE-8442-4A81-A930-C7678F1D0BD0}" destId="{A6DFCDAE-7220-4740-9006-70E69F76A726}" srcOrd="0" destOrd="0" presId="urn:microsoft.com/office/officeart/2005/8/layout/bProcess2"/>
    <dgm:cxn modelId="{9F2F8EBE-F206-4ECD-BC29-1F6843022FCA}" type="presOf" srcId="{D3142EE3-4DFE-4231-B5AF-061907D4B520}" destId="{4DA541EA-E24A-4202-8D16-F1C981EFCAD9}" srcOrd="0" destOrd="2" presId="urn:microsoft.com/office/officeart/2005/8/layout/bProcess2"/>
    <dgm:cxn modelId="{B543C0BF-3B18-4616-95B0-0BB7621922A5}" type="presOf" srcId="{E9F99EC3-4710-45E6-B8DD-26B9AE0CE86E}" destId="{E0B24CCA-6E77-4497-A84B-68628A1901EA}" srcOrd="0" destOrd="1" presId="urn:microsoft.com/office/officeart/2005/8/layout/bProcess2"/>
    <dgm:cxn modelId="{FCD51DC0-7BAF-4A7B-923E-4BABBB870B5A}" type="presOf" srcId="{2C28E3C4-3090-4B33-864A-A0C3321835D8}" destId="{4E79B461-8A2B-45B4-9FA9-D5199D85EF8F}" srcOrd="0" destOrd="0" presId="urn:microsoft.com/office/officeart/2005/8/layout/bProcess2"/>
    <dgm:cxn modelId="{AD0610D7-B51B-42EE-91BB-84874920ECC7}" type="presOf" srcId="{99864070-98F9-478A-8EBB-C2CEA0318394}" destId="{4DA541EA-E24A-4202-8D16-F1C981EFCAD9}" srcOrd="0" destOrd="1" presId="urn:microsoft.com/office/officeart/2005/8/layout/bProcess2"/>
    <dgm:cxn modelId="{B4FBF3D8-ACDC-438C-B951-10FC06468D2B}" type="presOf" srcId="{AEF629A7-1F2D-491F-9B5F-97C435DF732F}" destId="{CD0F59B4-CE67-4547-AA9A-6BF36BC9FE2F}" srcOrd="0" destOrd="0" presId="urn:microsoft.com/office/officeart/2005/8/layout/bProcess2"/>
    <dgm:cxn modelId="{86ED19DF-198D-4DBD-AB73-3D61634587B8}" srcId="{FFB2CD35-1E80-4607-A5DE-1EBEC062467F}" destId="{0D1D3830-E753-4320-A867-2B1095301E7C}" srcOrd="1" destOrd="0" parTransId="{D5F5372E-2B9C-4CC4-BBA7-90764C830D3D}" sibTransId="{248AB31A-52E6-489D-B1A1-4FBE9959DD56}"/>
    <dgm:cxn modelId="{CAC166E0-141B-469A-90F3-CE2C9E2A3228}" type="presOf" srcId="{97EB7D01-6D83-4A2E-B196-33E1266F1B1A}" destId="{4E79B461-8A2B-45B4-9FA9-D5199D85EF8F}" srcOrd="0" destOrd="2" presId="urn:microsoft.com/office/officeart/2005/8/layout/bProcess2"/>
    <dgm:cxn modelId="{E3EA38E5-0E74-437F-9100-2DC6BF2050DC}" srcId="{2C28E3C4-3090-4B33-864A-A0C3321835D8}" destId="{1A69ACD7-FFF1-4206-84B2-2E6EE8A1868B}" srcOrd="2" destOrd="0" parTransId="{FEB1B5D2-579E-478D-8013-9133EB96EE33}" sibTransId="{AC9AAC5E-3700-4CF6-89C3-96316D37CAD9}"/>
    <dgm:cxn modelId="{C55D6BEB-8A87-4906-810D-A8019BB17635}" srcId="{D771D5C0-87F1-451D-9461-FD29704D370C}" destId="{D3142EE3-4DFE-4231-B5AF-061907D4B520}" srcOrd="1" destOrd="0" parTransId="{DA938E5A-D797-42C4-9597-65ADF616DEDB}" sibTransId="{20875D63-09DE-47D5-BBEF-3D17C8750161}"/>
    <dgm:cxn modelId="{66D0EDF4-AA32-4EC5-92FE-D762BE2C7904}" srcId="{FFB2CD35-1E80-4607-A5DE-1EBEC062467F}" destId="{A378F7E4-FD0A-4DDC-9778-FEBC83FEB0EE}" srcOrd="2" destOrd="0" parTransId="{155E63A9-2E91-4649-97FC-99B96CA96AC8}" sibTransId="{B67F6647-AB39-47D1-9467-99F757787381}"/>
    <dgm:cxn modelId="{AF2DE60A-A7EF-423A-8E45-32003A95B7C6}" type="presParOf" srcId="{C1ED910B-98F1-4E07-A58D-CE89E78D3806}" destId="{CE5DA7D8-0674-41F6-9FA8-787683C7A73F}" srcOrd="0" destOrd="0" presId="urn:microsoft.com/office/officeart/2005/8/layout/bProcess2"/>
    <dgm:cxn modelId="{AC3CA798-325F-4C08-A4B4-1D8C8DF29A50}" type="presParOf" srcId="{C1ED910B-98F1-4E07-A58D-CE89E78D3806}" destId="{49E87D72-BA55-4A57-8361-0AD3DAE47481}" srcOrd="1" destOrd="0" presId="urn:microsoft.com/office/officeart/2005/8/layout/bProcess2"/>
    <dgm:cxn modelId="{383295AA-C4AF-44D0-B4EA-49C984528EAC}" type="presParOf" srcId="{C1ED910B-98F1-4E07-A58D-CE89E78D3806}" destId="{37CF54F0-D0DB-4246-AA85-8685561E90E5}" srcOrd="2" destOrd="0" presId="urn:microsoft.com/office/officeart/2005/8/layout/bProcess2"/>
    <dgm:cxn modelId="{B6535F5B-74A0-4744-A4EC-CB372B95B6A9}" type="presParOf" srcId="{37CF54F0-D0DB-4246-AA85-8685561E90E5}" destId="{CD7BB9EB-BDF1-46C4-BCB3-E5ABA0C2A71D}" srcOrd="0" destOrd="0" presId="urn:microsoft.com/office/officeart/2005/8/layout/bProcess2"/>
    <dgm:cxn modelId="{2EB84ED7-FA19-4AED-848D-D99084808658}" type="presParOf" srcId="{37CF54F0-D0DB-4246-AA85-8685561E90E5}" destId="{D87CDB8E-F997-40DD-8326-59CE8952E047}" srcOrd="1" destOrd="0" presId="urn:microsoft.com/office/officeart/2005/8/layout/bProcess2"/>
    <dgm:cxn modelId="{70595A04-F749-4BE5-8051-A314724F143E}" type="presParOf" srcId="{C1ED910B-98F1-4E07-A58D-CE89E78D3806}" destId="{CD0F59B4-CE67-4547-AA9A-6BF36BC9FE2F}" srcOrd="3" destOrd="0" presId="urn:microsoft.com/office/officeart/2005/8/layout/bProcess2"/>
    <dgm:cxn modelId="{CC17B5CD-017C-4AE2-B880-A76767DDBE0C}" type="presParOf" srcId="{C1ED910B-98F1-4E07-A58D-CE89E78D3806}" destId="{72D3061D-07C0-4CD6-9409-9476284D6ECC}" srcOrd="4" destOrd="0" presId="urn:microsoft.com/office/officeart/2005/8/layout/bProcess2"/>
    <dgm:cxn modelId="{2AF60BF1-5CEA-46FA-BDF7-15E12897A432}" type="presParOf" srcId="{72D3061D-07C0-4CD6-9409-9476284D6ECC}" destId="{BDFF39CC-1BDB-458B-BE73-60D23654A29D}" srcOrd="0" destOrd="0" presId="urn:microsoft.com/office/officeart/2005/8/layout/bProcess2"/>
    <dgm:cxn modelId="{BD2112C4-6A73-45E0-9859-893D63CC6A4A}" type="presParOf" srcId="{72D3061D-07C0-4CD6-9409-9476284D6ECC}" destId="{4DA541EA-E24A-4202-8D16-F1C981EFCAD9}" srcOrd="1" destOrd="0" presId="urn:microsoft.com/office/officeart/2005/8/layout/bProcess2"/>
    <dgm:cxn modelId="{001C067E-F408-4170-A275-BAB888558187}" type="presParOf" srcId="{C1ED910B-98F1-4E07-A58D-CE89E78D3806}" destId="{A6DFCDAE-7220-4740-9006-70E69F76A726}" srcOrd="5" destOrd="0" presId="urn:microsoft.com/office/officeart/2005/8/layout/bProcess2"/>
    <dgm:cxn modelId="{D1BE91E3-B096-4370-B47E-FCC098579C1C}" type="presParOf" srcId="{C1ED910B-98F1-4E07-A58D-CE89E78D3806}" destId="{0C348857-56A9-4645-BE2A-5D07328A7FAA}" srcOrd="6" destOrd="0" presId="urn:microsoft.com/office/officeart/2005/8/layout/bProcess2"/>
    <dgm:cxn modelId="{87F26329-E609-4F08-B94C-01B715DA00B6}" type="presParOf" srcId="{0C348857-56A9-4645-BE2A-5D07328A7FAA}" destId="{1F80D9B3-94C9-4772-A4F8-10AC22DDFB4F}" srcOrd="0" destOrd="0" presId="urn:microsoft.com/office/officeart/2005/8/layout/bProcess2"/>
    <dgm:cxn modelId="{ABA1E5C0-B1FC-489F-A6D9-A32CA2932AA3}" type="presParOf" srcId="{0C348857-56A9-4645-BE2A-5D07328A7FAA}" destId="{E0B24CCA-6E77-4497-A84B-68628A1901EA}" srcOrd="1" destOrd="0" presId="urn:microsoft.com/office/officeart/2005/8/layout/bProcess2"/>
    <dgm:cxn modelId="{32DF7354-1B8F-4D97-997A-68E793241401}" type="presParOf" srcId="{C1ED910B-98F1-4E07-A58D-CE89E78D3806}" destId="{27C3B362-99BD-4C38-ACC9-74B208645614}" srcOrd="7" destOrd="0" presId="urn:microsoft.com/office/officeart/2005/8/layout/bProcess2"/>
    <dgm:cxn modelId="{9747273E-2A8E-4528-ABB6-FE42613AD81D}" type="presParOf" srcId="{C1ED910B-98F1-4E07-A58D-CE89E78D3806}" destId="{5BD630FB-ACD8-4EE8-AEF0-ADD31DB28D01}" srcOrd="8" destOrd="0" presId="urn:microsoft.com/office/officeart/2005/8/layout/bProcess2"/>
    <dgm:cxn modelId="{EE8D84EB-1C21-47E8-86CD-49F436BA45B2}" type="presParOf" srcId="{5BD630FB-ACD8-4EE8-AEF0-ADD31DB28D01}" destId="{BBA9EAC8-A5B1-4E30-A20E-89F098CF260B}" srcOrd="0" destOrd="0" presId="urn:microsoft.com/office/officeart/2005/8/layout/bProcess2"/>
    <dgm:cxn modelId="{45ACF752-5F49-4DF9-A85E-6921584EB6B1}" type="presParOf" srcId="{5BD630FB-ACD8-4EE8-AEF0-ADD31DB28D01}" destId="{4E79B461-8A2B-45B4-9FA9-D5199D85EF8F}" srcOrd="1" destOrd="0" presId="urn:microsoft.com/office/officeart/2005/8/layout/bProcess2"/>
    <dgm:cxn modelId="{51972EB2-ADEE-43CF-9637-3AFD83B26E2D}" type="presParOf" srcId="{C1ED910B-98F1-4E07-A58D-CE89E78D3806}" destId="{E2E6BBE3-9640-44C9-86F1-9CC7F7C61AAC}" srcOrd="9" destOrd="0" presId="urn:microsoft.com/office/officeart/2005/8/layout/bProcess2"/>
    <dgm:cxn modelId="{14F5BE20-BFE4-457F-8303-0CB4ECBF29F2}" type="presParOf" srcId="{C1ED910B-98F1-4E07-A58D-CE89E78D3806}" destId="{C3B06CE2-557D-4AD7-A790-B6E86513F02F}" srcOrd="10" destOrd="0" presId="urn:microsoft.com/office/officeart/2005/8/layout/b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581E622-31F9-4142-A417-8E34130500A4}"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10382627-D70E-48BB-AA8F-CCF4969B25AD}">
      <dgm:prSet/>
      <dgm:spPr/>
      <dgm:t>
        <a:bodyPr/>
        <a:lstStyle/>
        <a:p>
          <a:r>
            <a:rPr lang="en-US" b="1"/>
            <a:t>Features Used:</a:t>
          </a:r>
          <a:endParaRPr lang="en-US"/>
        </a:p>
      </dgm:t>
    </dgm:pt>
    <dgm:pt modelId="{F2B50788-083F-4661-B209-82A5F1B46DA7}" type="parTrans" cxnId="{2D385C18-A35F-4E8C-A015-45C2A0E870FF}">
      <dgm:prSet/>
      <dgm:spPr/>
      <dgm:t>
        <a:bodyPr/>
        <a:lstStyle/>
        <a:p>
          <a:endParaRPr lang="en-US"/>
        </a:p>
      </dgm:t>
    </dgm:pt>
    <dgm:pt modelId="{7E440655-3B69-44B5-8B17-CA334F7552BB}" type="sibTrans" cxnId="{2D385C18-A35F-4E8C-A015-45C2A0E870FF}">
      <dgm:prSet/>
      <dgm:spPr/>
      <dgm:t>
        <a:bodyPr/>
        <a:lstStyle/>
        <a:p>
          <a:endParaRPr lang="en-US"/>
        </a:p>
      </dgm:t>
    </dgm:pt>
    <dgm:pt modelId="{A9DFEF3E-60A3-4416-BBC1-BD5FCE740839}">
      <dgm:prSet/>
      <dgm:spPr/>
      <dgm:t>
        <a:bodyPr/>
        <a:lstStyle/>
        <a:p>
          <a:r>
            <a:rPr lang="en-US" b="1" dirty="0"/>
            <a:t>Blood Pressure (bp)</a:t>
          </a:r>
          <a:endParaRPr lang="en-US" dirty="0"/>
        </a:p>
      </dgm:t>
    </dgm:pt>
    <dgm:pt modelId="{401864D8-6D42-4B54-97B0-D126DF71B479}" type="parTrans" cxnId="{C7AA87D1-70DB-4BC0-B262-9F03DA574BB6}">
      <dgm:prSet/>
      <dgm:spPr/>
      <dgm:t>
        <a:bodyPr/>
        <a:lstStyle/>
        <a:p>
          <a:endParaRPr lang="en-US"/>
        </a:p>
      </dgm:t>
    </dgm:pt>
    <dgm:pt modelId="{81C16D00-7299-4361-A055-8587BA33ACEA}" type="sibTrans" cxnId="{C7AA87D1-70DB-4BC0-B262-9F03DA574BB6}">
      <dgm:prSet/>
      <dgm:spPr/>
      <dgm:t>
        <a:bodyPr/>
        <a:lstStyle/>
        <a:p>
          <a:endParaRPr lang="en-US"/>
        </a:p>
      </dgm:t>
    </dgm:pt>
    <dgm:pt modelId="{7010F1DA-2868-4F3E-8873-06630BE3A30A}">
      <dgm:prSet/>
      <dgm:spPr/>
      <dgm:t>
        <a:bodyPr/>
        <a:lstStyle/>
        <a:p>
          <a:r>
            <a:rPr lang="en-US" b="1"/>
            <a:t>Serum Creatinine (sc)</a:t>
          </a:r>
          <a:endParaRPr lang="en-US"/>
        </a:p>
      </dgm:t>
    </dgm:pt>
    <dgm:pt modelId="{68718657-41DC-4BE6-8BF7-B1AE82DA08F5}" type="parTrans" cxnId="{3BF348C0-C8D7-4CFB-A836-73D60E797C8E}">
      <dgm:prSet/>
      <dgm:spPr/>
      <dgm:t>
        <a:bodyPr/>
        <a:lstStyle/>
        <a:p>
          <a:endParaRPr lang="en-US"/>
        </a:p>
      </dgm:t>
    </dgm:pt>
    <dgm:pt modelId="{04814A4E-9DEC-4412-A36B-B458CBB767E9}" type="sibTrans" cxnId="{3BF348C0-C8D7-4CFB-A836-73D60E797C8E}">
      <dgm:prSet/>
      <dgm:spPr/>
      <dgm:t>
        <a:bodyPr/>
        <a:lstStyle/>
        <a:p>
          <a:endParaRPr lang="en-US"/>
        </a:p>
      </dgm:t>
    </dgm:pt>
    <dgm:pt modelId="{32659E71-1208-4797-B87B-6505D4F1E40D}">
      <dgm:prSet/>
      <dgm:spPr/>
      <dgm:t>
        <a:bodyPr/>
        <a:lstStyle/>
        <a:p>
          <a:r>
            <a:rPr lang="en-US" b="1"/>
            <a:t>Target Column:</a:t>
          </a:r>
          <a:r>
            <a:rPr lang="en-US"/>
            <a:t> classification</a:t>
          </a:r>
        </a:p>
      </dgm:t>
    </dgm:pt>
    <dgm:pt modelId="{C2CC657A-1E13-427A-8214-A022AE400337}" type="parTrans" cxnId="{E3537318-F52F-43DF-B1C6-2961B9FADE5A}">
      <dgm:prSet/>
      <dgm:spPr/>
      <dgm:t>
        <a:bodyPr/>
        <a:lstStyle/>
        <a:p>
          <a:endParaRPr lang="en-US"/>
        </a:p>
      </dgm:t>
    </dgm:pt>
    <dgm:pt modelId="{3DE7AA0C-1764-45B9-A3F4-8A1AA79DCDE2}" type="sibTrans" cxnId="{E3537318-F52F-43DF-B1C6-2961B9FADE5A}">
      <dgm:prSet/>
      <dgm:spPr/>
      <dgm:t>
        <a:bodyPr/>
        <a:lstStyle/>
        <a:p>
          <a:endParaRPr lang="en-US"/>
        </a:p>
      </dgm:t>
    </dgm:pt>
    <dgm:pt modelId="{688F850C-A07D-4F3A-B81D-6E5AD0F23571}" type="pres">
      <dgm:prSet presAssocID="{9581E622-31F9-4142-A417-8E34130500A4}" presName="hierChild1" presStyleCnt="0">
        <dgm:presLayoutVars>
          <dgm:chPref val="1"/>
          <dgm:dir/>
          <dgm:animOne val="branch"/>
          <dgm:animLvl val="lvl"/>
          <dgm:resizeHandles/>
        </dgm:presLayoutVars>
      </dgm:prSet>
      <dgm:spPr/>
    </dgm:pt>
    <dgm:pt modelId="{A8F65272-2F27-409C-BE79-CF6ED6E788D6}" type="pres">
      <dgm:prSet presAssocID="{10382627-D70E-48BB-AA8F-CCF4969B25AD}" presName="hierRoot1" presStyleCnt="0"/>
      <dgm:spPr/>
    </dgm:pt>
    <dgm:pt modelId="{A91F59A4-834F-41D8-B842-987438D53992}" type="pres">
      <dgm:prSet presAssocID="{10382627-D70E-48BB-AA8F-CCF4969B25AD}" presName="composite" presStyleCnt="0"/>
      <dgm:spPr/>
    </dgm:pt>
    <dgm:pt modelId="{359E4B81-AFFF-4FDA-964A-5B5F743BE2E1}" type="pres">
      <dgm:prSet presAssocID="{10382627-D70E-48BB-AA8F-CCF4969B25AD}" presName="background" presStyleLbl="node0" presStyleIdx="0" presStyleCnt="2"/>
      <dgm:spPr/>
    </dgm:pt>
    <dgm:pt modelId="{05CD7E0C-83E9-41DD-9320-53C146C1AE60}" type="pres">
      <dgm:prSet presAssocID="{10382627-D70E-48BB-AA8F-CCF4969B25AD}" presName="text" presStyleLbl="fgAcc0" presStyleIdx="0" presStyleCnt="2">
        <dgm:presLayoutVars>
          <dgm:chPref val="3"/>
        </dgm:presLayoutVars>
      </dgm:prSet>
      <dgm:spPr/>
    </dgm:pt>
    <dgm:pt modelId="{4602DEA7-313A-42F1-B7F0-9807A926BB48}" type="pres">
      <dgm:prSet presAssocID="{10382627-D70E-48BB-AA8F-CCF4969B25AD}" presName="hierChild2" presStyleCnt="0"/>
      <dgm:spPr/>
    </dgm:pt>
    <dgm:pt modelId="{6FF707C0-AA3A-472F-AFBF-26CF5AEA2C9E}" type="pres">
      <dgm:prSet presAssocID="{401864D8-6D42-4B54-97B0-D126DF71B479}" presName="Name10" presStyleLbl="parChTrans1D2" presStyleIdx="0" presStyleCnt="2"/>
      <dgm:spPr/>
    </dgm:pt>
    <dgm:pt modelId="{444BF361-737F-43BD-8B7E-7F5A6E69ACCD}" type="pres">
      <dgm:prSet presAssocID="{A9DFEF3E-60A3-4416-BBC1-BD5FCE740839}" presName="hierRoot2" presStyleCnt="0"/>
      <dgm:spPr/>
    </dgm:pt>
    <dgm:pt modelId="{2E1951EC-7C2B-4E19-8262-CE2EE48289C7}" type="pres">
      <dgm:prSet presAssocID="{A9DFEF3E-60A3-4416-BBC1-BD5FCE740839}" presName="composite2" presStyleCnt="0"/>
      <dgm:spPr/>
    </dgm:pt>
    <dgm:pt modelId="{61A0991E-051C-4CDB-92B2-57C92D7BB018}" type="pres">
      <dgm:prSet presAssocID="{A9DFEF3E-60A3-4416-BBC1-BD5FCE740839}" presName="background2" presStyleLbl="node2" presStyleIdx="0" presStyleCnt="2"/>
      <dgm:spPr/>
    </dgm:pt>
    <dgm:pt modelId="{9EE16CD1-12A3-4F33-80F4-10C66002DF85}" type="pres">
      <dgm:prSet presAssocID="{A9DFEF3E-60A3-4416-BBC1-BD5FCE740839}" presName="text2" presStyleLbl="fgAcc2" presStyleIdx="0" presStyleCnt="2">
        <dgm:presLayoutVars>
          <dgm:chPref val="3"/>
        </dgm:presLayoutVars>
      </dgm:prSet>
      <dgm:spPr/>
    </dgm:pt>
    <dgm:pt modelId="{7E27A78D-52B9-4003-960E-7EAA709B8FA6}" type="pres">
      <dgm:prSet presAssocID="{A9DFEF3E-60A3-4416-BBC1-BD5FCE740839}" presName="hierChild3" presStyleCnt="0"/>
      <dgm:spPr/>
    </dgm:pt>
    <dgm:pt modelId="{90411311-4806-49B7-814F-96F328F7A45D}" type="pres">
      <dgm:prSet presAssocID="{68718657-41DC-4BE6-8BF7-B1AE82DA08F5}" presName="Name10" presStyleLbl="parChTrans1D2" presStyleIdx="1" presStyleCnt="2"/>
      <dgm:spPr/>
    </dgm:pt>
    <dgm:pt modelId="{D3BE9111-93C4-4E20-B9EF-3C4F965C8334}" type="pres">
      <dgm:prSet presAssocID="{7010F1DA-2868-4F3E-8873-06630BE3A30A}" presName="hierRoot2" presStyleCnt="0"/>
      <dgm:spPr/>
    </dgm:pt>
    <dgm:pt modelId="{19F5CBE8-F7A3-40B8-BAD9-F117D7E4CA72}" type="pres">
      <dgm:prSet presAssocID="{7010F1DA-2868-4F3E-8873-06630BE3A30A}" presName="composite2" presStyleCnt="0"/>
      <dgm:spPr/>
    </dgm:pt>
    <dgm:pt modelId="{85BC618A-80B3-40C4-AFD1-775BE0652309}" type="pres">
      <dgm:prSet presAssocID="{7010F1DA-2868-4F3E-8873-06630BE3A30A}" presName="background2" presStyleLbl="node2" presStyleIdx="1" presStyleCnt="2"/>
      <dgm:spPr/>
    </dgm:pt>
    <dgm:pt modelId="{55FC5432-9B3A-4685-929A-ABE266ECE4B5}" type="pres">
      <dgm:prSet presAssocID="{7010F1DA-2868-4F3E-8873-06630BE3A30A}" presName="text2" presStyleLbl="fgAcc2" presStyleIdx="1" presStyleCnt="2">
        <dgm:presLayoutVars>
          <dgm:chPref val="3"/>
        </dgm:presLayoutVars>
      </dgm:prSet>
      <dgm:spPr/>
    </dgm:pt>
    <dgm:pt modelId="{D22C8F9B-A20D-42DD-88C0-189F7E75C4B8}" type="pres">
      <dgm:prSet presAssocID="{7010F1DA-2868-4F3E-8873-06630BE3A30A}" presName="hierChild3" presStyleCnt="0"/>
      <dgm:spPr/>
    </dgm:pt>
    <dgm:pt modelId="{519436FB-7E46-4D59-AFAD-915DBB129F96}" type="pres">
      <dgm:prSet presAssocID="{32659E71-1208-4797-B87B-6505D4F1E40D}" presName="hierRoot1" presStyleCnt="0"/>
      <dgm:spPr/>
    </dgm:pt>
    <dgm:pt modelId="{3AE561D6-D4F5-48BD-8A09-92C0D0AAB744}" type="pres">
      <dgm:prSet presAssocID="{32659E71-1208-4797-B87B-6505D4F1E40D}" presName="composite" presStyleCnt="0"/>
      <dgm:spPr/>
    </dgm:pt>
    <dgm:pt modelId="{A86A0464-ADE4-4F1E-A1CB-63C73468E658}" type="pres">
      <dgm:prSet presAssocID="{32659E71-1208-4797-B87B-6505D4F1E40D}" presName="background" presStyleLbl="node0" presStyleIdx="1" presStyleCnt="2"/>
      <dgm:spPr/>
    </dgm:pt>
    <dgm:pt modelId="{9B328953-8E8F-4D86-9937-8D7F3D7446E6}" type="pres">
      <dgm:prSet presAssocID="{32659E71-1208-4797-B87B-6505D4F1E40D}" presName="text" presStyleLbl="fgAcc0" presStyleIdx="1" presStyleCnt="2">
        <dgm:presLayoutVars>
          <dgm:chPref val="3"/>
        </dgm:presLayoutVars>
      </dgm:prSet>
      <dgm:spPr/>
    </dgm:pt>
    <dgm:pt modelId="{2EB61442-F144-4C22-B359-F54842225067}" type="pres">
      <dgm:prSet presAssocID="{32659E71-1208-4797-B87B-6505D4F1E40D}" presName="hierChild2" presStyleCnt="0"/>
      <dgm:spPr/>
    </dgm:pt>
  </dgm:ptLst>
  <dgm:cxnLst>
    <dgm:cxn modelId="{2D385C18-A35F-4E8C-A015-45C2A0E870FF}" srcId="{9581E622-31F9-4142-A417-8E34130500A4}" destId="{10382627-D70E-48BB-AA8F-CCF4969B25AD}" srcOrd="0" destOrd="0" parTransId="{F2B50788-083F-4661-B209-82A5F1B46DA7}" sibTransId="{7E440655-3B69-44B5-8B17-CA334F7552BB}"/>
    <dgm:cxn modelId="{E3537318-F52F-43DF-B1C6-2961B9FADE5A}" srcId="{9581E622-31F9-4142-A417-8E34130500A4}" destId="{32659E71-1208-4797-B87B-6505D4F1E40D}" srcOrd="1" destOrd="0" parTransId="{C2CC657A-1E13-427A-8214-A022AE400337}" sibTransId="{3DE7AA0C-1764-45B9-A3F4-8A1AA79DCDE2}"/>
    <dgm:cxn modelId="{1D1AF823-0629-4BF8-BFF2-6138208281EA}" type="presOf" srcId="{10382627-D70E-48BB-AA8F-CCF4969B25AD}" destId="{05CD7E0C-83E9-41DD-9320-53C146C1AE60}" srcOrd="0" destOrd="0" presId="urn:microsoft.com/office/officeart/2005/8/layout/hierarchy1"/>
    <dgm:cxn modelId="{0C509743-E809-4B44-B44F-F7814CD31F0B}" type="presOf" srcId="{68718657-41DC-4BE6-8BF7-B1AE82DA08F5}" destId="{90411311-4806-49B7-814F-96F328F7A45D}" srcOrd="0" destOrd="0" presId="urn:microsoft.com/office/officeart/2005/8/layout/hierarchy1"/>
    <dgm:cxn modelId="{4C55836C-0097-4E04-B1F4-F979435A6498}" type="presOf" srcId="{7010F1DA-2868-4F3E-8873-06630BE3A30A}" destId="{55FC5432-9B3A-4685-929A-ABE266ECE4B5}" srcOrd="0" destOrd="0" presId="urn:microsoft.com/office/officeart/2005/8/layout/hierarchy1"/>
    <dgm:cxn modelId="{74D7858C-0A8C-4C79-905F-1E7FDFB56038}" type="presOf" srcId="{32659E71-1208-4797-B87B-6505D4F1E40D}" destId="{9B328953-8E8F-4D86-9937-8D7F3D7446E6}" srcOrd="0" destOrd="0" presId="urn:microsoft.com/office/officeart/2005/8/layout/hierarchy1"/>
    <dgm:cxn modelId="{5542A69E-567E-4DA2-A180-AD9C285A9398}" type="presOf" srcId="{401864D8-6D42-4B54-97B0-D126DF71B479}" destId="{6FF707C0-AA3A-472F-AFBF-26CF5AEA2C9E}" srcOrd="0" destOrd="0" presId="urn:microsoft.com/office/officeart/2005/8/layout/hierarchy1"/>
    <dgm:cxn modelId="{C9901AA6-AD3A-46F8-BFD8-24F832A3FB2E}" type="presOf" srcId="{9581E622-31F9-4142-A417-8E34130500A4}" destId="{688F850C-A07D-4F3A-B81D-6E5AD0F23571}" srcOrd="0" destOrd="0" presId="urn:microsoft.com/office/officeart/2005/8/layout/hierarchy1"/>
    <dgm:cxn modelId="{097347BC-6572-46F9-8BB5-3B6EE63D036F}" type="presOf" srcId="{A9DFEF3E-60A3-4416-BBC1-BD5FCE740839}" destId="{9EE16CD1-12A3-4F33-80F4-10C66002DF85}" srcOrd="0" destOrd="0" presId="urn:microsoft.com/office/officeart/2005/8/layout/hierarchy1"/>
    <dgm:cxn modelId="{3BF348C0-C8D7-4CFB-A836-73D60E797C8E}" srcId="{10382627-D70E-48BB-AA8F-CCF4969B25AD}" destId="{7010F1DA-2868-4F3E-8873-06630BE3A30A}" srcOrd="1" destOrd="0" parTransId="{68718657-41DC-4BE6-8BF7-B1AE82DA08F5}" sibTransId="{04814A4E-9DEC-4412-A36B-B458CBB767E9}"/>
    <dgm:cxn modelId="{C7AA87D1-70DB-4BC0-B262-9F03DA574BB6}" srcId="{10382627-D70E-48BB-AA8F-CCF4969B25AD}" destId="{A9DFEF3E-60A3-4416-BBC1-BD5FCE740839}" srcOrd="0" destOrd="0" parTransId="{401864D8-6D42-4B54-97B0-D126DF71B479}" sibTransId="{81C16D00-7299-4361-A055-8587BA33ACEA}"/>
    <dgm:cxn modelId="{179F86A3-D0EA-423C-8A57-D6392B486614}" type="presParOf" srcId="{688F850C-A07D-4F3A-B81D-6E5AD0F23571}" destId="{A8F65272-2F27-409C-BE79-CF6ED6E788D6}" srcOrd="0" destOrd="0" presId="urn:microsoft.com/office/officeart/2005/8/layout/hierarchy1"/>
    <dgm:cxn modelId="{1EEC92E7-4FDD-438A-9F4A-1AF59033509A}" type="presParOf" srcId="{A8F65272-2F27-409C-BE79-CF6ED6E788D6}" destId="{A91F59A4-834F-41D8-B842-987438D53992}" srcOrd="0" destOrd="0" presId="urn:microsoft.com/office/officeart/2005/8/layout/hierarchy1"/>
    <dgm:cxn modelId="{A3E5E9C3-25BB-4216-8A50-57A3ACF512F3}" type="presParOf" srcId="{A91F59A4-834F-41D8-B842-987438D53992}" destId="{359E4B81-AFFF-4FDA-964A-5B5F743BE2E1}" srcOrd="0" destOrd="0" presId="urn:microsoft.com/office/officeart/2005/8/layout/hierarchy1"/>
    <dgm:cxn modelId="{8BC1CAC6-C155-4ADF-9A06-9CBDE671BE03}" type="presParOf" srcId="{A91F59A4-834F-41D8-B842-987438D53992}" destId="{05CD7E0C-83E9-41DD-9320-53C146C1AE60}" srcOrd="1" destOrd="0" presId="urn:microsoft.com/office/officeart/2005/8/layout/hierarchy1"/>
    <dgm:cxn modelId="{FDA3D6BE-E4FD-4A0F-B348-3D04F84CB0C0}" type="presParOf" srcId="{A8F65272-2F27-409C-BE79-CF6ED6E788D6}" destId="{4602DEA7-313A-42F1-B7F0-9807A926BB48}" srcOrd="1" destOrd="0" presId="urn:microsoft.com/office/officeart/2005/8/layout/hierarchy1"/>
    <dgm:cxn modelId="{B5C81ED7-65D4-4EFF-96EB-B74781A294FC}" type="presParOf" srcId="{4602DEA7-313A-42F1-B7F0-9807A926BB48}" destId="{6FF707C0-AA3A-472F-AFBF-26CF5AEA2C9E}" srcOrd="0" destOrd="0" presId="urn:microsoft.com/office/officeart/2005/8/layout/hierarchy1"/>
    <dgm:cxn modelId="{F29AA4BE-2D90-42D0-B777-9A27972C8492}" type="presParOf" srcId="{4602DEA7-313A-42F1-B7F0-9807A926BB48}" destId="{444BF361-737F-43BD-8B7E-7F5A6E69ACCD}" srcOrd="1" destOrd="0" presId="urn:microsoft.com/office/officeart/2005/8/layout/hierarchy1"/>
    <dgm:cxn modelId="{98C3F214-1036-47D1-AACB-C0E33AAFFD2D}" type="presParOf" srcId="{444BF361-737F-43BD-8B7E-7F5A6E69ACCD}" destId="{2E1951EC-7C2B-4E19-8262-CE2EE48289C7}" srcOrd="0" destOrd="0" presId="urn:microsoft.com/office/officeart/2005/8/layout/hierarchy1"/>
    <dgm:cxn modelId="{149765E0-64F3-49B8-8B7A-991F577F9C52}" type="presParOf" srcId="{2E1951EC-7C2B-4E19-8262-CE2EE48289C7}" destId="{61A0991E-051C-4CDB-92B2-57C92D7BB018}" srcOrd="0" destOrd="0" presId="urn:microsoft.com/office/officeart/2005/8/layout/hierarchy1"/>
    <dgm:cxn modelId="{A1B2AE08-D6D9-4E25-AD2B-B627F93782AB}" type="presParOf" srcId="{2E1951EC-7C2B-4E19-8262-CE2EE48289C7}" destId="{9EE16CD1-12A3-4F33-80F4-10C66002DF85}" srcOrd="1" destOrd="0" presId="urn:microsoft.com/office/officeart/2005/8/layout/hierarchy1"/>
    <dgm:cxn modelId="{F4C1D82E-350A-4A93-80C2-10E61B6BFB62}" type="presParOf" srcId="{444BF361-737F-43BD-8B7E-7F5A6E69ACCD}" destId="{7E27A78D-52B9-4003-960E-7EAA709B8FA6}" srcOrd="1" destOrd="0" presId="urn:microsoft.com/office/officeart/2005/8/layout/hierarchy1"/>
    <dgm:cxn modelId="{05A760EC-373E-4C97-99B4-105025B80E6A}" type="presParOf" srcId="{4602DEA7-313A-42F1-B7F0-9807A926BB48}" destId="{90411311-4806-49B7-814F-96F328F7A45D}" srcOrd="2" destOrd="0" presId="urn:microsoft.com/office/officeart/2005/8/layout/hierarchy1"/>
    <dgm:cxn modelId="{D28F4588-8B14-44AB-A4C0-8406C04918F8}" type="presParOf" srcId="{4602DEA7-313A-42F1-B7F0-9807A926BB48}" destId="{D3BE9111-93C4-4E20-B9EF-3C4F965C8334}" srcOrd="3" destOrd="0" presId="urn:microsoft.com/office/officeart/2005/8/layout/hierarchy1"/>
    <dgm:cxn modelId="{47DF41E6-6FDF-457D-9842-079AB462E772}" type="presParOf" srcId="{D3BE9111-93C4-4E20-B9EF-3C4F965C8334}" destId="{19F5CBE8-F7A3-40B8-BAD9-F117D7E4CA72}" srcOrd="0" destOrd="0" presId="urn:microsoft.com/office/officeart/2005/8/layout/hierarchy1"/>
    <dgm:cxn modelId="{D5A479A3-0B28-4DB6-96AE-C19035A7B80F}" type="presParOf" srcId="{19F5CBE8-F7A3-40B8-BAD9-F117D7E4CA72}" destId="{85BC618A-80B3-40C4-AFD1-775BE0652309}" srcOrd="0" destOrd="0" presId="urn:microsoft.com/office/officeart/2005/8/layout/hierarchy1"/>
    <dgm:cxn modelId="{20A577E3-29AD-435D-BD2D-33996B4CAD01}" type="presParOf" srcId="{19F5CBE8-F7A3-40B8-BAD9-F117D7E4CA72}" destId="{55FC5432-9B3A-4685-929A-ABE266ECE4B5}" srcOrd="1" destOrd="0" presId="urn:microsoft.com/office/officeart/2005/8/layout/hierarchy1"/>
    <dgm:cxn modelId="{5F2C4FAE-FE1D-4F88-A7A6-8FF3D5D631B8}" type="presParOf" srcId="{D3BE9111-93C4-4E20-B9EF-3C4F965C8334}" destId="{D22C8F9B-A20D-42DD-88C0-189F7E75C4B8}" srcOrd="1" destOrd="0" presId="urn:microsoft.com/office/officeart/2005/8/layout/hierarchy1"/>
    <dgm:cxn modelId="{9871ACC3-5BD6-4552-8ECD-88E8B3A3EA18}" type="presParOf" srcId="{688F850C-A07D-4F3A-B81D-6E5AD0F23571}" destId="{519436FB-7E46-4D59-AFAD-915DBB129F96}" srcOrd="1" destOrd="0" presId="urn:microsoft.com/office/officeart/2005/8/layout/hierarchy1"/>
    <dgm:cxn modelId="{E06FB508-017F-4F2B-BC11-C96E3B824ED4}" type="presParOf" srcId="{519436FB-7E46-4D59-AFAD-915DBB129F96}" destId="{3AE561D6-D4F5-48BD-8A09-92C0D0AAB744}" srcOrd="0" destOrd="0" presId="urn:microsoft.com/office/officeart/2005/8/layout/hierarchy1"/>
    <dgm:cxn modelId="{C62EB8D8-D7A3-4F8D-9C89-9A73C8C45E04}" type="presParOf" srcId="{3AE561D6-D4F5-48BD-8A09-92C0D0AAB744}" destId="{A86A0464-ADE4-4F1E-A1CB-63C73468E658}" srcOrd="0" destOrd="0" presId="urn:microsoft.com/office/officeart/2005/8/layout/hierarchy1"/>
    <dgm:cxn modelId="{9FF9CE9B-32CE-43A3-8FC8-789FC0AA255D}" type="presParOf" srcId="{3AE561D6-D4F5-48BD-8A09-92C0D0AAB744}" destId="{9B328953-8E8F-4D86-9937-8D7F3D7446E6}" srcOrd="1" destOrd="0" presId="urn:microsoft.com/office/officeart/2005/8/layout/hierarchy1"/>
    <dgm:cxn modelId="{23FA0F1F-8288-43E5-8130-CA6F3E819C15}" type="presParOf" srcId="{519436FB-7E46-4D59-AFAD-915DBB129F96}" destId="{2EB61442-F144-4C22-B359-F54842225067}"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9895646-18D4-44E1-9B78-4E33D9D5E21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0D68621-7264-4342-B80A-0BDE6DD6B36A}">
      <dgm:prSet custT="1"/>
      <dgm:spPr/>
      <dgm:t>
        <a:bodyPr/>
        <a:lstStyle/>
        <a:p>
          <a:r>
            <a:rPr lang="en-US" sz="1600" b="0" i="0" baseline="0" dirty="0">
              <a:latin typeface="Times New Roman" panose="02020603050405020304" pitchFamily="18" charset="0"/>
              <a:cs typeface="Times New Roman" panose="02020603050405020304" pitchFamily="18" charset="0"/>
            </a:rPr>
            <a:t>The </a:t>
          </a:r>
          <a:r>
            <a:rPr lang="en-US" sz="1600" b="1" i="0" baseline="0" dirty="0">
              <a:latin typeface="Times New Roman" panose="02020603050405020304" pitchFamily="18" charset="0"/>
              <a:cs typeface="Times New Roman" panose="02020603050405020304" pitchFamily="18" charset="0"/>
            </a:rPr>
            <a:t>Linear SVM model</a:t>
          </a:r>
          <a:r>
            <a:rPr lang="en-US" sz="1600" b="0" i="0" baseline="0" dirty="0">
              <a:latin typeface="Times New Roman" panose="02020603050405020304" pitchFamily="18" charset="0"/>
              <a:cs typeface="Times New Roman" panose="02020603050405020304" pitchFamily="18" charset="0"/>
            </a:rPr>
            <a:t> achieved the </a:t>
          </a:r>
          <a:r>
            <a:rPr lang="en-US" sz="1600" b="1" i="0" baseline="0" dirty="0">
              <a:latin typeface="Times New Roman" panose="02020603050405020304" pitchFamily="18" charset="0"/>
              <a:cs typeface="Times New Roman" panose="02020603050405020304" pitchFamily="18" charset="0"/>
            </a:rPr>
            <a:t>highest accuracy (79.7%)</a:t>
          </a:r>
          <a:r>
            <a:rPr lang="en-US" sz="1600" b="0" i="0" baseline="0" dirty="0">
              <a:latin typeface="Times New Roman" panose="02020603050405020304" pitchFamily="18" charset="0"/>
              <a:cs typeface="Times New Roman" panose="02020603050405020304" pitchFamily="18" charset="0"/>
            </a:rPr>
            <a:t>, outperforming all other kernels.</a:t>
          </a:r>
          <a:endParaRPr lang="en-US" sz="1600" dirty="0">
            <a:latin typeface="Times New Roman" panose="02020603050405020304" pitchFamily="18" charset="0"/>
            <a:cs typeface="Times New Roman" panose="02020603050405020304" pitchFamily="18" charset="0"/>
          </a:endParaRPr>
        </a:p>
      </dgm:t>
    </dgm:pt>
    <dgm:pt modelId="{0BFCEB99-2B6C-4A1B-BE79-92B659EFB9B1}" type="parTrans" cxnId="{45A9491D-75BC-490F-B959-E57ACC1CF595}">
      <dgm:prSet/>
      <dgm:spPr/>
      <dgm:t>
        <a:bodyPr/>
        <a:lstStyle/>
        <a:p>
          <a:endParaRPr lang="en-US"/>
        </a:p>
      </dgm:t>
    </dgm:pt>
    <dgm:pt modelId="{70D049D4-2984-45C1-B10C-E568633D58E1}" type="sibTrans" cxnId="{45A9491D-75BC-490F-B959-E57ACC1CF595}">
      <dgm:prSet/>
      <dgm:spPr/>
      <dgm:t>
        <a:bodyPr/>
        <a:lstStyle/>
        <a:p>
          <a:endParaRPr lang="en-US"/>
        </a:p>
      </dgm:t>
    </dgm:pt>
    <dgm:pt modelId="{2BA0CD8B-EA5A-47C3-85DE-44F6BAEB25FF}">
      <dgm:prSet custT="1"/>
      <dgm:spPr/>
      <dgm:t>
        <a:bodyPr/>
        <a:lstStyle/>
        <a:p>
          <a:r>
            <a:rPr lang="en-US" sz="1600" b="0" i="0" baseline="0" dirty="0">
              <a:latin typeface="Times New Roman" panose="02020603050405020304" pitchFamily="18" charset="0"/>
              <a:cs typeface="Times New Roman" panose="02020603050405020304" pitchFamily="18" charset="0"/>
            </a:rPr>
            <a:t>The </a:t>
          </a:r>
          <a:r>
            <a:rPr lang="en-US" sz="1600" b="1" i="0" baseline="0" dirty="0">
              <a:latin typeface="Times New Roman" panose="02020603050405020304" pitchFamily="18" charset="0"/>
              <a:cs typeface="Times New Roman" panose="02020603050405020304" pitchFamily="18" charset="0"/>
            </a:rPr>
            <a:t>Polynomial (70.9%)</a:t>
          </a:r>
          <a:r>
            <a:rPr lang="en-US" sz="1600" b="0" i="0" baseline="0" dirty="0">
              <a:latin typeface="Times New Roman" panose="02020603050405020304" pitchFamily="18" charset="0"/>
              <a:cs typeface="Times New Roman" panose="02020603050405020304" pitchFamily="18" charset="0"/>
            </a:rPr>
            <a:t> and </a:t>
          </a:r>
          <a:r>
            <a:rPr lang="en-US" sz="1600" b="1" i="0" baseline="0" dirty="0">
              <a:latin typeface="Times New Roman" panose="02020603050405020304" pitchFamily="18" charset="0"/>
              <a:cs typeface="Times New Roman" panose="02020603050405020304" pitchFamily="18" charset="0"/>
            </a:rPr>
            <a:t>RBF (75.9%)</a:t>
          </a:r>
          <a:r>
            <a:rPr lang="en-US" sz="1600" b="0" i="0" baseline="0" dirty="0">
              <a:latin typeface="Times New Roman" panose="02020603050405020304" pitchFamily="18" charset="0"/>
              <a:cs typeface="Times New Roman" panose="02020603050405020304" pitchFamily="18" charset="0"/>
            </a:rPr>
            <a:t> kernels showed moderate performance, while </a:t>
          </a:r>
          <a:r>
            <a:rPr lang="en-US" sz="1600" b="1" i="0" baseline="0" dirty="0">
              <a:latin typeface="Times New Roman" panose="02020603050405020304" pitchFamily="18" charset="0"/>
              <a:cs typeface="Times New Roman" panose="02020603050405020304" pitchFamily="18" charset="0"/>
            </a:rPr>
            <a:t>Sigmoid (54.4%)</a:t>
          </a:r>
          <a:r>
            <a:rPr lang="en-US" sz="1600" b="0" i="0" baseline="0" dirty="0">
              <a:latin typeface="Times New Roman" panose="02020603050405020304" pitchFamily="18" charset="0"/>
              <a:cs typeface="Times New Roman" panose="02020603050405020304" pitchFamily="18" charset="0"/>
            </a:rPr>
            <a:t> performed poorly, indicating it was not well-suited for this dataset.</a:t>
          </a:r>
          <a:endParaRPr lang="en-US" sz="1600" dirty="0">
            <a:latin typeface="Times New Roman" panose="02020603050405020304" pitchFamily="18" charset="0"/>
            <a:cs typeface="Times New Roman" panose="02020603050405020304" pitchFamily="18" charset="0"/>
          </a:endParaRPr>
        </a:p>
      </dgm:t>
    </dgm:pt>
    <dgm:pt modelId="{688F3D1D-0218-43BB-8689-1D39EA3DA71B}" type="parTrans" cxnId="{4412BAE2-BAE7-4CA3-8B8F-CDC11BF5BD8E}">
      <dgm:prSet/>
      <dgm:spPr/>
      <dgm:t>
        <a:bodyPr/>
        <a:lstStyle/>
        <a:p>
          <a:endParaRPr lang="en-US"/>
        </a:p>
      </dgm:t>
    </dgm:pt>
    <dgm:pt modelId="{EAEEBF0D-FEE9-4D44-851E-44C0E1719B05}" type="sibTrans" cxnId="{4412BAE2-BAE7-4CA3-8B8F-CDC11BF5BD8E}">
      <dgm:prSet/>
      <dgm:spPr/>
      <dgm:t>
        <a:bodyPr/>
        <a:lstStyle/>
        <a:p>
          <a:endParaRPr lang="en-US"/>
        </a:p>
      </dgm:t>
    </dgm:pt>
    <dgm:pt modelId="{7FD64829-23AA-4668-AE66-1CA22A51C0E1}">
      <dgm:prSet custT="1"/>
      <dgm:spPr/>
      <dgm:t>
        <a:bodyPr/>
        <a:lstStyle/>
        <a:p>
          <a:r>
            <a:rPr lang="en-US" sz="1600" b="0" i="0" baseline="0" dirty="0">
              <a:latin typeface="Times New Roman" panose="02020603050405020304" pitchFamily="18" charset="0"/>
              <a:cs typeface="Times New Roman" panose="02020603050405020304" pitchFamily="18" charset="0"/>
            </a:rPr>
            <a:t>The </a:t>
          </a:r>
          <a:r>
            <a:rPr lang="en-US" sz="1600" b="1" i="0" baseline="0" dirty="0">
              <a:latin typeface="Times New Roman" panose="02020603050405020304" pitchFamily="18" charset="0"/>
              <a:cs typeface="Times New Roman" panose="02020603050405020304" pitchFamily="18" charset="0"/>
            </a:rPr>
            <a:t>Linear kernel’s strong performance</a:t>
          </a:r>
          <a:r>
            <a:rPr lang="en-US" sz="1600" b="0" i="0" baseline="0" dirty="0">
              <a:latin typeface="Times New Roman" panose="02020603050405020304" pitchFamily="18" charset="0"/>
              <a:cs typeface="Times New Roman" panose="02020603050405020304" pitchFamily="18" charset="0"/>
            </a:rPr>
            <a:t> suggests that the relationship between </a:t>
          </a:r>
          <a:r>
            <a:rPr lang="en-US" sz="1600" b="1" i="0" baseline="0" dirty="0">
              <a:latin typeface="Times New Roman" panose="02020603050405020304" pitchFamily="18" charset="0"/>
              <a:cs typeface="Times New Roman" panose="02020603050405020304" pitchFamily="18" charset="0"/>
            </a:rPr>
            <a:t>blood pressure, serum creatinine, and CKD classification</a:t>
          </a:r>
          <a:r>
            <a:rPr lang="en-US" sz="1600" b="0" i="0" baseline="0" dirty="0">
              <a:latin typeface="Times New Roman" panose="02020603050405020304" pitchFamily="18" charset="0"/>
              <a:cs typeface="Times New Roman" panose="02020603050405020304" pitchFamily="18" charset="0"/>
            </a:rPr>
            <a:t> is approximately </a:t>
          </a:r>
          <a:r>
            <a:rPr lang="en-US" sz="1600" b="1" i="0" baseline="0" dirty="0">
              <a:latin typeface="Times New Roman" panose="02020603050405020304" pitchFamily="18" charset="0"/>
              <a:cs typeface="Times New Roman" panose="02020603050405020304" pitchFamily="18" charset="0"/>
            </a:rPr>
            <a:t>linearly separable</a:t>
          </a:r>
          <a:r>
            <a:rPr lang="en-US" sz="1600" b="0" i="0" baseline="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dgm:t>
    </dgm:pt>
    <dgm:pt modelId="{7DBCD67B-FF16-431D-A205-4A06C35EC9E8}" type="parTrans" cxnId="{285C7650-FB07-4925-A675-49F029D7563C}">
      <dgm:prSet/>
      <dgm:spPr/>
      <dgm:t>
        <a:bodyPr/>
        <a:lstStyle/>
        <a:p>
          <a:endParaRPr lang="en-US"/>
        </a:p>
      </dgm:t>
    </dgm:pt>
    <dgm:pt modelId="{3F9F98FF-DA59-40E0-A5F8-95E0B3972448}" type="sibTrans" cxnId="{285C7650-FB07-4925-A675-49F029D7563C}">
      <dgm:prSet/>
      <dgm:spPr/>
      <dgm:t>
        <a:bodyPr/>
        <a:lstStyle/>
        <a:p>
          <a:endParaRPr lang="en-US"/>
        </a:p>
      </dgm:t>
    </dgm:pt>
    <dgm:pt modelId="{9C5F881E-344D-4F1F-BB10-1B227E95ECAC}">
      <dgm:prSet custT="1"/>
      <dgm:spPr/>
      <dgm:t>
        <a:bodyPr/>
        <a:lstStyle/>
        <a:p>
          <a:r>
            <a:rPr lang="en-US" sz="1800" b="0" i="0" baseline="0" dirty="0">
              <a:latin typeface="Times New Roman" panose="02020603050405020304" pitchFamily="18" charset="0"/>
              <a:cs typeface="Times New Roman" panose="02020603050405020304" pitchFamily="18" charset="0"/>
            </a:rPr>
            <a:t>From the </a:t>
          </a:r>
          <a:r>
            <a:rPr lang="en-US" sz="1800" b="1" i="0" baseline="0" dirty="0">
              <a:latin typeface="Times New Roman" panose="02020603050405020304" pitchFamily="18" charset="0"/>
              <a:cs typeface="Times New Roman" panose="02020603050405020304" pitchFamily="18" charset="0"/>
            </a:rPr>
            <a:t>confusion matrix</a:t>
          </a:r>
          <a:r>
            <a:rPr lang="en-US" sz="1800" b="0" i="0" baseline="0" dirty="0">
              <a:latin typeface="Times New Roman" panose="02020603050405020304" pitchFamily="18" charset="0"/>
              <a:cs typeface="Times New Roman" panose="02020603050405020304" pitchFamily="18" charset="0"/>
            </a:rPr>
            <a:t>:</a:t>
          </a:r>
          <a:endParaRPr lang="en-US" sz="1800" dirty="0">
            <a:latin typeface="Times New Roman" panose="02020603050405020304" pitchFamily="18" charset="0"/>
            <a:cs typeface="Times New Roman" panose="02020603050405020304" pitchFamily="18" charset="0"/>
          </a:endParaRPr>
        </a:p>
      </dgm:t>
    </dgm:pt>
    <dgm:pt modelId="{201DA18E-8B82-4D4C-8D86-9AB6DDD1773B}" type="parTrans" cxnId="{3421F2AA-6A09-434F-8F38-8A48FA01E9FA}">
      <dgm:prSet/>
      <dgm:spPr/>
      <dgm:t>
        <a:bodyPr/>
        <a:lstStyle/>
        <a:p>
          <a:endParaRPr lang="en-US"/>
        </a:p>
      </dgm:t>
    </dgm:pt>
    <dgm:pt modelId="{DBCEDC8F-6975-4648-8A0A-8D20F6937AD9}" type="sibTrans" cxnId="{3421F2AA-6A09-434F-8F38-8A48FA01E9FA}">
      <dgm:prSet/>
      <dgm:spPr/>
      <dgm:t>
        <a:bodyPr/>
        <a:lstStyle/>
        <a:p>
          <a:endParaRPr lang="en-US"/>
        </a:p>
      </dgm:t>
    </dgm:pt>
    <dgm:pt modelId="{154BA1B3-D3EC-4EC7-913B-37054A9EA8AF}">
      <dgm:prSet custT="1"/>
      <dgm:spPr/>
      <dgm:t>
        <a:bodyPr/>
        <a:lstStyle/>
        <a:p>
          <a:r>
            <a:rPr lang="en-US" sz="1400" b="1" i="0" baseline="0" dirty="0">
              <a:latin typeface="Times New Roman" panose="02020603050405020304" pitchFamily="18" charset="0"/>
              <a:cs typeface="Times New Roman" panose="02020603050405020304" pitchFamily="18" charset="0"/>
            </a:rPr>
            <a:t>True Negatives (30)</a:t>
          </a:r>
          <a:r>
            <a:rPr lang="en-US" sz="1400" b="0" i="0" baseline="0" dirty="0">
              <a:latin typeface="Times New Roman" panose="02020603050405020304" pitchFamily="18" charset="0"/>
              <a:cs typeface="Times New Roman" panose="02020603050405020304" pitchFamily="18" charset="0"/>
            </a:rPr>
            <a:t> and </a:t>
          </a:r>
          <a:r>
            <a:rPr lang="en-US" sz="1400" b="1" i="0" baseline="0" dirty="0">
              <a:latin typeface="Times New Roman" panose="02020603050405020304" pitchFamily="18" charset="0"/>
              <a:cs typeface="Times New Roman" panose="02020603050405020304" pitchFamily="18" charset="0"/>
            </a:rPr>
            <a:t>True Positives (33)</a:t>
          </a:r>
          <a:r>
            <a:rPr lang="en-US" sz="1400" b="0" i="0" baseline="0" dirty="0">
              <a:latin typeface="Times New Roman" panose="02020603050405020304" pitchFamily="18" charset="0"/>
              <a:cs typeface="Times New Roman" panose="02020603050405020304" pitchFamily="18" charset="0"/>
            </a:rPr>
            <a:t> indicate reliable classification overall.</a:t>
          </a:r>
          <a:endParaRPr lang="en-US" sz="1400" dirty="0">
            <a:latin typeface="Times New Roman" panose="02020603050405020304" pitchFamily="18" charset="0"/>
            <a:cs typeface="Times New Roman" panose="02020603050405020304" pitchFamily="18" charset="0"/>
          </a:endParaRPr>
        </a:p>
      </dgm:t>
    </dgm:pt>
    <dgm:pt modelId="{1C416C8B-52D7-46F0-A5EA-D1CDB5687D2A}" type="parTrans" cxnId="{0374A255-18B5-4669-BE1E-812AA1A0873F}">
      <dgm:prSet/>
      <dgm:spPr/>
      <dgm:t>
        <a:bodyPr/>
        <a:lstStyle/>
        <a:p>
          <a:endParaRPr lang="en-US"/>
        </a:p>
      </dgm:t>
    </dgm:pt>
    <dgm:pt modelId="{3D990CF2-3DAE-471F-BF40-A447382705EC}" type="sibTrans" cxnId="{0374A255-18B5-4669-BE1E-812AA1A0873F}">
      <dgm:prSet/>
      <dgm:spPr/>
      <dgm:t>
        <a:bodyPr/>
        <a:lstStyle/>
        <a:p>
          <a:endParaRPr lang="en-US"/>
        </a:p>
      </dgm:t>
    </dgm:pt>
    <dgm:pt modelId="{3A891FD7-519F-456F-BB6C-DFFD92085B95}">
      <dgm:prSet custT="1"/>
      <dgm:spPr/>
      <dgm:t>
        <a:bodyPr/>
        <a:lstStyle/>
        <a:p>
          <a:r>
            <a:rPr lang="en-US" sz="1400" b="0" i="0" baseline="0" dirty="0">
              <a:latin typeface="Times New Roman" panose="02020603050405020304" pitchFamily="18" charset="0"/>
              <a:cs typeface="Times New Roman" panose="02020603050405020304" pitchFamily="18" charset="0"/>
            </a:rPr>
            <a:t>The model </a:t>
          </a:r>
          <a:r>
            <a:rPr lang="en-US" sz="1400" b="1" i="0" baseline="0" dirty="0">
              <a:latin typeface="Times New Roman" panose="02020603050405020304" pitchFamily="18" charset="0"/>
              <a:cs typeface="Times New Roman" panose="02020603050405020304" pitchFamily="18" charset="0"/>
            </a:rPr>
            <a:t>missed 16 CKD cases</a:t>
          </a:r>
          <a:r>
            <a:rPr lang="en-US" sz="1400" b="0" i="0" baseline="0" dirty="0">
              <a:latin typeface="Times New Roman" panose="02020603050405020304" pitchFamily="18" charset="0"/>
              <a:cs typeface="Times New Roman" panose="02020603050405020304" pitchFamily="18" charset="0"/>
            </a:rPr>
            <a:t> (false negatives), meaning it sometimes predicted “non-CKD” for patients who had CKD.</a:t>
          </a:r>
          <a:endParaRPr lang="en-US" sz="1400" dirty="0">
            <a:latin typeface="Times New Roman" panose="02020603050405020304" pitchFamily="18" charset="0"/>
            <a:cs typeface="Times New Roman" panose="02020603050405020304" pitchFamily="18" charset="0"/>
          </a:endParaRPr>
        </a:p>
      </dgm:t>
    </dgm:pt>
    <dgm:pt modelId="{DB14B2DB-06AC-4DE6-9B8C-509891536411}" type="parTrans" cxnId="{7E0279E0-1EC9-49AD-B2C7-0992EF127AFC}">
      <dgm:prSet/>
      <dgm:spPr/>
      <dgm:t>
        <a:bodyPr/>
        <a:lstStyle/>
        <a:p>
          <a:endParaRPr lang="en-US"/>
        </a:p>
      </dgm:t>
    </dgm:pt>
    <dgm:pt modelId="{33B1F93D-30D2-4176-931A-D49AF649990C}" type="sibTrans" cxnId="{7E0279E0-1EC9-49AD-B2C7-0992EF127AFC}">
      <dgm:prSet/>
      <dgm:spPr/>
      <dgm:t>
        <a:bodyPr/>
        <a:lstStyle/>
        <a:p>
          <a:endParaRPr lang="en-US"/>
        </a:p>
      </dgm:t>
    </dgm:pt>
    <dgm:pt modelId="{CF98E4F5-F6F3-4D4C-9FCF-81BEAA534A40}">
      <dgm:prSet custT="1"/>
      <dgm:spPr/>
      <dgm:t>
        <a:bodyPr/>
        <a:lstStyle/>
        <a:p>
          <a:r>
            <a:rPr lang="en-US" sz="1600" b="1" i="0" baseline="0" dirty="0">
              <a:latin typeface="Times New Roman" panose="02020603050405020304" pitchFamily="18" charset="0"/>
              <a:cs typeface="Times New Roman" panose="02020603050405020304" pitchFamily="18" charset="0"/>
            </a:rPr>
            <a:t>Precision (1.00)</a:t>
          </a:r>
          <a:r>
            <a:rPr lang="en-US" sz="1600" b="0" i="0" baseline="0" dirty="0">
              <a:latin typeface="Times New Roman" panose="02020603050405020304" pitchFamily="18" charset="0"/>
              <a:cs typeface="Times New Roman" panose="02020603050405020304" pitchFamily="18" charset="0"/>
            </a:rPr>
            <a:t> for CKD detection shows the model rarely mislabels non-CKD patients as CKD, while </a:t>
          </a:r>
          <a:r>
            <a:rPr lang="en-US" sz="1600" b="1" i="0" baseline="0" dirty="0">
              <a:latin typeface="Times New Roman" panose="02020603050405020304" pitchFamily="18" charset="0"/>
              <a:cs typeface="Times New Roman" panose="02020603050405020304" pitchFamily="18" charset="0"/>
            </a:rPr>
            <a:t>recall (0.673)</a:t>
          </a:r>
          <a:r>
            <a:rPr lang="en-US" sz="1600" b="0" i="0" baseline="0" dirty="0">
              <a:latin typeface="Times New Roman" panose="02020603050405020304" pitchFamily="18" charset="0"/>
              <a:cs typeface="Times New Roman" panose="02020603050405020304" pitchFamily="18" charset="0"/>
            </a:rPr>
            <a:t> indicates it could still miss some CKD cases.</a:t>
          </a:r>
          <a:endParaRPr lang="en-US" sz="1600" dirty="0">
            <a:latin typeface="Times New Roman" panose="02020603050405020304" pitchFamily="18" charset="0"/>
            <a:cs typeface="Times New Roman" panose="02020603050405020304" pitchFamily="18" charset="0"/>
          </a:endParaRPr>
        </a:p>
      </dgm:t>
    </dgm:pt>
    <dgm:pt modelId="{62865CD5-31B5-413F-B261-DA08332CDAC4}" type="parTrans" cxnId="{9B998EC2-31AB-43C3-A44A-920F35DA6E06}">
      <dgm:prSet/>
      <dgm:spPr/>
      <dgm:t>
        <a:bodyPr/>
        <a:lstStyle/>
        <a:p>
          <a:endParaRPr lang="en-US"/>
        </a:p>
      </dgm:t>
    </dgm:pt>
    <dgm:pt modelId="{56285E13-2BA5-4F31-BC20-E47E0AA4504D}" type="sibTrans" cxnId="{9B998EC2-31AB-43C3-A44A-920F35DA6E06}">
      <dgm:prSet/>
      <dgm:spPr/>
      <dgm:t>
        <a:bodyPr/>
        <a:lstStyle/>
        <a:p>
          <a:endParaRPr lang="en-US"/>
        </a:p>
      </dgm:t>
    </dgm:pt>
    <dgm:pt modelId="{989A97F3-973E-44F7-A9E6-B85F575277CB}" type="pres">
      <dgm:prSet presAssocID="{19895646-18D4-44E1-9B78-4E33D9D5E217}" presName="vert0" presStyleCnt="0">
        <dgm:presLayoutVars>
          <dgm:dir/>
          <dgm:animOne val="branch"/>
          <dgm:animLvl val="lvl"/>
        </dgm:presLayoutVars>
      </dgm:prSet>
      <dgm:spPr/>
    </dgm:pt>
    <dgm:pt modelId="{B9D5302D-9EFD-461F-8942-DFB7D1933DDA}" type="pres">
      <dgm:prSet presAssocID="{80D68621-7264-4342-B80A-0BDE6DD6B36A}" presName="thickLine" presStyleLbl="alignNode1" presStyleIdx="0" presStyleCnt="5"/>
      <dgm:spPr/>
    </dgm:pt>
    <dgm:pt modelId="{D2C29051-54AA-420E-A916-36D3AB25B95F}" type="pres">
      <dgm:prSet presAssocID="{80D68621-7264-4342-B80A-0BDE6DD6B36A}" presName="horz1" presStyleCnt="0"/>
      <dgm:spPr/>
    </dgm:pt>
    <dgm:pt modelId="{55115C0E-3840-46DE-B39D-431AAE3BF564}" type="pres">
      <dgm:prSet presAssocID="{80D68621-7264-4342-B80A-0BDE6DD6B36A}" presName="tx1" presStyleLbl="revTx" presStyleIdx="0" presStyleCnt="7" custScaleX="500000"/>
      <dgm:spPr/>
    </dgm:pt>
    <dgm:pt modelId="{8ED8B646-154F-4F3B-98FD-FAB449A853F9}" type="pres">
      <dgm:prSet presAssocID="{80D68621-7264-4342-B80A-0BDE6DD6B36A}" presName="vert1" presStyleCnt="0"/>
      <dgm:spPr/>
    </dgm:pt>
    <dgm:pt modelId="{0F1C7FCC-4556-4035-B4FF-0AEB18705125}" type="pres">
      <dgm:prSet presAssocID="{2BA0CD8B-EA5A-47C3-85DE-44F6BAEB25FF}" presName="thickLine" presStyleLbl="alignNode1" presStyleIdx="1" presStyleCnt="5"/>
      <dgm:spPr/>
    </dgm:pt>
    <dgm:pt modelId="{BFBE51B5-A220-438E-A68A-26B9F87D83DB}" type="pres">
      <dgm:prSet presAssocID="{2BA0CD8B-EA5A-47C3-85DE-44F6BAEB25FF}" presName="horz1" presStyleCnt="0"/>
      <dgm:spPr/>
    </dgm:pt>
    <dgm:pt modelId="{5A1A017A-39E3-4687-8D52-B8A9DF9F2F4C}" type="pres">
      <dgm:prSet presAssocID="{2BA0CD8B-EA5A-47C3-85DE-44F6BAEB25FF}" presName="tx1" presStyleLbl="revTx" presStyleIdx="1" presStyleCnt="7" custScaleX="500000"/>
      <dgm:spPr/>
    </dgm:pt>
    <dgm:pt modelId="{5F0BDFC4-2D90-47E3-820B-2B446D6B4AFC}" type="pres">
      <dgm:prSet presAssocID="{2BA0CD8B-EA5A-47C3-85DE-44F6BAEB25FF}" presName="vert1" presStyleCnt="0"/>
      <dgm:spPr/>
    </dgm:pt>
    <dgm:pt modelId="{3D90FFFF-396F-4C7B-85E9-66E47C503716}" type="pres">
      <dgm:prSet presAssocID="{7FD64829-23AA-4668-AE66-1CA22A51C0E1}" presName="thickLine" presStyleLbl="alignNode1" presStyleIdx="2" presStyleCnt="5"/>
      <dgm:spPr/>
    </dgm:pt>
    <dgm:pt modelId="{936C1520-4B6F-4822-A3B1-78F65DA178F8}" type="pres">
      <dgm:prSet presAssocID="{7FD64829-23AA-4668-AE66-1CA22A51C0E1}" presName="horz1" presStyleCnt="0"/>
      <dgm:spPr/>
    </dgm:pt>
    <dgm:pt modelId="{ED21AC63-A221-42E5-8959-3877F67057D6}" type="pres">
      <dgm:prSet presAssocID="{7FD64829-23AA-4668-AE66-1CA22A51C0E1}" presName="tx1" presStyleLbl="revTx" presStyleIdx="2" presStyleCnt="7" custScaleX="500000"/>
      <dgm:spPr/>
    </dgm:pt>
    <dgm:pt modelId="{6F589340-88A6-4FA5-B7FE-112FC8F2C3D9}" type="pres">
      <dgm:prSet presAssocID="{7FD64829-23AA-4668-AE66-1CA22A51C0E1}" presName="vert1" presStyleCnt="0"/>
      <dgm:spPr/>
    </dgm:pt>
    <dgm:pt modelId="{7CFE9407-3A4C-4AD6-9D3B-5C464D372CF0}" type="pres">
      <dgm:prSet presAssocID="{9C5F881E-344D-4F1F-BB10-1B227E95ECAC}" presName="thickLine" presStyleLbl="alignNode1" presStyleIdx="3" presStyleCnt="5"/>
      <dgm:spPr/>
    </dgm:pt>
    <dgm:pt modelId="{68413C1E-C3CF-4EA8-8E00-DB6E02C402AF}" type="pres">
      <dgm:prSet presAssocID="{9C5F881E-344D-4F1F-BB10-1B227E95ECAC}" presName="horz1" presStyleCnt="0"/>
      <dgm:spPr/>
    </dgm:pt>
    <dgm:pt modelId="{FED6100B-33FA-458B-9003-A3757A7042D1}" type="pres">
      <dgm:prSet presAssocID="{9C5F881E-344D-4F1F-BB10-1B227E95ECAC}" presName="tx1" presStyleLbl="revTx" presStyleIdx="3" presStyleCnt="7"/>
      <dgm:spPr/>
    </dgm:pt>
    <dgm:pt modelId="{45DD6B9A-87F7-45FE-8924-8BBD5733A12F}" type="pres">
      <dgm:prSet presAssocID="{9C5F881E-344D-4F1F-BB10-1B227E95ECAC}" presName="vert1" presStyleCnt="0"/>
      <dgm:spPr/>
    </dgm:pt>
    <dgm:pt modelId="{122E57BD-2AE8-45A0-A63B-C11D10D76443}" type="pres">
      <dgm:prSet presAssocID="{154BA1B3-D3EC-4EC7-913B-37054A9EA8AF}" presName="vertSpace2a" presStyleCnt="0"/>
      <dgm:spPr/>
    </dgm:pt>
    <dgm:pt modelId="{CD8E8577-0DC9-4955-9CA3-DA8A45368E7C}" type="pres">
      <dgm:prSet presAssocID="{154BA1B3-D3EC-4EC7-913B-37054A9EA8AF}" presName="horz2" presStyleCnt="0"/>
      <dgm:spPr/>
    </dgm:pt>
    <dgm:pt modelId="{CA5A599D-9E05-4894-97FA-3E147FD6766C}" type="pres">
      <dgm:prSet presAssocID="{154BA1B3-D3EC-4EC7-913B-37054A9EA8AF}" presName="horzSpace2" presStyleCnt="0"/>
      <dgm:spPr/>
    </dgm:pt>
    <dgm:pt modelId="{488B4B6A-404F-4F5E-9C8F-82D566D067CB}" type="pres">
      <dgm:prSet presAssocID="{154BA1B3-D3EC-4EC7-913B-37054A9EA8AF}" presName="tx2" presStyleLbl="revTx" presStyleIdx="4" presStyleCnt="7"/>
      <dgm:spPr/>
    </dgm:pt>
    <dgm:pt modelId="{1BFA7E82-5E6A-4A61-9A85-069C5D182534}" type="pres">
      <dgm:prSet presAssocID="{154BA1B3-D3EC-4EC7-913B-37054A9EA8AF}" presName="vert2" presStyleCnt="0"/>
      <dgm:spPr/>
    </dgm:pt>
    <dgm:pt modelId="{8B156A16-510C-4408-8C5D-9D00A4FAEAFE}" type="pres">
      <dgm:prSet presAssocID="{154BA1B3-D3EC-4EC7-913B-37054A9EA8AF}" presName="thinLine2b" presStyleLbl="callout" presStyleIdx="0" presStyleCnt="2"/>
      <dgm:spPr/>
    </dgm:pt>
    <dgm:pt modelId="{30A109B6-1279-49D1-8805-97371E108FE8}" type="pres">
      <dgm:prSet presAssocID="{154BA1B3-D3EC-4EC7-913B-37054A9EA8AF}" presName="vertSpace2b" presStyleCnt="0"/>
      <dgm:spPr/>
    </dgm:pt>
    <dgm:pt modelId="{DB8C3FAF-FF9E-4D09-91F3-234F4815D39F}" type="pres">
      <dgm:prSet presAssocID="{3A891FD7-519F-456F-BB6C-DFFD92085B95}" presName="horz2" presStyleCnt="0"/>
      <dgm:spPr/>
    </dgm:pt>
    <dgm:pt modelId="{172DF485-C8A5-4EA8-A49A-11CC4E6F1ACD}" type="pres">
      <dgm:prSet presAssocID="{3A891FD7-519F-456F-BB6C-DFFD92085B95}" presName="horzSpace2" presStyleCnt="0"/>
      <dgm:spPr/>
    </dgm:pt>
    <dgm:pt modelId="{5918AE54-D910-43DC-9F94-C16BA9096F1E}" type="pres">
      <dgm:prSet presAssocID="{3A891FD7-519F-456F-BB6C-DFFD92085B95}" presName="tx2" presStyleLbl="revTx" presStyleIdx="5" presStyleCnt="7"/>
      <dgm:spPr/>
    </dgm:pt>
    <dgm:pt modelId="{491336CD-BDE8-441C-9398-B52569CD60BE}" type="pres">
      <dgm:prSet presAssocID="{3A891FD7-519F-456F-BB6C-DFFD92085B95}" presName="vert2" presStyleCnt="0"/>
      <dgm:spPr/>
    </dgm:pt>
    <dgm:pt modelId="{D2717F13-8408-4728-B3B3-CF0633D218CE}" type="pres">
      <dgm:prSet presAssocID="{3A891FD7-519F-456F-BB6C-DFFD92085B95}" presName="thinLine2b" presStyleLbl="callout" presStyleIdx="1" presStyleCnt="2"/>
      <dgm:spPr/>
    </dgm:pt>
    <dgm:pt modelId="{E7BA2E61-2745-4B1F-8154-79754490C845}" type="pres">
      <dgm:prSet presAssocID="{3A891FD7-519F-456F-BB6C-DFFD92085B95}" presName="vertSpace2b" presStyleCnt="0"/>
      <dgm:spPr/>
    </dgm:pt>
    <dgm:pt modelId="{867F3D23-F189-4E8F-A0B2-06DD4E95A281}" type="pres">
      <dgm:prSet presAssocID="{CF98E4F5-F6F3-4D4C-9FCF-81BEAA534A40}" presName="thickLine" presStyleLbl="alignNode1" presStyleIdx="4" presStyleCnt="5"/>
      <dgm:spPr/>
    </dgm:pt>
    <dgm:pt modelId="{2DE531DB-9749-4814-AA87-FC170682BC99}" type="pres">
      <dgm:prSet presAssocID="{CF98E4F5-F6F3-4D4C-9FCF-81BEAA534A40}" presName="horz1" presStyleCnt="0"/>
      <dgm:spPr/>
    </dgm:pt>
    <dgm:pt modelId="{5B22B4DA-BA4B-45D8-97C4-DB99566B3D19}" type="pres">
      <dgm:prSet presAssocID="{CF98E4F5-F6F3-4D4C-9FCF-81BEAA534A40}" presName="tx1" presStyleLbl="revTx" presStyleIdx="6" presStyleCnt="7" custScaleX="500000" custLinFactNeighborX="0" custLinFactNeighborY="6145"/>
      <dgm:spPr/>
    </dgm:pt>
    <dgm:pt modelId="{94C6907A-D5B5-4CD4-B623-86EA415376DD}" type="pres">
      <dgm:prSet presAssocID="{CF98E4F5-F6F3-4D4C-9FCF-81BEAA534A40}" presName="vert1" presStyleCnt="0"/>
      <dgm:spPr/>
    </dgm:pt>
  </dgm:ptLst>
  <dgm:cxnLst>
    <dgm:cxn modelId="{45A9491D-75BC-490F-B959-E57ACC1CF595}" srcId="{19895646-18D4-44E1-9B78-4E33D9D5E217}" destId="{80D68621-7264-4342-B80A-0BDE6DD6B36A}" srcOrd="0" destOrd="0" parTransId="{0BFCEB99-2B6C-4A1B-BE79-92B659EFB9B1}" sibTransId="{70D049D4-2984-45C1-B10C-E568633D58E1}"/>
    <dgm:cxn modelId="{2246CC21-48C1-41FA-9577-4BE4BE2DA40C}" type="presOf" srcId="{CF98E4F5-F6F3-4D4C-9FCF-81BEAA534A40}" destId="{5B22B4DA-BA4B-45D8-97C4-DB99566B3D19}" srcOrd="0" destOrd="0" presId="urn:microsoft.com/office/officeart/2008/layout/LinedList"/>
    <dgm:cxn modelId="{F64CF061-E719-4A08-8F1F-2494E36E6E40}" type="presOf" srcId="{2BA0CD8B-EA5A-47C3-85DE-44F6BAEB25FF}" destId="{5A1A017A-39E3-4687-8D52-B8A9DF9F2F4C}" srcOrd="0" destOrd="0" presId="urn:microsoft.com/office/officeart/2008/layout/LinedList"/>
    <dgm:cxn modelId="{0A14EB65-DBB0-4C43-BE0C-C133B7848885}" type="presOf" srcId="{154BA1B3-D3EC-4EC7-913B-37054A9EA8AF}" destId="{488B4B6A-404F-4F5E-9C8F-82D566D067CB}" srcOrd="0" destOrd="0" presId="urn:microsoft.com/office/officeart/2008/layout/LinedList"/>
    <dgm:cxn modelId="{D358FA65-2657-4309-A78C-A848C704EB52}" type="presOf" srcId="{3A891FD7-519F-456F-BB6C-DFFD92085B95}" destId="{5918AE54-D910-43DC-9F94-C16BA9096F1E}" srcOrd="0" destOrd="0" presId="urn:microsoft.com/office/officeart/2008/layout/LinedList"/>
    <dgm:cxn modelId="{11BFB04F-5510-4253-87EC-E84C2085C5E8}" type="presOf" srcId="{7FD64829-23AA-4668-AE66-1CA22A51C0E1}" destId="{ED21AC63-A221-42E5-8959-3877F67057D6}" srcOrd="0" destOrd="0" presId="urn:microsoft.com/office/officeart/2008/layout/LinedList"/>
    <dgm:cxn modelId="{285C7650-FB07-4925-A675-49F029D7563C}" srcId="{19895646-18D4-44E1-9B78-4E33D9D5E217}" destId="{7FD64829-23AA-4668-AE66-1CA22A51C0E1}" srcOrd="2" destOrd="0" parTransId="{7DBCD67B-FF16-431D-A205-4A06C35EC9E8}" sibTransId="{3F9F98FF-DA59-40E0-A5F8-95E0B3972448}"/>
    <dgm:cxn modelId="{0374A255-18B5-4669-BE1E-812AA1A0873F}" srcId="{9C5F881E-344D-4F1F-BB10-1B227E95ECAC}" destId="{154BA1B3-D3EC-4EC7-913B-37054A9EA8AF}" srcOrd="0" destOrd="0" parTransId="{1C416C8B-52D7-46F0-A5EA-D1CDB5687D2A}" sibTransId="{3D990CF2-3DAE-471F-BF40-A447382705EC}"/>
    <dgm:cxn modelId="{FDC29EA1-FB61-40C5-87EF-A5F20E650BBA}" type="presOf" srcId="{9C5F881E-344D-4F1F-BB10-1B227E95ECAC}" destId="{FED6100B-33FA-458B-9003-A3757A7042D1}" srcOrd="0" destOrd="0" presId="urn:microsoft.com/office/officeart/2008/layout/LinedList"/>
    <dgm:cxn modelId="{3421F2AA-6A09-434F-8F38-8A48FA01E9FA}" srcId="{19895646-18D4-44E1-9B78-4E33D9D5E217}" destId="{9C5F881E-344D-4F1F-BB10-1B227E95ECAC}" srcOrd="3" destOrd="0" parTransId="{201DA18E-8B82-4D4C-8D86-9AB6DDD1773B}" sibTransId="{DBCEDC8F-6975-4648-8A0A-8D20F6937AD9}"/>
    <dgm:cxn modelId="{BC5A56AE-5B39-4FCE-9B84-5BE4A6FF0B0C}" type="presOf" srcId="{19895646-18D4-44E1-9B78-4E33D9D5E217}" destId="{989A97F3-973E-44F7-A9E6-B85F575277CB}" srcOrd="0" destOrd="0" presId="urn:microsoft.com/office/officeart/2008/layout/LinedList"/>
    <dgm:cxn modelId="{9B998EC2-31AB-43C3-A44A-920F35DA6E06}" srcId="{19895646-18D4-44E1-9B78-4E33D9D5E217}" destId="{CF98E4F5-F6F3-4D4C-9FCF-81BEAA534A40}" srcOrd="4" destOrd="0" parTransId="{62865CD5-31B5-413F-B261-DA08332CDAC4}" sibTransId="{56285E13-2BA5-4F31-BC20-E47E0AA4504D}"/>
    <dgm:cxn modelId="{0D30CBD5-F2D4-4B2B-AC69-B190B1BD61C5}" type="presOf" srcId="{80D68621-7264-4342-B80A-0BDE6DD6B36A}" destId="{55115C0E-3840-46DE-B39D-431AAE3BF564}" srcOrd="0" destOrd="0" presId="urn:microsoft.com/office/officeart/2008/layout/LinedList"/>
    <dgm:cxn modelId="{7E0279E0-1EC9-49AD-B2C7-0992EF127AFC}" srcId="{9C5F881E-344D-4F1F-BB10-1B227E95ECAC}" destId="{3A891FD7-519F-456F-BB6C-DFFD92085B95}" srcOrd="1" destOrd="0" parTransId="{DB14B2DB-06AC-4DE6-9B8C-509891536411}" sibTransId="{33B1F93D-30D2-4176-931A-D49AF649990C}"/>
    <dgm:cxn modelId="{4412BAE2-BAE7-4CA3-8B8F-CDC11BF5BD8E}" srcId="{19895646-18D4-44E1-9B78-4E33D9D5E217}" destId="{2BA0CD8B-EA5A-47C3-85DE-44F6BAEB25FF}" srcOrd="1" destOrd="0" parTransId="{688F3D1D-0218-43BB-8689-1D39EA3DA71B}" sibTransId="{EAEEBF0D-FEE9-4D44-851E-44C0E1719B05}"/>
    <dgm:cxn modelId="{25A8C2D8-E72F-4CC1-9191-CB48BE8F8EEB}" type="presParOf" srcId="{989A97F3-973E-44F7-A9E6-B85F575277CB}" destId="{B9D5302D-9EFD-461F-8942-DFB7D1933DDA}" srcOrd="0" destOrd="0" presId="urn:microsoft.com/office/officeart/2008/layout/LinedList"/>
    <dgm:cxn modelId="{28A93A98-0ABF-4389-BD7C-A6882F7ACDE2}" type="presParOf" srcId="{989A97F3-973E-44F7-A9E6-B85F575277CB}" destId="{D2C29051-54AA-420E-A916-36D3AB25B95F}" srcOrd="1" destOrd="0" presId="urn:microsoft.com/office/officeart/2008/layout/LinedList"/>
    <dgm:cxn modelId="{8EC0D4A9-8532-4BE0-B504-167EF2301929}" type="presParOf" srcId="{D2C29051-54AA-420E-A916-36D3AB25B95F}" destId="{55115C0E-3840-46DE-B39D-431AAE3BF564}" srcOrd="0" destOrd="0" presId="urn:microsoft.com/office/officeart/2008/layout/LinedList"/>
    <dgm:cxn modelId="{CF5C044C-7B21-4CC3-808F-434C35D68787}" type="presParOf" srcId="{D2C29051-54AA-420E-A916-36D3AB25B95F}" destId="{8ED8B646-154F-4F3B-98FD-FAB449A853F9}" srcOrd="1" destOrd="0" presId="urn:microsoft.com/office/officeart/2008/layout/LinedList"/>
    <dgm:cxn modelId="{81B40390-D163-4793-BEDE-DBD8288AD2A1}" type="presParOf" srcId="{989A97F3-973E-44F7-A9E6-B85F575277CB}" destId="{0F1C7FCC-4556-4035-B4FF-0AEB18705125}" srcOrd="2" destOrd="0" presId="urn:microsoft.com/office/officeart/2008/layout/LinedList"/>
    <dgm:cxn modelId="{C46D2485-68D9-40C4-AA24-F06C562A7884}" type="presParOf" srcId="{989A97F3-973E-44F7-A9E6-B85F575277CB}" destId="{BFBE51B5-A220-438E-A68A-26B9F87D83DB}" srcOrd="3" destOrd="0" presId="urn:microsoft.com/office/officeart/2008/layout/LinedList"/>
    <dgm:cxn modelId="{33D6B3AD-3C52-400A-A6D7-8627E8745BAA}" type="presParOf" srcId="{BFBE51B5-A220-438E-A68A-26B9F87D83DB}" destId="{5A1A017A-39E3-4687-8D52-B8A9DF9F2F4C}" srcOrd="0" destOrd="0" presId="urn:microsoft.com/office/officeart/2008/layout/LinedList"/>
    <dgm:cxn modelId="{AF8684F4-404D-43EF-8421-689D8C48501E}" type="presParOf" srcId="{BFBE51B5-A220-438E-A68A-26B9F87D83DB}" destId="{5F0BDFC4-2D90-47E3-820B-2B446D6B4AFC}" srcOrd="1" destOrd="0" presId="urn:microsoft.com/office/officeart/2008/layout/LinedList"/>
    <dgm:cxn modelId="{2D24ADD7-A066-4A14-B9FE-9A5927C074D3}" type="presParOf" srcId="{989A97F3-973E-44F7-A9E6-B85F575277CB}" destId="{3D90FFFF-396F-4C7B-85E9-66E47C503716}" srcOrd="4" destOrd="0" presId="urn:microsoft.com/office/officeart/2008/layout/LinedList"/>
    <dgm:cxn modelId="{4D2250F1-7D82-4337-B5EA-D09EB86461C6}" type="presParOf" srcId="{989A97F3-973E-44F7-A9E6-B85F575277CB}" destId="{936C1520-4B6F-4822-A3B1-78F65DA178F8}" srcOrd="5" destOrd="0" presId="urn:microsoft.com/office/officeart/2008/layout/LinedList"/>
    <dgm:cxn modelId="{E1375E26-D2E2-4B33-886A-DAC322C1EACF}" type="presParOf" srcId="{936C1520-4B6F-4822-A3B1-78F65DA178F8}" destId="{ED21AC63-A221-42E5-8959-3877F67057D6}" srcOrd="0" destOrd="0" presId="urn:microsoft.com/office/officeart/2008/layout/LinedList"/>
    <dgm:cxn modelId="{D59F849A-B35E-45E0-B9DC-1D9B46272314}" type="presParOf" srcId="{936C1520-4B6F-4822-A3B1-78F65DA178F8}" destId="{6F589340-88A6-4FA5-B7FE-112FC8F2C3D9}" srcOrd="1" destOrd="0" presId="urn:microsoft.com/office/officeart/2008/layout/LinedList"/>
    <dgm:cxn modelId="{C5C4382C-88C6-430E-84B8-0DFA97140EC2}" type="presParOf" srcId="{989A97F3-973E-44F7-A9E6-B85F575277CB}" destId="{7CFE9407-3A4C-4AD6-9D3B-5C464D372CF0}" srcOrd="6" destOrd="0" presId="urn:microsoft.com/office/officeart/2008/layout/LinedList"/>
    <dgm:cxn modelId="{5D64EF37-030D-49CE-8622-DF02DF751B6F}" type="presParOf" srcId="{989A97F3-973E-44F7-A9E6-B85F575277CB}" destId="{68413C1E-C3CF-4EA8-8E00-DB6E02C402AF}" srcOrd="7" destOrd="0" presId="urn:microsoft.com/office/officeart/2008/layout/LinedList"/>
    <dgm:cxn modelId="{5E86A5C3-04E1-4079-8CDE-A12033E3CB72}" type="presParOf" srcId="{68413C1E-C3CF-4EA8-8E00-DB6E02C402AF}" destId="{FED6100B-33FA-458B-9003-A3757A7042D1}" srcOrd="0" destOrd="0" presId="urn:microsoft.com/office/officeart/2008/layout/LinedList"/>
    <dgm:cxn modelId="{40F2BAF4-98AE-41DD-A110-F7EF8C1EC585}" type="presParOf" srcId="{68413C1E-C3CF-4EA8-8E00-DB6E02C402AF}" destId="{45DD6B9A-87F7-45FE-8924-8BBD5733A12F}" srcOrd="1" destOrd="0" presId="urn:microsoft.com/office/officeart/2008/layout/LinedList"/>
    <dgm:cxn modelId="{47BAA897-AE53-45F9-9260-0BD13413C06D}" type="presParOf" srcId="{45DD6B9A-87F7-45FE-8924-8BBD5733A12F}" destId="{122E57BD-2AE8-45A0-A63B-C11D10D76443}" srcOrd="0" destOrd="0" presId="urn:microsoft.com/office/officeart/2008/layout/LinedList"/>
    <dgm:cxn modelId="{4696DAA3-82AC-4F32-BC11-868E9F59A400}" type="presParOf" srcId="{45DD6B9A-87F7-45FE-8924-8BBD5733A12F}" destId="{CD8E8577-0DC9-4955-9CA3-DA8A45368E7C}" srcOrd="1" destOrd="0" presId="urn:microsoft.com/office/officeart/2008/layout/LinedList"/>
    <dgm:cxn modelId="{1371815F-1AF2-4A45-A737-2285D439FF83}" type="presParOf" srcId="{CD8E8577-0DC9-4955-9CA3-DA8A45368E7C}" destId="{CA5A599D-9E05-4894-97FA-3E147FD6766C}" srcOrd="0" destOrd="0" presId="urn:microsoft.com/office/officeart/2008/layout/LinedList"/>
    <dgm:cxn modelId="{AA0D0F42-367A-41C5-B41D-1B1B8EE6E1D7}" type="presParOf" srcId="{CD8E8577-0DC9-4955-9CA3-DA8A45368E7C}" destId="{488B4B6A-404F-4F5E-9C8F-82D566D067CB}" srcOrd="1" destOrd="0" presId="urn:microsoft.com/office/officeart/2008/layout/LinedList"/>
    <dgm:cxn modelId="{27843B86-3890-4386-B7BC-DD91E5CE7EA6}" type="presParOf" srcId="{CD8E8577-0DC9-4955-9CA3-DA8A45368E7C}" destId="{1BFA7E82-5E6A-4A61-9A85-069C5D182534}" srcOrd="2" destOrd="0" presId="urn:microsoft.com/office/officeart/2008/layout/LinedList"/>
    <dgm:cxn modelId="{368817A4-F1AE-4279-A418-9B1543FCE473}" type="presParOf" srcId="{45DD6B9A-87F7-45FE-8924-8BBD5733A12F}" destId="{8B156A16-510C-4408-8C5D-9D00A4FAEAFE}" srcOrd="2" destOrd="0" presId="urn:microsoft.com/office/officeart/2008/layout/LinedList"/>
    <dgm:cxn modelId="{5602CA4B-0318-4000-B02C-4ABFBD7D295B}" type="presParOf" srcId="{45DD6B9A-87F7-45FE-8924-8BBD5733A12F}" destId="{30A109B6-1279-49D1-8805-97371E108FE8}" srcOrd="3" destOrd="0" presId="urn:microsoft.com/office/officeart/2008/layout/LinedList"/>
    <dgm:cxn modelId="{FC032ECC-0FD0-45C2-833D-E322107FD1AE}" type="presParOf" srcId="{45DD6B9A-87F7-45FE-8924-8BBD5733A12F}" destId="{DB8C3FAF-FF9E-4D09-91F3-234F4815D39F}" srcOrd="4" destOrd="0" presId="urn:microsoft.com/office/officeart/2008/layout/LinedList"/>
    <dgm:cxn modelId="{20742B6F-1A4D-4D9E-B33A-868EE0FDB4AA}" type="presParOf" srcId="{DB8C3FAF-FF9E-4D09-91F3-234F4815D39F}" destId="{172DF485-C8A5-4EA8-A49A-11CC4E6F1ACD}" srcOrd="0" destOrd="0" presId="urn:microsoft.com/office/officeart/2008/layout/LinedList"/>
    <dgm:cxn modelId="{6AAD7AF2-52AE-445E-A38F-B0EF07EDE1E0}" type="presParOf" srcId="{DB8C3FAF-FF9E-4D09-91F3-234F4815D39F}" destId="{5918AE54-D910-43DC-9F94-C16BA9096F1E}" srcOrd="1" destOrd="0" presId="urn:microsoft.com/office/officeart/2008/layout/LinedList"/>
    <dgm:cxn modelId="{DF569C15-4A96-4610-9240-EB3A7081B193}" type="presParOf" srcId="{DB8C3FAF-FF9E-4D09-91F3-234F4815D39F}" destId="{491336CD-BDE8-441C-9398-B52569CD60BE}" srcOrd="2" destOrd="0" presId="urn:microsoft.com/office/officeart/2008/layout/LinedList"/>
    <dgm:cxn modelId="{142886F4-20F2-4AB5-A9D7-86ED6270F360}" type="presParOf" srcId="{45DD6B9A-87F7-45FE-8924-8BBD5733A12F}" destId="{D2717F13-8408-4728-B3B3-CF0633D218CE}" srcOrd="5" destOrd="0" presId="urn:microsoft.com/office/officeart/2008/layout/LinedList"/>
    <dgm:cxn modelId="{97A21BF9-F025-4F54-AAE0-94D175DDF7EC}" type="presParOf" srcId="{45DD6B9A-87F7-45FE-8924-8BBD5733A12F}" destId="{E7BA2E61-2745-4B1F-8154-79754490C845}" srcOrd="6" destOrd="0" presId="urn:microsoft.com/office/officeart/2008/layout/LinedList"/>
    <dgm:cxn modelId="{6903AA2B-F069-4EBE-A089-86D069A3ACC4}" type="presParOf" srcId="{989A97F3-973E-44F7-A9E6-B85F575277CB}" destId="{867F3D23-F189-4E8F-A0B2-06DD4E95A281}" srcOrd="8" destOrd="0" presId="urn:microsoft.com/office/officeart/2008/layout/LinedList"/>
    <dgm:cxn modelId="{E5F6F0FB-D9A1-4280-81CD-1B600382BE03}" type="presParOf" srcId="{989A97F3-973E-44F7-A9E6-B85F575277CB}" destId="{2DE531DB-9749-4814-AA87-FC170682BC99}" srcOrd="9" destOrd="0" presId="urn:microsoft.com/office/officeart/2008/layout/LinedList"/>
    <dgm:cxn modelId="{46F49366-B168-4F9A-95BE-AE4590723F5C}" type="presParOf" srcId="{2DE531DB-9749-4814-AA87-FC170682BC99}" destId="{5B22B4DA-BA4B-45D8-97C4-DB99566B3D19}" srcOrd="0" destOrd="0" presId="urn:microsoft.com/office/officeart/2008/layout/LinedList"/>
    <dgm:cxn modelId="{B8131897-F0CB-4C55-9BC8-980C9020C7F0}" type="presParOf" srcId="{2DE531DB-9749-4814-AA87-FC170682BC99}" destId="{94C6907A-D5B5-4CD4-B623-86EA415376D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28972E1-4B26-461A-A8FF-4943864D95CC}" type="doc">
      <dgm:prSet loTypeId="urn:microsoft.com/office/officeart/2005/8/layout/hierarchy1" loCatId="hierarchy" qsTypeId="urn:microsoft.com/office/officeart/2005/8/quickstyle/simple2" qsCatId="simple" csTypeId="urn:microsoft.com/office/officeart/2005/8/colors/accent5_2" csCatId="accent5"/>
      <dgm:spPr/>
      <dgm:t>
        <a:bodyPr/>
        <a:lstStyle/>
        <a:p>
          <a:endParaRPr lang="en-US"/>
        </a:p>
      </dgm:t>
    </dgm:pt>
    <dgm:pt modelId="{322DCBB2-9503-4C1B-9078-31E55936C6D9}">
      <dgm:prSet/>
      <dgm:spPr/>
      <dgm:t>
        <a:bodyPr/>
        <a:lstStyle/>
        <a:p>
          <a:r>
            <a:rPr lang="en-US" b="0" i="0" baseline="0"/>
            <a:t>Features used: </a:t>
          </a:r>
          <a:r>
            <a:rPr lang="en-US" b="1" i="0" baseline="0"/>
            <a:t>bp</a:t>
          </a:r>
          <a:r>
            <a:rPr lang="en-US" b="0" i="0" baseline="0"/>
            <a:t>, </a:t>
          </a:r>
          <a:r>
            <a:rPr lang="en-US" b="1" i="0" baseline="0"/>
            <a:t>sc</a:t>
          </a:r>
          <a:r>
            <a:rPr lang="en-US" b="0" i="0" baseline="0"/>
            <a:t>, and </a:t>
          </a:r>
          <a:r>
            <a:rPr lang="en-US" b="1" i="0" baseline="0"/>
            <a:t>age</a:t>
          </a:r>
          <a:endParaRPr lang="en-US"/>
        </a:p>
      </dgm:t>
    </dgm:pt>
    <dgm:pt modelId="{110B55CC-9528-488D-ACB1-1C3CADA23836}" type="parTrans" cxnId="{1EA6D11D-0442-4748-A90F-2266023BAFDF}">
      <dgm:prSet/>
      <dgm:spPr/>
      <dgm:t>
        <a:bodyPr/>
        <a:lstStyle/>
        <a:p>
          <a:endParaRPr lang="en-US"/>
        </a:p>
      </dgm:t>
    </dgm:pt>
    <dgm:pt modelId="{5116CFE1-7D5E-4A39-BADA-9B2146CDED44}" type="sibTrans" cxnId="{1EA6D11D-0442-4748-A90F-2266023BAFDF}">
      <dgm:prSet/>
      <dgm:spPr/>
      <dgm:t>
        <a:bodyPr/>
        <a:lstStyle/>
        <a:p>
          <a:endParaRPr lang="en-US"/>
        </a:p>
      </dgm:t>
    </dgm:pt>
    <dgm:pt modelId="{3BAB7FDD-1617-4B8B-8814-2311F553B1B3}">
      <dgm:prSet/>
      <dgm:spPr/>
      <dgm:t>
        <a:bodyPr/>
        <a:lstStyle/>
        <a:p>
          <a:r>
            <a:rPr lang="en-US" b="0" i="0" baseline="0"/>
            <a:t>Target column: </a:t>
          </a:r>
          <a:r>
            <a:rPr lang="en-US" b="1" i="0" baseline="0"/>
            <a:t>classification (CKD vs Non-CKD)</a:t>
          </a:r>
          <a:endParaRPr lang="en-US"/>
        </a:p>
      </dgm:t>
    </dgm:pt>
    <dgm:pt modelId="{0C788005-D8E0-4CAB-AC24-9076D6AB24D8}" type="parTrans" cxnId="{4CC9E230-7AB3-4A92-85C6-AFFFBE1226E4}">
      <dgm:prSet/>
      <dgm:spPr/>
      <dgm:t>
        <a:bodyPr/>
        <a:lstStyle/>
        <a:p>
          <a:endParaRPr lang="en-US"/>
        </a:p>
      </dgm:t>
    </dgm:pt>
    <dgm:pt modelId="{3D89AC9D-9707-4A3F-B3BE-4BAB015AF7B4}" type="sibTrans" cxnId="{4CC9E230-7AB3-4A92-85C6-AFFFBE1226E4}">
      <dgm:prSet/>
      <dgm:spPr/>
      <dgm:t>
        <a:bodyPr/>
        <a:lstStyle/>
        <a:p>
          <a:endParaRPr lang="en-US"/>
        </a:p>
      </dgm:t>
    </dgm:pt>
    <dgm:pt modelId="{B5BFC3C4-E7F0-4DAA-96BF-FCB39D9F4046}" type="pres">
      <dgm:prSet presAssocID="{F28972E1-4B26-461A-A8FF-4943864D95CC}" presName="hierChild1" presStyleCnt="0">
        <dgm:presLayoutVars>
          <dgm:chPref val="1"/>
          <dgm:dir/>
          <dgm:animOne val="branch"/>
          <dgm:animLvl val="lvl"/>
          <dgm:resizeHandles/>
        </dgm:presLayoutVars>
      </dgm:prSet>
      <dgm:spPr/>
    </dgm:pt>
    <dgm:pt modelId="{7F5FD747-6F00-41AA-8F40-F39760B2A38A}" type="pres">
      <dgm:prSet presAssocID="{322DCBB2-9503-4C1B-9078-31E55936C6D9}" presName="hierRoot1" presStyleCnt="0"/>
      <dgm:spPr/>
    </dgm:pt>
    <dgm:pt modelId="{1834C070-A07B-4264-8B7C-63690CBCCAD9}" type="pres">
      <dgm:prSet presAssocID="{322DCBB2-9503-4C1B-9078-31E55936C6D9}" presName="composite" presStyleCnt="0"/>
      <dgm:spPr/>
    </dgm:pt>
    <dgm:pt modelId="{6A1B55F1-ECED-4249-B0B4-C43BE894EE42}" type="pres">
      <dgm:prSet presAssocID="{322DCBB2-9503-4C1B-9078-31E55936C6D9}" presName="background" presStyleLbl="node0" presStyleIdx="0" presStyleCnt="2"/>
      <dgm:spPr/>
    </dgm:pt>
    <dgm:pt modelId="{B5903AF7-519B-4987-B228-E6BED276F9CE}" type="pres">
      <dgm:prSet presAssocID="{322DCBB2-9503-4C1B-9078-31E55936C6D9}" presName="text" presStyleLbl="fgAcc0" presStyleIdx="0" presStyleCnt="2">
        <dgm:presLayoutVars>
          <dgm:chPref val="3"/>
        </dgm:presLayoutVars>
      </dgm:prSet>
      <dgm:spPr/>
    </dgm:pt>
    <dgm:pt modelId="{612C940B-3983-4397-9C2E-9A85877336A4}" type="pres">
      <dgm:prSet presAssocID="{322DCBB2-9503-4C1B-9078-31E55936C6D9}" presName="hierChild2" presStyleCnt="0"/>
      <dgm:spPr/>
    </dgm:pt>
    <dgm:pt modelId="{4C9072C0-044B-405C-9737-D313A63CD683}" type="pres">
      <dgm:prSet presAssocID="{3BAB7FDD-1617-4B8B-8814-2311F553B1B3}" presName="hierRoot1" presStyleCnt="0"/>
      <dgm:spPr/>
    </dgm:pt>
    <dgm:pt modelId="{2124421E-369B-426B-B377-BB07C035D302}" type="pres">
      <dgm:prSet presAssocID="{3BAB7FDD-1617-4B8B-8814-2311F553B1B3}" presName="composite" presStyleCnt="0"/>
      <dgm:spPr/>
    </dgm:pt>
    <dgm:pt modelId="{ED3F4D70-6117-4A80-B362-D8B849BA325C}" type="pres">
      <dgm:prSet presAssocID="{3BAB7FDD-1617-4B8B-8814-2311F553B1B3}" presName="background" presStyleLbl="node0" presStyleIdx="1" presStyleCnt="2"/>
      <dgm:spPr/>
    </dgm:pt>
    <dgm:pt modelId="{1699D43E-4FB3-4D8B-9A34-3C774AAEBE1C}" type="pres">
      <dgm:prSet presAssocID="{3BAB7FDD-1617-4B8B-8814-2311F553B1B3}" presName="text" presStyleLbl="fgAcc0" presStyleIdx="1" presStyleCnt="2">
        <dgm:presLayoutVars>
          <dgm:chPref val="3"/>
        </dgm:presLayoutVars>
      </dgm:prSet>
      <dgm:spPr/>
    </dgm:pt>
    <dgm:pt modelId="{E166CF36-12A6-462E-9C26-8A09E054C452}" type="pres">
      <dgm:prSet presAssocID="{3BAB7FDD-1617-4B8B-8814-2311F553B1B3}" presName="hierChild2" presStyleCnt="0"/>
      <dgm:spPr/>
    </dgm:pt>
  </dgm:ptLst>
  <dgm:cxnLst>
    <dgm:cxn modelId="{5AC35517-5CEA-4321-8B92-74DEE77A08CC}" type="presOf" srcId="{3BAB7FDD-1617-4B8B-8814-2311F553B1B3}" destId="{1699D43E-4FB3-4D8B-9A34-3C774AAEBE1C}" srcOrd="0" destOrd="0" presId="urn:microsoft.com/office/officeart/2005/8/layout/hierarchy1"/>
    <dgm:cxn modelId="{1EA6D11D-0442-4748-A90F-2266023BAFDF}" srcId="{F28972E1-4B26-461A-A8FF-4943864D95CC}" destId="{322DCBB2-9503-4C1B-9078-31E55936C6D9}" srcOrd="0" destOrd="0" parTransId="{110B55CC-9528-488D-ACB1-1C3CADA23836}" sibTransId="{5116CFE1-7D5E-4A39-BADA-9B2146CDED44}"/>
    <dgm:cxn modelId="{4CC9E230-7AB3-4A92-85C6-AFFFBE1226E4}" srcId="{F28972E1-4B26-461A-A8FF-4943864D95CC}" destId="{3BAB7FDD-1617-4B8B-8814-2311F553B1B3}" srcOrd="1" destOrd="0" parTransId="{0C788005-D8E0-4CAB-AC24-9076D6AB24D8}" sibTransId="{3D89AC9D-9707-4A3F-B3BE-4BAB015AF7B4}"/>
    <dgm:cxn modelId="{8ED5BB33-51FD-46FD-A63A-1A3535BF9C44}" type="presOf" srcId="{F28972E1-4B26-461A-A8FF-4943864D95CC}" destId="{B5BFC3C4-E7F0-4DAA-96BF-FCB39D9F4046}" srcOrd="0" destOrd="0" presId="urn:microsoft.com/office/officeart/2005/8/layout/hierarchy1"/>
    <dgm:cxn modelId="{9AC7CFC9-F801-42A3-927B-8606B0C6B73F}" type="presOf" srcId="{322DCBB2-9503-4C1B-9078-31E55936C6D9}" destId="{B5903AF7-519B-4987-B228-E6BED276F9CE}" srcOrd="0" destOrd="0" presId="urn:microsoft.com/office/officeart/2005/8/layout/hierarchy1"/>
    <dgm:cxn modelId="{458143C3-47D8-4254-934C-EB5924A6458D}" type="presParOf" srcId="{B5BFC3C4-E7F0-4DAA-96BF-FCB39D9F4046}" destId="{7F5FD747-6F00-41AA-8F40-F39760B2A38A}" srcOrd="0" destOrd="0" presId="urn:microsoft.com/office/officeart/2005/8/layout/hierarchy1"/>
    <dgm:cxn modelId="{BD6A21AF-C0EB-4167-ADEF-19F7BBD16E73}" type="presParOf" srcId="{7F5FD747-6F00-41AA-8F40-F39760B2A38A}" destId="{1834C070-A07B-4264-8B7C-63690CBCCAD9}" srcOrd="0" destOrd="0" presId="urn:microsoft.com/office/officeart/2005/8/layout/hierarchy1"/>
    <dgm:cxn modelId="{F5AED127-F35D-44EC-BA1C-4C954967B4EC}" type="presParOf" srcId="{1834C070-A07B-4264-8B7C-63690CBCCAD9}" destId="{6A1B55F1-ECED-4249-B0B4-C43BE894EE42}" srcOrd="0" destOrd="0" presId="urn:microsoft.com/office/officeart/2005/8/layout/hierarchy1"/>
    <dgm:cxn modelId="{AFA098A3-DB41-4AA2-9BC0-F9C54E8AEF4C}" type="presParOf" srcId="{1834C070-A07B-4264-8B7C-63690CBCCAD9}" destId="{B5903AF7-519B-4987-B228-E6BED276F9CE}" srcOrd="1" destOrd="0" presId="urn:microsoft.com/office/officeart/2005/8/layout/hierarchy1"/>
    <dgm:cxn modelId="{2CBD0C6D-ECE8-48C9-AB50-FC896A56E81E}" type="presParOf" srcId="{7F5FD747-6F00-41AA-8F40-F39760B2A38A}" destId="{612C940B-3983-4397-9C2E-9A85877336A4}" srcOrd="1" destOrd="0" presId="urn:microsoft.com/office/officeart/2005/8/layout/hierarchy1"/>
    <dgm:cxn modelId="{1B6634EF-DAD4-40A8-9B45-84B81E9D2C93}" type="presParOf" srcId="{B5BFC3C4-E7F0-4DAA-96BF-FCB39D9F4046}" destId="{4C9072C0-044B-405C-9737-D313A63CD683}" srcOrd="1" destOrd="0" presId="urn:microsoft.com/office/officeart/2005/8/layout/hierarchy1"/>
    <dgm:cxn modelId="{2D51B1CF-B404-4153-B3AA-A29DFCC10456}" type="presParOf" srcId="{4C9072C0-044B-405C-9737-D313A63CD683}" destId="{2124421E-369B-426B-B377-BB07C035D302}" srcOrd="0" destOrd="0" presId="urn:microsoft.com/office/officeart/2005/8/layout/hierarchy1"/>
    <dgm:cxn modelId="{7399B01A-543A-4A7A-8A79-FC44F7A92E80}" type="presParOf" srcId="{2124421E-369B-426B-B377-BB07C035D302}" destId="{ED3F4D70-6117-4A80-B362-D8B849BA325C}" srcOrd="0" destOrd="0" presId="urn:microsoft.com/office/officeart/2005/8/layout/hierarchy1"/>
    <dgm:cxn modelId="{243469E2-CC58-461C-B062-3AC2830ABCE5}" type="presParOf" srcId="{2124421E-369B-426B-B377-BB07C035D302}" destId="{1699D43E-4FB3-4D8B-9A34-3C774AAEBE1C}" srcOrd="1" destOrd="0" presId="urn:microsoft.com/office/officeart/2005/8/layout/hierarchy1"/>
    <dgm:cxn modelId="{020F4DA8-F8FD-4AD7-BCC2-FD9EE86B0387}" type="presParOf" srcId="{4C9072C0-044B-405C-9737-D313A63CD683}" destId="{E166CF36-12A6-462E-9C26-8A09E054C452}"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A053193-5769-496E-B8E8-6C57680E42A1}" type="doc">
      <dgm:prSet loTypeId="urn:microsoft.com/office/officeart/2018/2/layout/IconCircleList" loCatId="icon" qsTypeId="urn:microsoft.com/office/officeart/2005/8/quickstyle/simple1" qsCatId="simple" csTypeId="urn:microsoft.com/office/officeart/2018/5/colors/Iconchunking_neutralbg_accent4_2" csCatId="accent4" phldr="1"/>
      <dgm:spPr/>
      <dgm:t>
        <a:bodyPr/>
        <a:lstStyle/>
        <a:p>
          <a:endParaRPr lang="en-US"/>
        </a:p>
      </dgm:t>
    </dgm:pt>
    <dgm:pt modelId="{C1767C99-2F1D-4C3A-9E58-18AE4DC8F12B}">
      <dgm:prSet custT="1"/>
      <dgm:spPr/>
      <dgm:t>
        <a:bodyPr/>
        <a:lstStyle/>
        <a:p>
          <a:pPr>
            <a:lnSpc>
              <a:spcPct val="100000"/>
            </a:lnSpc>
          </a:pPr>
          <a:r>
            <a:rPr lang="en-US" sz="1600" b="1" dirty="0">
              <a:latin typeface="Times New Roman" panose="02020603050405020304" pitchFamily="18" charset="0"/>
              <a:cs typeface="Times New Roman" panose="02020603050405020304" pitchFamily="18" charset="0"/>
            </a:rPr>
            <a:t>Accuracy Interpretation: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Random Forest model achieved an </a:t>
          </a:r>
          <a:r>
            <a:rPr lang="en-US" sz="1600" b="1" dirty="0">
              <a:latin typeface="Times New Roman" panose="02020603050405020304" pitchFamily="18" charset="0"/>
              <a:cs typeface="Times New Roman" panose="02020603050405020304" pitchFamily="18" charset="0"/>
            </a:rPr>
            <a:t>accuracy of 96.2%</a:t>
          </a:r>
          <a:r>
            <a:rPr lang="en-US" sz="1600" dirty="0">
              <a:latin typeface="Times New Roman" panose="02020603050405020304" pitchFamily="18" charset="0"/>
              <a:cs typeface="Times New Roman" panose="02020603050405020304" pitchFamily="18" charset="0"/>
            </a:rPr>
            <a:t>, showing excellent predictive capability in identifying CKD and non-CKD patients. This high score indicates the model generalizes well and effectively captures the key relationships between clinical variables and kidney disease outcomes.</a:t>
          </a:r>
        </a:p>
      </dgm:t>
    </dgm:pt>
    <dgm:pt modelId="{69FCFD76-D942-4E79-897D-60F1BDB2AC86}" type="parTrans" cxnId="{1C83911E-4402-425A-9B7D-3EA3785BFE1E}">
      <dgm:prSet/>
      <dgm:spPr/>
      <dgm:t>
        <a:bodyPr/>
        <a:lstStyle/>
        <a:p>
          <a:endParaRPr lang="en-US"/>
        </a:p>
      </dgm:t>
    </dgm:pt>
    <dgm:pt modelId="{809A1257-C9F8-4C81-860E-37CD9EF03F78}" type="sibTrans" cxnId="{1C83911E-4402-425A-9B7D-3EA3785BFE1E}">
      <dgm:prSet/>
      <dgm:spPr/>
      <dgm:t>
        <a:bodyPr/>
        <a:lstStyle/>
        <a:p>
          <a:pPr>
            <a:lnSpc>
              <a:spcPct val="100000"/>
            </a:lnSpc>
          </a:pPr>
          <a:endParaRPr lang="en-US"/>
        </a:p>
      </dgm:t>
    </dgm:pt>
    <dgm:pt modelId="{64C0DD92-F0F8-43E5-9B06-008B54197F8B}">
      <dgm:prSet custT="1"/>
      <dgm:spPr/>
      <dgm:t>
        <a:bodyPr/>
        <a:lstStyle/>
        <a:p>
          <a:pPr>
            <a:lnSpc>
              <a:spcPct val="100000"/>
            </a:lnSpc>
          </a:pPr>
          <a:r>
            <a:rPr lang="en-US" sz="1600" b="1" dirty="0">
              <a:latin typeface="Times New Roman" panose="02020603050405020304" pitchFamily="18" charset="0"/>
              <a:cs typeface="Times New Roman" panose="02020603050405020304" pitchFamily="18" charset="0"/>
            </a:rPr>
            <a:t>Feature Importance Interpretation: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As shown in the feature importance plot, </a:t>
          </a:r>
          <a:r>
            <a:rPr lang="en-US" sz="1600" b="1" dirty="0">
              <a:latin typeface="Times New Roman" panose="02020603050405020304" pitchFamily="18" charset="0"/>
              <a:cs typeface="Times New Roman" panose="02020603050405020304" pitchFamily="18" charset="0"/>
            </a:rPr>
            <a:t>Serum Creatinine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 has the highest contribution (~0.62), confirming its clinical significance since elevated creatinine levels reflect reduced kidney function. </a:t>
          </a:r>
          <a:r>
            <a:rPr lang="en-US" sz="1600" b="1" dirty="0">
              <a:latin typeface="Times New Roman" panose="02020603050405020304" pitchFamily="18" charset="0"/>
              <a:cs typeface="Times New Roman" panose="02020603050405020304" pitchFamily="18" charset="0"/>
            </a:rPr>
            <a:t>Age</a:t>
          </a:r>
          <a:r>
            <a:rPr lang="en-US" sz="1600" dirty="0">
              <a:latin typeface="Times New Roman" panose="02020603050405020304" pitchFamily="18" charset="0"/>
              <a:cs typeface="Times New Roman" panose="02020603050405020304" pitchFamily="18" charset="0"/>
            </a:rPr>
            <a:t> has moderate influence (~0.26), while </a:t>
          </a:r>
          <a:r>
            <a:rPr lang="en-US" sz="1600" b="1" dirty="0">
              <a:latin typeface="Times New Roman" panose="02020603050405020304" pitchFamily="18" charset="0"/>
              <a:cs typeface="Times New Roman" panose="02020603050405020304" pitchFamily="18" charset="0"/>
            </a:rPr>
            <a:t>Blood Pressure (bp)</a:t>
          </a:r>
          <a:r>
            <a:rPr lang="en-US" sz="1600" dirty="0">
              <a:latin typeface="Times New Roman" panose="02020603050405020304" pitchFamily="18" charset="0"/>
              <a:cs typeface="Times New Roman" panose="02020603050405020304" pitchFamily="18" charset="0"/>
            </a:rPr>
            <a:t> contributes least (~0.12). These results emphasize that </a:t>
          </a:r>
          <a:r>
            <a:rPr lang="en-US" sz="1600" b="1" dirty="0" err="1">
              <a:latin typeface="Times New Roman" panose="02020603050405020304" pitchFamily="18" charset="0"/>
              <a:cs typeface="Times New Roman" panose="02020603050405020304" pitchFamily="18" charset="0"/>
            </a:rPr>
            <a:t>sc</a:t>
          </a:r>
          <a:r>
            <a:rPr lang="en-US" sz="1600" b="1" dirty="0">
              <a:latin typeface="Times New Roman" panose="02020603050405020304" pitchFamily="18" charset="0"/>
              <a:cs typeface="Times New Roman" panose="02020603050405020304" pitchFamily="18" charset="0"/>
            </a:rPr>
            <a:t> is the strongest predictor of CKD</a:t>
          </a:r>
          <a:r>
            <a:rPr lang="en-US" sz="1600" dirty="0">
              <a:latin typeface="Times New Roman" panose="02020603050405020304" pitchFamily="18" charset="0"/>
              <a:cs typeface="Times New Roman" panose="02020603050405020304" pitchFamily="18" charset="0"/>
            </a:rPr>
            <a:t> among the chosen features.</a:t>
          </a:r>
        </a:p>
      </dgm:t>
    </dgm:pt>
    <dgm:pt modelId="{070723B0-F9B0-43B6-B55A-EB77FF7981E9}" type="parTrans" cxnId="{FC1D695A-2627-4CDD-8B66-5B26E6CB483F}">
      <dgm:prSet/>
      <dgm:spPr/>
      <dgm:t>
        <a:bodyPr/>
        <a:lstStyle/>
        <a:p>
          <a:endParaRPr lang="en-US"/>
        </a:p>
      </dgm:t>
    </dgm:pt>
    <dgm:pt modelId="{21DC6E20-7A8D-4A2C-B903-FD64DCFF9B27}" type="sibTrans" cxnId="{FC1D695A-2627-4CDD-8B66-5B26E6CB483F}">
      <dgm:prSet/>
      <dgm:spPr/>
      <dgm:t>
        <a:bodyPr/>
        <a:lstStyle/>
        <a:p>
          <a:pPr>
            <a:lnSpc>
              <a:spcPct val="100000"/>
            </a:lnSpc>
          </a:pPr>
          <a:endParaRPr lang="en-US"/>
        </a:p>
      </dgm:t>
    </dgm:pt>
    <dgm:pt modelId="{188D58BD-8A06-4433-8788-321E2ECCE720}">
      <dgm:prSet custT="1"/>
      <dgm:spPr/>
      <dgm:t>
        <a:bodyPr/>
        <a:lstStyle/>
        <a:p>
          <a:pPr>
            <a:lnSpc>
              <a:spcPct val="100000"/>
            </a:lnSpc>
          </a:pPr>
          <a:r>
            <a:rPr lang="en-US" sz="1600" dirty="0">
              <a:latin typeface="Times New Roman" panose="02020603050405020304" pitchFamily="18" charset="0"/>
              <a:cs typeface="Times New Roman" panose="02020603050405020304" pitchFamily="18" charset="0"/>
            </a:rPr>
            <a:t>The Random Forest model trained with bp, </a:t>
          </a:r>
          <a:r>
            <a:rPr lang="en-US" sz="1600" dirty="0" err="1">
              <a:latin typeface="Times New Roman" panose="02020603050405020304" pitchFamily="18" charset="0"/>
              <a:cs typeface="Times New Roman" panose="02020603050405020304" pitchFamily="18" charset="0"/>
            </a:rPr>
            <a:t>sc</a:t>
          </a:r>
          <a:r>
            <a:rPr lang="en-US" sz="1600" dirty="0">
              <a:latin typeface="Times New Roman" panose="02020603050405020304" pitchFamily="18" charset="0"/>
              <a:cs typeface="Times New Roman" panose="02020603050405020304" pitchFamily="18" charset="0"/>
            </a:rPr>
            <a:t>, and age demonstrates </a:t>
          </a:r>
          <a:r>
            <a:rPr lang="en-US" sz="1600" b="1" dirty="0">
              <a:latin typeface="Times New Roman" panose="02020603050405020304" pitchFamily="18" charset="0"/>
              <a:cs typeface="Times New Roman" panose="02020603050405020304" pitchFamily="18" charset="0"/>
            </a:rPr>
            <a:t>strong predictive accuracy (96.2%)</a:t>
          </a:r>
          <a:r>
            <a:rPr lang="en-US" sz="1600" dirty="0">
              <a:latin typeface="Times New Roman" panose="02020603050405020304" pitchFamily="18" charset="0"/>
              <a:cs typeface="Times New Roman" panose="02020603050405020304" pitchFamily="18" charset="0"/>
            </a:rPr>
            <a:t>, with </a:t>
          </a:r>
          <a:r>
            <a:rPr lang="en-US" sz="1600" b="1" dirty="0">
              <a:latin typeface="Times New Roman" panose="02020603050405020304" pitchFamily="18" charset="0"/>
              <a:cs typeface="Times New Roman" panose="02020603050405020304" pitchFamily="18" charset="0"/>
            </a:rPr>
            <a:t>serum creatinine</a:t>
          </a:r>
          <a:r>
            <a:rPr lang="en-US" sz="1600" dirty="0">
              <a:latin typeface="Times New Roman" panose="02020603050405020304" pitchFamily="18" charset="0"/>
              <a:cs typeface="Times New Roman" panose="02020603050405020304" pitchFamily="18" charset="0"/>
            </a:rPr>
            <a:t> emerging as the most critical indicator of chronic kidney disease. This makes it highly reliable and clinically interpretable model for CKD prediction</a:t>
          </a:r>
        </a:p>
      </dgm:t>
    </dgm:pt>
    <dgm:pt modelId="{6090A440-F065-4A27-AFEF-BE6188D20A2F}" type="parTrans" cxnId="{8C069102-7DD5-43CA-9703-B6FA57989852}">
      <dgm:prSet/>
      <dgm:spPr/>
      <dgm:t>
        <a:bodyPr/>
        <a:lstStyle/>
        <a:p>
          <a:endParaRPr lang="en-US"/>
        </a:p>
      </dgm:t>
    </dgm:pt>
    <dgm:pt modelId="{95B0DA32-A48B-4F0B-8302-A48DB7876B29}" type="sibTrans" cxnId="{8C069102-7DD5-43CA-9703-B6FA57989852}">
      <dgm:prSet/>
      <dgm:spPr/>
      <dgm:t>
        <a:bodyPr/>
        <a:lstStyle/>
        <a:p>
          <a:endParaRPr lang="en-US"/>
        </a:p>
      </dgm:t>
    </dgm:pt>
    <dgm:pt modelId="{3AA4A733-3991-46D5-9DCA-A7427779F2B1}">
      <dgm:prSet custT="1"/>
      <dgm:spPr/>
      <dgm:t>
        <a:bodyPr/>
        <a:lstStyle/>
        <a:p>
          <a:pPr>
            <a:lnSpc>
              <a:spcPct val="100000"/>
            </a:lnSpc>
          </a:pPr>
          <a:r>
            <a:rPr lang="en-US" sz="1600" b="1" dirty="0">
              <a:latin typeface="Times New Roman" panose="02020603050405020304" pitchFamily="18" charset="0"/>
              <a:cs typeface="Times New Roman" panose="02020603050405020304" pitchFamily="18" charset="0"/>
            </a:rPr>
            <a:t>Model Explanation: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Random Forest reduces overfitting by aggregating results from multiple decision trees, improving both </a:t>
          </a:r>
          <a:r>
            <a:rPr lang="en-US" sz="1600" b="1" dirty="0">
              <a:latin typeface="Times New Roman" panose="02020603050405020304" pitchFamily="18" charset="0"/>
              <a:cs typeface="Times New Roman" panose="02020603050405020304" pitchFamily="18" charset="0"/>
            </a:rPr>
            <a:t>stability and precision</a:t>
          </a:r>
          <a:r>
            <a:rPr lang="en-US" sz="1600" dirty="0">
              <a:latin typeface="Times New Roman" panose="02020603050405020304" pitchFamily="18" charset="0"/>
              <a:cs typeface="Times New Roman" panose="02020603050405020304" pitchFamily="18" charset="0"/>
            </a:rPr>
            <a:t>. It performs particularly well in datasets where nonlinear patterns exist between predictors such as blood pressure, serum creatinine, and kidney disease status.</a:t>
          </a:r>
        </a:p>
      </dgm:t>
    </dgm:pt>
    <dgm:pt modelId="{99CEE183-5D17-473E-8E33-38F0E8A194A7}" type="sibTrans" cxnId="{2AAC8F9C-0B4B-461A-A069-656DC58385BE}">
      <dgm:prSet/>
      <dgm:spPr/>
      <dgm:t>
        <a:bodyPr/>
        <a:lstStyle/>
        <a:p>
          <a:pPr>
            <a:lnSpc>
              <a:spcPct val="100000"/>
            </a:lnSpc>
          </a:pPr>
          <a:endParaRPr lang="en-US"/>
        </a:p>
      </dgm:t>
    </dgm:pt>
    <dgm:pt modelId="{2C962C02-3360-4D85-94F2-15BD97563114}" type="parTrans" cxnId="{2AAC8F9C-0B4B-461A-A069-656DC58385BE}">
      <dgm:prSet/>
      <dgm:spPr/>
      <dgm:t>
        <a:bodyPr/>
        <a:lstStyle/>
        <a:p>
          <a:endParaRPr lang="en-US"/>
        </a:p>
      </dgm:t>
    </dgm:pt>
    <dgm:pt modelId="{93B059E9-0397-4CC6-A88A-6C5DEB294276}" type="pres">
      <dgm:prSet presAssocID="{6A053193-5769-496E-B8E8-6C57680E42A1}" presName="root" presStyleCnt="0">
        <dgm:presLayoutVars>
          <dgm:dir/>
          <dgm:resizeHandles val="exact"/>
        </dgm:presLayoutVars>
      </dgm:prSet>
      <dgm:spPr/>
    </dgm:pt>
    <dgm:pt modelId="{18C3EB6B-A4C8-42A4-9748-2500320C4860}" type="pres">
      <dgm:prSet presAssocID="{6A053193-5769-496E-B8E8-6C57680E42A1}" presName="container" presStyleCnt="0">
        <dgm:presLayoutVars>
          <dgm:dir/>
          <dgm:resizeHandles val="exact"/>
        </dgm:presLayoutVars>
      </dgm:prSet>
      <dgm:spPr/>
    </dgm:pt>
    <dgm:pt modelId="{E6E11C10-E62F-42BB-A9CC-214D547A7B7B}" type="pres">
      <dgm:prSet presAssocID="{C1767C99-2F1D-4C3A-9E58-18AE4DC8F12B}" presName="compNode" presStyleCnt="0"/>
      <dgm:spPr/>
    </dgm:pt>
    <dgm:pt modelId="{F747D95D-6223-4060-8D49-E9CC5A912957}" type="pres">
      <dgm:prSet presAssocID="{C1767C99-2F1D-4C3A-9E58-18AE4DC8F12B}" presName="iconBgRect" presStyleLbl="bgShp" presStyleIdx="0" presStyleCnt="4"/>
      <dgm:spPr/>
    </dgm:pt>
    <dgm:pt modelId="{B74D94BC-43A0-4A3B-9120-E472F3530AA3}" type="pres">
      <dgm:prSet presAssocID="{C1767C99-2F1D-4C3A-9E58-18AE4DC8F12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rget"/>
        </a:ext>
      </dgm:extLst>
    </dgm:pt>
    <dgm:pt modelId="{FE7CA85F-16CA-4EEB-9579-C16BDE2702E0}" type="pres">
      <dgm:prSet presAssocID="{C1767C99-2F1D-4C3A-9E58-18AE4DC8F12B}" presName="spaceRect" presStyleCnt="0"/>
      <dgm:spPr/>
    </dgm:pt>
    <dgm:pt modelId="{90234E5F-574A-4DBC-97C0-FC89AB5829D2}" type="pres">
      <dgm:prSet presAssocID="{C1767C99-2F1D-4C3A-9E58-18AE4DC8F12B}" presName="textRect" presStyleLbl="revTx" presStyleIdx="0" presStyleCnt="4" custScaleX="113164" custScaleY="116923">
        <dgm:presLayoutVars>
          <dgm:chMax val="1"/>
          <dgm:chPref val="1"/>
        </dgm:presLayoutVars>
      </dgm:prSet>
      <dgm:spPr/>
    </dgm:pt>
    <dgm:pt modelId="{4230434E-8075-4B28-A543-EC6F11381397}" type="pres">
      <dgm:prSet presAssocID="{809A1257-C9F8-4C81-860E-37CD9EF03F78}" presName="sibTrans" presStyleLbl="sibTrans2D1" presStyleIdx="0" presStyleCnt="0"/>
      <dgm:spPr/>
    </dgm:pt>
    <dgm:pt modelId="{C9D25D15-FB82-4FA1-AD3E-EA0D2022AA96}" type="pres">
      <dgm:prSet presAssocID="{3AA4A733-3991-46D5-9DCA-A7427779F2B1}" presName="compNode" presStyleCnt="0"/>
      <dgm:spPr/>
    </dgm:pt>
    <dgm:pt modelId="{7B805D3A-E5F8-4AC6-AE10-7F6C3F4D3439}" type="pres">
      <dgm:prSet presAssocID="{3AA4A733-3991-46D5-9DCA-A7427779F2B1}" presName="iconBgRect" presStyleLbl="bgShp" presStyleIdx="1" presStyleCnt="4" custLinFactNeighborX="-20558" custLinFactNeighborY="2262"/>
      <dgm:spPr/>
    </dgm:pt>
    <dgm:pt modelId="{B9040253-C39B-4972-926D-AB397A4BD126}" type="pres">
      <dgm:prSet presAssocID="{3AA4A733-3991-46D5-9DCA-A7427779F2B1}" presName="iconRect" presStyleLbl="node1" presStyleIdx="1" presStyleCnt="4" custLinFactNeighborX="-36589" custLinFactNeighborY="114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eciduous tree"/>
        </a:ext>
      </dgm:extLst>
    </dgm:pt>
    <dgm:pt modelId="{8EC8EA04-AA24-4610-BBEB-785BB34E3BE8}" type="pres">
      <dgm:prSet presAssocID="{3AA4A733-3991-46D5-9DCA-A7427779F2B1}" presName="spaceRect" presStyleCnt="0"/>
      <dgm:spPr/>
    </dgm:pt>
    <dgm:pt modelId="{EE18F5B1-F46D-4B60-BA54-5E952ED35928}" type="pres">
      <dgm:prSet presAssocID="{3AA4A733-3991-46D5-9DCA-A7427779F2B1}" presName="textRect" presStyleLbl="revTx" presStyleIdx="1" presStyleCnt="4" custScaleX="118862" custScaleY="155393" custLinFactNeighborX="-3095" custLinFactNeighborY="-1702">
        <dgm:presLayoutVars>
          <dgm:chMax val="1"/>
          <dgm:chPref val="1"/>
        </dgm:presLayoutVars>
      </dgm:prSet>
      <dgm:spPr/>
    </dgm:pt>
    <dgm:pt modelId="{8F29C4B7-CAD0-4ACF-A744-0D61B3850B1A}" type="pres">
      <dgm:prSet presAssocID="{99CEE183-5D17-473E-8E33-38F0E8A194A7}" presName="sibTrans" presStyleLbl="sibTrans2D1" presStyleIdx="0" presStyleCnt="0"/>
      <dgm:spPr/>
    </dgm:pt>
    <dgm:pt modelId="{B52A5F5B-D552-496D-980E-85644867F03E}" type="pres">
      <dgm:prSet presAssocID="{64C0DD92-F0F8-43E5-9B06-008B54197F8B}" presName="compNode" presStyleCnt="0"/>
      <dgm:spPr/>
    </dgm:pt>
    <dgm:pt modelId="{13E89258-3E81-4377-B2F9-FA6252EC0028}" type="pres">
      <dgm:prSet presAssocID="{64C0DD92-F0F8-43E5-9B06-008B54197F8B}" presName="iconBgRect" presStyleLbl="bgShp" presStyleIdx="2" presStyleCnt="4"/>
      <dgm:spPr/>
    </dgm:pt>
    <dgm:pt modelId="{8FB09B5D-C5C5-48FF-ADAB-7D5369D36244}" type="pres">
      <dgm:prSet presAssocID="{64C0DD92-F0F8-43E5-9B06-008B54197F8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Eye dropper"/>
        </a:ext>
      </dgm:extLst>
    </dgm:pt>
    <dgm:pt modelId="{C0B3CD23-5318-4644-ABAF-C9BD051A6DFA}" type="pres">
      <dgm:prSet presAssocID="{64C0DD92-F0F8-43E5-9B06-008B54197F8B}" presName="spaceRect" presStyleCnt="0"/>
      <dgm:spPr/>
    </dgm:pt>
    <dgm:pt modelId="{127BCB0F-19B2-446A-BB2B-199265EEAA7C}" type="pres">
      <dgm:prSet presAssocID="{64C0DD92-F0F8-43E5-9B06-008B54197F8B}" presName="textRect" presStyleLbl="revTx" presStyleIdx="2" presStyleCnt="4" custScaleX="117796" custScaleY="154990">
        <dgm:presLayoutVars>
          <dgm:chMax val="1"/>
          <dgm:chPref val="1"/>
        </dgm:presLayoutVars>
      </dgm:prSet>
      <dgm:spPr/>
    </dgm:pt>
    <dgm:pt modelId="{2A8D48EE-17D2-4DD4-A746-E4E5B9F32D4F}" type="pres">
      <dgm:prSet presAssocID="{21DC6E20-7A8D-4A2C-B903-FD64DCFF9B27}" presName="sibTrans" presStyleLbl="sibTrans2D1" presStyleIdx="0" presStyleCnt="0"/>
      <dgm:spPr/>
    </dgm:pt>
    <dgm:pt modelId="{AB90A431-6DDD-4434-AE6E-CB155788F259}" type="pres">
      <dgm:prSet presAssocID="{188D58BD-8A06-4433-8788-321E2ECCE720}" presName="compNode" presStyleCnt="0"/>
      <dgm:spPr/>
    </dgm:pt>
    <dgm:pt modelId="{2F5B2938-445D-41C7-BF5A-1C09EAF7D59E}" type="pres">
      <dgm:prSet presAssocID="{188D58BD-8A06-4433-8788-321E2ECCE720}" presName="iconBgRect" presStyleLbl="bgShp" presStyleIdx="3" presStyleCnt="4" custLinFactNeighborX="-18726" custLinFactNeighborY="2653"/>
      <dgm:spPr/>
    </dgm:pt>
    <dgm:pt modelId="{0C8AE231-4D9E-4818-A842-6979DA8067CE}" type="pres">
      <dgm:prSet presAssocID="{188D58BD-8A06-4433-8788-321E2ECCE720}" presName="iconRect" presStyleLbl="node1" presStyleIdx="3" presStyleCnt="4" custLinFactNeighborX="-30872" custLinFactNeighborY="-1143"/>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spital"/>
        </a:ext>
      </dgm:extLst>
    </dgm:pt>
    <dgm:pt modelId="{D96BE5A0-4FE3-4401-8EEB-83275F060C66}" type="pres">
      <dgm:prSet presAssocID="{188D58BD-8A06-4433-8788-321E2ECCE720}" presName="spaceRect" presStyleCnt="0"/>
      <dgm:spPr/>
    </dgm:pt>
    <dgm:pt modelId="{F6B31C37-68F8-4FCF-B259-91395CCBC656}" type="pres">
      <dgm:prSet presAssocID="{188D58BD-8A06-4433-8788-321E2ECCE720}" presName="textRect" presStyleLbl="revTx" presStyleIdx="3" presStyleCnt="4" custScaleX="120867" custScaleY="145796" custLinFactNeighborX="-3054" custLinFactNeighborY="-4829">
        <dgm:presLayoutVars>
          <dgm:chMax val="1"/>
          <dgm:chPref val="1"/>
        </dgm:presLayoutVars>
      </dgm:prSet>
      <dgm:spPr/>
    </dgm:pt>
  </dgm:ptLst>
  <dgm:cxnLst>
    <dgm:cxn modelId="{8C069102-7DD5-43CA-9703-B6FA57989852}" srcId="{6A053193-5769-496E-B8E8-6C57680E42A1}" destId="{188D58BD-8A06-4433-8788-321E2ECCE720}" srcOrd="3" destOrd="0" parTransId="{6090A440-F065-4A27-AFEF-BE6188D20A2F}" sibTransId="{95B0DA32-A48B-4F0B-8302-A48DB7876B29}"/>
    <dgm:cxn modelId="{2A1EE114-A724-41DC-B0A8-FAEB59089763}" type="presOf" srcId="{64C0DD92-F0F8-43E5-9B06-008B54197F8B}" destId="{127BCB0F-19B2-446A-BB2B-199265EEAA7C}" srcOrd="0" destOrd="0" presId="urn:microsoft.com/office/officeart/2018/2/layout/IconCircleList"/>
    <dgm:cxn modelId="{1C83911E-4402-425A-9B7D-3EA3785BFE1E}" srcId="{6A053193-5769-496E-B8E8-6C57680E42A1}" destId="{C1767C99-2F1D-4C3A-9E58-18AE4DC8F12B}" srcOrd="0" destOrd="0" parTransId="{69FCFD76-D942-4E79-897D-60F1BDB2AC86}" sibTransId="{809A1257-C9F8-4C81-860E-37CD9EF03F78}"/>
    <dgm:cxn modelId="{748EE621-E204-45CB-9422-EFFB53EFB3C7}" type="presOf" srcId="{6A053193-5769-496E-B8E8-6C57680E42A1}" destId="{93B059E9-0397-4CC6-A88A-6C5DEB294276}" srcOrd="0" destOrd="0" presId="urn:microsoft.com/office/officeart/2018/2/layout/IconCircleList"/>
    <dgm:cxn modelId="{08B3FE61-561E-4DAA-82A3-CCAC4A8F8786}" type="presOf" srcId="{809A1257-C9F8-4C81-860E-37CD9EF03F78}" destId="{4230434E-8075-4B28-A543-EC6F11381397}" srcOrd="0" destOrd="0" presId="urn:microsoft.com/office/officeart/2018/2/layout/IconCircleList"/>
    <dgm:cxn modelId="{B0981B56-8BD2-4BF1-B60F-0FBF3F0F5E87}" type="presOf" srcId="{3AA4A733-3991-46D5-9DCA-A7427779F2B1}" destId="{EE18F5B1-F46D-4B60-BA54-5E952ED35928}" srcOrd="0" destOrd="0" presId="urn:microsoft.com/office/officeart/2018/2/layout/IconCircleList"/>
    <dgm:cxn modelId="{FC1D695A-2627-4CDD-8B66-5B26E6CB483F}" srcId="{6A053193-5769-496E-B8E8-6C57680E42A1}" destId="{64C0DD92-F0F8-43E5-9B06-008B54197F8B}" srcOrd="2" destOrd="0" parTransId="{070723B0-F9B0-43B6-B55A-EB77FF7981E9}" sibTransId="{21DC6E20-7A8D-4A2C-B903-FD64DCFF9B27}"/>
    <dgm:cxn modelId="{EF99E690-648F-40AD-83EA-A06F2FFDCE3D}" type="presOf" srcId="{21DC6E20-7A8D-4A2C-B903-FD64DCFF9B27}" destId="{2A8D48EE-17D2-4DD4-A746-E4E5B9F32D4F}" srcOrd="0" destOrd="0" presId="urn:microsoft.com/office/officeart/2018/2/layout/IconCircleList"/>
    <dgm:cxn modelId="{20B8009A-34C7-4513-9CBA-4144365B28FD}" type="presOf" srcId="{188D58BD-8A06-4433-8788-321E2ECCE720}" destId="{F6B31C37-68F8-4FCF-B259-91395CCBC656}" srcOrd="0" destOrd="0" presId="urn:microsoft.com/office/officeart/2018/2/layout/IconCircleList"/>
    <dgm:cxn modelId="{2AAC8F9C-0B4B-461A-A069-656DC58385BE}" srcId="{6A053193-5769-496E-B8E8-6C57680E42A1}" destId="{3AA4A733-3991-46D5-9DCA-A7427779F2B1}" srcOrd="1" destOrd="0" parTransId="{2C962C02-3360-4D85-94F2-15BD97563114}" sibTransId="{99CEE183-5D17-473E-8E33-38F0E8A194A7}"/>
    <dgm:cxn modelId="{5B68BCBB-4B91-424E-964E-154C89740FA1}" type="presOf" srcId="{C1767C99-2F1D-4C3A-9E58-18AE4DC8F12B}" destId="{90234E5F-574A-4DBC-97C0-FC89AB5829D2}" srcOrd="0" destOrd="0" presId="urn:microsoft.com/office/officeart/2018/2/layout/IconCircleList"/>
    <dgm:cxn modelId="{7FAB1FDE-B36E-4B09-BDBE-FD98151D9A67}" type="presOf" srcId="{99CEE183-5D17-473E-8E33-38F0E8A194A7}" destId="{8F29C4B7-CAD0-4ACF-A744-0D61B3850B1A}" srcOrd="0" destOrd="0" presId="urn:microsoft.com/office/officeart/2018/2/layout/IconCircleList"/>
    <dgm:cxn modelId="{5ED3800F-7537-4A6A-AE1E-3E31D99C9B00}" type="presParOf" srcId="{93B059E9-0397-4CC6-A88A-6C5DEB294276}" destId="{18C3EB6B-A4C8-42A4-9748-2500320C4860}" srcOrd="0" destOrd="0" presId="urn:microsoft.com/office/officeart/2018/2/layout/IconCircleList"/>
    <dgm:cxn modelId="{DC7705C7-67F5-4E10-A1AE-0D0D21D88862}" type="presParOf" srcId="{18C3EB6B-A4C8-42A4-9748-2500320C4860}" destId="{E6E11C10-E62F-42BB-A9CC-214D547A7B7B}" srcOrd="0" destOrd="0" presId="urn:microsoft.com/office/officeart/2018/2/layout/IconCircleList"/>
    <dgm:cxn modelId="{1AB903AA-20A9-41AC-8D8C-A2ABB1C9BF7D}" type="presParOf" srcId="{E6E11C10-E62F-42BB-A9CC-214D547A7B7B}" destId="{F747D95D-6223-4060-8D49-E9CC5A912957}" srcOrd="0" destOrd="0" presId="urn:microsoft.com/office/officeart/2018/2/layout/IconCircleList"/>
    <dgm:cxn modelId="{AC9B5875-4D47-4FB9-92EE-7B499C1C2C47}" type="presParOf" srcId="{E6E11C10-E62F-42BB-A9CC-214D547A7B7B}" destId="{B74D94BC-43A0-4A3B-9120-E472F3530AA3}" srcOrd="1" destOrd="0" presId="urn:microsoft.com/office/officeart/2018/2/layout/IconCircleList"/>
    <dgm:cxn modelId="{6E3B1304-432E-405A-8390-076E869FE16F}" type="presParOf" srcId="{E6E11C10-E62F-42BB-A9CC-214D547A7B7B}" destId="{FE7CA85F-16CA-4EEB-9579-C16BDE2702E0}" srcOrd="2" destOrd="0" presId="urn:microsoft.com/office/officeart/2018/2/layout/IconCircleList"/>
    <dgm:cxn modelId="{2B03F16E-58DF-4EAF-ACA1-2DA2DDBBA7BA}" type="presParOf" srcId="{E6E11C10-E62F-42BB-A9CC-214D547A7B7B}" destId="{90234E5F-574A-4DBC-97C0-FC89AB5829D2}" srcOrd="3" destOrd="0" presId="urn:microsoft.com/office/officeart/2018/2/layout/IconCircleList"/>
    <dgm:cxn modelId="{1043EC61-2D41-476B-AA64-A2C2EC207CD9}" type="presParOf" srcId="{18C3EB6B-A4C8-42A4-9748-2500320C4860}" destId="{4230434E-8075-4B28-A543-EC6F11381397}" srcOrd="1" destOrd="0" presId="urn:microsoft.com/office/officeart/2018/2/layout/IconCircleList"/>
    <dgm:cxn modelId="{820AE8F4-6FB2-49D5-9A1A-FF81C1553E3C}" type="presParOf" srcId="{18C3EB6B-A4C8-42A4-9748-2500320C4860}" destId="{C9D25D15-FB82-4FA1-AD3E-EA0D2022AA96}" srcOrd="2" destOrd="0" presId="urn:microsoft.com/office/officeart/2018/2/layout/IconCircleList"/>
    <dgm:cxn modelId="{287C9885-768B-4654-880D-A932280C3921}" type="presParOf" srcId="{C9D25D15-FB82-4FA1-AD3E-EA0D2022AA96}" destId="{7B805D3A-E5F8-4AC6-AE10-7F6C3F4D3439}" srcOrd="0" destOrd="0" presId="urn:microsoft.com/office/officeart/2018/2/layout/IconCircleList"/>
    <dgm:cxn modelId="{05AA4898-491E-46B3-B020-39071DBAB80C}" type="presParOf" srcId="{C9D25D15-FB82-4FA1-AD3E-EA0D2022AA96}" destId="{B9040253-C39B-4972-926D-AB397A4BD126}" srcOrd="1" destOrd="0" presId="urn:microsoft.com/office/officeart/2018/2/layout/IconCircleList"/>
    <dgm:cxn modelId="{99118443-8385-401F-B245-1BB312F8EBDC}" type="presParOf" srcId="{C9D25D15-FB82-4FA1-AD3E-EA0D2022AA96}" destId="{8EC8EA04-AA24-4610-BBEB-785BB34E3BE8}" srcOrd="2" destOrd="0" presId="urn:microsoft.com/office/officeart/2018/2/layout/IconCircleList"/>
    <dgm:cxn modelId="{209395C4-6DBC-46C7-AACE-EABEF8C410EA}" type="presParOf" srcId="{C9D25D15-FB82-4FA1-AD3E-EA0D2022AA96}" destId="{EE18F5B1-F46D-4B60-BA54-5E952ED35928}" srcOrd="3" destOrd="0" presId="urn:microsoft.com/office/officeart/2018/2/layout/IconCircleList"/>
    <dgm:cxn modelId="{1CAC62DA-30DA-4308-BA52-7DB8C7D89041}" type="presParOf" srcId="{18C3EB6B-A4C8-42A4-9748-2500320C4860}" destId="{8F29C4B7-CAD0-4ACF-A744-0D61B3850B1A}" srcOrd="3" destOrd="0" presId="urn:microsoft.com/office/officeart/2018/2/layout/IconCircleList"/>
    <dgm:cxn modelId="{4EE4A013-B485-4548-AB7C-15CF534B1D9F}" type="presParOf" srcId="{18C3EB6B-A4C8-42A4-9748-2500320C4860}" destId="{B52A5F5B-D552-496D-980E-85644867F03E}" srcOrd="4" destOrd="0" presId="urn:microsoft.com/office/officeart/2018/2/layout/IconCircleList"/>
    <dgm:cxn modelId="{3CAF7F6E-B4D8-4F75-A524-CFE0F0346889}" type="presParOf" srcId="{B52A5F5B-D552-496D-980E-85644867F03E}" destId="{13E89258-3E81-4377-B2F9-FA6252EC0028}" srcOrd="0" destOrd="0" presId="urn:microsoft.com/office/officeart/2018/2/layout/IconCircleList"/>
    <dgm:cxn modelId="{EF887230-8B21-4C5A-95E7-3E8462D4043A}" type="presParOf" srcId="{B52A5F5B-D552-496D-980E-85644867F03E}" destId="{8FB09B5D-C5C5-48FF-ADAB-7D5369D36244}" srcOrd="1" destOrd="0" presId="urn:microsoft.com/office/officeart/2018/2/layout/IconCircleList"/>
    <dgm:cxn modelId="{6794D250-19D7-494F-B831-5D14352506C1}" type="presParOf" srcId="{B52A5F5B-D552-496D-980E-85644867F03E}" destId="{C0B3CD23-5318-4644-ABAF-C9BD051A6DFA}" srcOrd="2" destOrd="0" presId="urn:microsoft.com/office/officeart/2018/2/layout/IconCircleList"/>
    <dgm:cxn modelId="{88C7F663-A270-4860-9993-B878CBEC4AA5}" type="presParOf" srcId="{B52A5F5B-D552-496D-980E-85644867F03E}" destId="{127BCB0F-19B2-446A-BB2B-199265EEAA7C}" srcOrd="3" destOrd="0" presId="urn:microsoft.com/office/officeart/2018/2/layout/IconCircleList"/>
    <dgm:cxn modelId="{C81D8D6A-1F61-43DA-8B2D-1EBE34FE0DDA}" type="presParOf" srcId="{18C3EB6B-A4C8-42A4-9748-2500320C4860}" destId="{2A8D48EE-17D2-4DD4-A746-E4E5B9F32D4F}" srcOrd="5" destOrd="0" presId="urn:microsoft.com/office/officeart/2018/2/layout/IconCircleList"/>
    <dgm:cxn modelId="{064EE4A3-2962-49B6-8FF9-FEDAE6601A61}" type="presParOf" srcId="{18C3EB6B-A4C8-42A4-9748-2500320C4860}" destId="{AB90A431-6DDD-4434-AE6E-CB155788F259}" srcOrd="6" destOrd="0" presId="urn:microsoft.com/office/officeart/2018/2/layout/IconCircleList"/>
    <dgm:cxn modelId="{E49DD154-42BA-4CE9-90A1-3690834772CE}" type="presParOf" srcId="{AB90A431-6DDD-4434-AE6E-CB155788F259}" destId="{2F5B2938-445D-41C7-BF5A-1C09EAF7D59E}" srcOrd="0" destOrd="0" presId="urn:microsoft.com/office/officeart/2018/2/layout/IconCircleList"/>
    <dgm:cxn modelId="{A6C71AC4-6364-4E9D-A5E8-D0E496D063F2}" type="presParOf" srcId="{AB90A431-6DDD-4434-AE6E-CB155788F259}" destId="{0C8AE231-4D9E-4818-A842-6979DA8067CE}" srcOrd="1" destOrd="0" presId="urn:microsoft.com/office/officeart/2018/2/layout/IconCircleList"/>
    <dgm:cxn modelId="{F6A7FE7A-E9E1-4BD3-8369-F1177E0DCD3A}" type="presParOf" srcId="{AB90A431-6DDD-4434-AE6E-CB155788F259}" destId="{D96BE5A0-4FE3-4401-8EEB-83275F060C66}" srcOrd="2" destOrd="0" presId="urn:microsoft.com/office/officeart/2018/2/layout/IconCircleList"/>
    <dgm:cxn modelId="{0E19CFFF-F6B0-41D5-8D2D-8D003AF1B22B}" type="presParOf" srcId="{AB90A431-6DDD-4434-AE6E-CB155788F259}" destId="{F6B31C37-68F8-4FCF-B259-91395CCBC656}"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75CF55-AA06-6C42-9A46-BF65325CB1D3}">
      <dsp:nvSpPr>
        <dsp:cNvPr id="0" name=""/>
        <dsp:cNvSpPr/>
      </dsp:nvSpPr>
      <dsp:spPr>
        <a:xfrm>
          <a:off x="77442" y="47444"/>
          <a:ext cx="3506994" cy="8767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Loaded </a:t>
          </a:r>
          <a:r>
            <a:rPr lang="en-US" sz="2000" b="1" kern="1200" dirty="0">
              <a:latin typeface="Times New Roman" panose="02020603050405020304" pitchFamily="18" charset="0"/>
              <a:cs typeface="Times New Roman" panose="02020603050405020304" pitchFamily="18" charset="0"/>
            </a:rPr>
            <a:t>train (280 rows)</a:t>
          </a:r>
          <a:r>
            <a:rPr lang="en-US" sz="2000" kern="1200" dirty="0">
              <a:latin typeface="Times New Roman" panose="02020603050405020304" pitchFamily="18" charset="0"/>
              <a:cs typeface="Times New Roman" panose="02020603050405020304" pitchFamily="18" charset="0"/>
            </a:rPr>
            <a:t> and </a:t>
          </a:r>
          <a:r>
            <a:rPr lang="en-US" sz="2000" b="1" kern="1200" dirty="0">
              <a:latin typeface="Times New Roman" panose="02020603050405020304" pitchFamily="18" charset="0"/>
              <a:cs typeface="Times New Roman" panose="02020603050405020304" pitchFamily="18" charset="0"/>
            </a:rPr>
            <a:t>test (120 rows)</a:t>
          </a:r>
          <a:r>
            <a:rPr lang="en-US" sz="2000" kern="1200" dirty="0">
              <a:latin typeface="Times New Roman" panose="02020603050405020304" pitchFamily="18" charset="0"/>
              <a:cs typeface="Times New Roman" panose="02020603050405020304" pitchFamily="18" charset="0"/>
            </a:rPr>
            <a:t> datasets.</a:t>
          </a:r>
        </a:p>
      </dsp:txBody>
      <dsp:txXfrm>
        <a:off x="103121" y="73123"/>
        <a:ext cx="3455636" cy="825390"/>
      </dsp:txXfrm>
    </dsp:sp>
    <dsp:sp modelId="{8949EB58-6728-2A43-8247-156FFD41326E}">
      <dsp:nvSpPr>
        <dsp:cNvPr id="0" name=""/>
        <dsp:cNvSpPr/>
      </dsp:nvSpPr>
      <dsp:spPr>
        <a:xfrm rot="808029">
          <a:off x="3680851" y="809378"/>
          <a:ext cx="649972" cy="3945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3682478" y="874503"/>
        <a:ext cx="531611" cy="236722"/>
      </dsp:txXfrm>
    </dsp:sp>
    <dsp:sp modelId="{F06CD614-6A6F-4B4E-B359-7A304CBB7EF5}">
      <dsp:nvSpPr>
        <dsp:cNvPr id="0" name=""/>
        <dsp:cNvSpPr/>
      </dsp:nvSpPr>
      <dsp:spPr>
        <a:xfrm>
          <a:off x="4427238" y="1089100"/>
          <a:ext cx="3506994" cy="8767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Converted numeric-looking columns (</a:t>
          </a:r>
          <a:r>
            <a:rPr lang="en-US" sz="2000" b="1" kern="1200" dirty="0">
              <a:latin typeface="Times New Roman" panose="02020603050405020304" pitchFamily="18" charset="0"/>
              <a:cs typeface="Times New Roman" panose="02020603050405020304" pitchFamily="18" charset="0"/>
            </a:rPr>
            <a:t>bp, </a:t>
          </a:r>
          <a:r>
            <a:rPr lang="en-US" sz="2000" b="1" kern="1200" dirty="0" err="1">
              <a:latin typeface="Times New Roman" panose="02020603050405020304" pitchFamily="18" charset="0"/>
              <a:cs typeface="Times New Roman" panose="02020603050405020304" pitchFamily="18" charset="0"/>
            </a:rPr>
            <a:t>sc</a:t>
          </a:r>
          <a:r>
            <a:rPr lang="en-US" sz="2000" b="1" kern="1200" dirty="0">
              <a:latin typeface="Times New Roman" panose="02020603050405020304" pitchFamily="18" charset="0"/>
              <a:cs typeface="Times New Roman" panose="02020603050405020304" pitchFamily="18" charset="0"/>
            </a:rPr>
            <a:t>, </a:t>
          </a:r>
          <a:r>
            <a:rPr lang="en-US" sz="2000" b="1" kern="1200" dirty="0" err="1">
              <a:latin typeface="Times New Roman" panose="02020603050405020304" pitchFamily="18" charset="0"/>
              <a:cs typeface="Times New Roman" panose="02020603050405020304" pitchFamily="18" charset="0"/>
            </a:rPr>
            <a:t>pcv</a:t>
          </a:r>
          <a:r>
            <a:rPr lang="en-US" sz="2000" b="1" kern="1200" dirty="0">
              <a:latin typeface="Times New Roman" panose="02020603050405020304" pitchFamily="18" charset="0"/>
              <a:cs typeface="Times New Roman" panose="02020603050405020304" pitchFamily="18" charset="0"/>
            </a:rPr>
            <a:t>, </a:t>
          </a:r>
          <a:r>
            <a:rPr lang="en-US" sz="2000" b="1" kern="1200" dirty="0" err="1">
              <a:latin typeface="Times New Roman" panose="02020603050405020304" pitchFamily="18" charset="0"/>
              <a:cs typeface="Times New Roman" panose="02020603050405020304" pitchFamily="18" charset="0"/>
            </a:rPr>
            <a:t>wc</a:t>
          </a:r>
          <a:r>
            <a:rPr lang="en-US" sz="2000" b="1" kern="1200" dirty="0">
              <a:latin typeface="Times New Roman" panose="02020603050405020304" pitchFamily="18" charset="0"/>
              <a:cs typeface="Times New Roman" panose="02020603050405020304" pitchFamily="18" charset="0"/>
            </a:rPr>
            <a:t>, </a:t>
          </a:r>
          <a:r>
            <a:rPr lang="en-US" sz="2000" b="1" kern="1200" dirty="0" err="1">
              <a:latin typeface="Times New Roman" panose="02020603050405020304" pitchFamily="18" charset="0"/>
              <a:cs typeface="Times New Roman" panose="02020603050405020304" pitchFamily="18" charset="0"/>
            </a:rPr>
            <a:t>rc</a:t>
          </a:r>
          <a:r>
            <a:rPr lang="en-US" sz="2000" kern="1200" dirty="0">
              <a:latin typeface="Times New Roman" panose="02020603050405020304" pitchFamily="18" charset="0"/>
              <a:cs typeface="Times New Roman" panose="02020603050405020304" pitchFamily="18" charset="0"/>
            </a:rPr>
            <a:t>) to numeric type.</a:t>
          </a:r>
        </a:p>
      </dsp:txBody>
      <dsp:txXfrm>
        <a:off x="4452917" y="1114779"/>
        <a:ext cx="3455636" cy="825390"/>
      </dsp:txXfrm>
    </dsp:sp>
    <dsp:sp modelId="{7D54B165-48E9-6647-80B5-45C235EEACFF}">
      <dsp:nvSpPr>
        <dsp:cNvPr id="0" name=""/>
        <dsp:cNvSpPr/>
      </dsp:nvSpPr>
      <dsp:spPr>
        <a:xfrm rot="9457123">
          <a:off x="3964224" y="2030498"/>
          <a:ext cx="1031799" cy="3945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rot="10800000">
        <a:off x="4078127" y="2086871"/>
        <a:ext cx="913438" cy="236722"/>
      </dsp:txXfrm>
    </dsp:sp>
    <dsp:sp modelId="{04BC0BF8-B823-284A-84EE-E455CC4F74B2}">
      <dsp:nvSpPr>
        <dsp:cNvPr id="0" name=""/>
        <dsp:cNvSpPr/>
      </dsp:nvSpPr>
      <dsp:spPr>
        <a:xfrm>
          <a:off x="1026014" y="2489684"/>
          <a:ext cx="3506994" cy="8767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Kept target variable classification in the train set only.</a:t>
          </a:r>
        </a:p>
      </dsp:txBody>
      <dsp:txXfrm>
        <a:off x="1051693" y="2515363"/>
        <a:ext cx="3455636" cy="825390"/>
      </dsp:txXfrm>
    </dsp:sp>
    <dsp:sp modelId="{89407B41-6F35-304F-9C84-305D6320E19E}">
      <dsp:nvSpPr>
        <dsp:cNvPr id="0" name=""/>
        <dsp:cNvSpPr/>
      </dsp:nvSpPr>
      <dsp:spPr>
        <a:xfrm rot="1152271">
          <a:off x="4163309" y="3381200"/>
          <a:ext cx="966898" cy="39453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166602" y="3440640"/>
        <a:ext cx="848537" cy="236722"/>
      </dsp:txXfrm>
    </dsp:sp>
    <dsp:sp modelId="{E66554A3-D419-2848-B996-4BC72C6292CF}">
      <dsp:nvSpPr>
        <dsp:cNvPr id="0" name=""/>
        <dsp:cNvSpPr/>
      </dsp:nvSpPr>
      <dsp:spPr>
        <a:xfrm>
          <a:off x="4760508" y="3790503"/>
          <a:ext cx="3506994" cy="87674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Ensured dataset is ready for </a:t>
          </a:r>
          <a:r>
            <a:rPr lang="en-US" sz="2000" b="1" kern="1200" dirty="0">
              <a:latin typeface="Times New Roman" panose="02020603050405020304" pitchFamily="18" charset="0"/>
              <a:cs typeface="Times New Roman" panose="02020603050405020304" pitchFamily="18" charset="0"/>
            </a:rPr>
            <a:t>visualization (EDA)</a:t>
          </a:r>
          <a:r>
            <a:rPr lang="en-US" sz="2000" kern="1200" dirty="0">
              <a:latin typeface="Times New Roman" panose="02020603050405020304" pitchFamily="18" charset="0"/>
              <a:cs typeface="Times New Roman" panose="02020603050405020304" pitchFamily="18" charset="0"/>
            </a:rPr>
            <a:t> .</a:t>
          </a:r>
        </a:p>
      </dsp:txBody>
      <dsp:txXfrm>
        <a:off x="4786187" y="3816182"/>
        <a:ext cx="3455636" cy="8253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172A87-D1A1-4442-86AA-0863123ABDDD}">
      <dsp:nvSpPr>
        <dsp:cNvPr id="0" name=""/>
        <dsp:cNvSpPr/>
      </dsp:nvSpPr>
      <dsp:spPr>
        <a:xfrm>
          <a:off x="0" y="0"/>
          <a:ext cx="3451167"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12700" cap="flat" cmpd="sng" algn="ctr">
          <a:solidFill>
            <a:schemeClr val="accent4">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C771DB9-B562-6F48-B40F-6FB7A2FFE5C1}">
      <dsp:nvSpPr>
        <dsp:cNvPr id="0" name=""/>
        <dsp:cNvSpPr/>
      </dsp:nvSpPr>
      <dsp:spPr>
        <a:xfrm>
          <a:off x="0" y="0"/>
          <a:ext cx="3451167" cy="4162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b="1" kern="1200" dirty="0">
              <a:latin typeface="Times New Roman" panose="02020603050405020304" pitchFamily="18" charset="0"/>
              <a:cs typeface="Times New Roman" panose="02020603050405020304" pitchFamily="18" charset="0"/>
            </a:rPr>
            <a:t>Bar chart (counts of hypertension):</a:t>
          </a:r>
          <a:r>
            <a:rPr lang="en-US" sz="2400" kern="1200" dirty="0">
              <a:latin typeface="Times New Roman" panose="02020603050405020304" pitchFamily="18" charset="0"/>
              <a:cs typeface="Times New Roman" panose="02020603050405020304" pitchFamily="18" charset="0"/>
            </a:rPr>
            <a:t>Most patients (177) do not have hypertension, while 102 patients do. Only 1 record is missing this information. Even though more patients are in the ‘no’ group, the large number with hypertension shows it is still an important factor in CKD</a:t>
          </a:r>
          <a:r>
            <a:rPr lang="en-US" sz="2400" kern="1200" dirty="0"/>
            <a:t>.</a:t>
          </a:r>
        </a:p>
      </dsp:txBody>
      <dsp:txXfrm>
        <a:off x="0" y="0"/>
        <a:ext cx="3451167" cy="4162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D4169C-9534-4BC7-A553-997D08003D9B}">
      <dsp:nvSpPr>
        <dsp:cNvPr id="0" name=""/>
        <dsp:cNvSpPr/>
      </dsp:nvSpPr>
      <dsp:spPr>
        <a:xfrm>
          <a:off x="1759233" y="0"/>
          <a:ext cx="7250013" cy="4350007"/>
        </a:xfrm>
        <a:prstGeom prst="roundRect">
          <a:avLst>
            <a:gd name="adj" fmla="val 1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dirty="0">
              <a:latin typeface="Times New Roman" panose="02020603050405020304" pitchFamily="18" charset="0"/>
              <a:cs typeface="Times New Roman" panose="02020603050405020304" pitchFamily="18" charset="0"/>
            </a:rPr>
            <a:t>The attributes </a:t>
          </a:r>
        </a:p>
        <a:p>
          <a:pPr marL="285750" lvl="1" indent="-285750" algn="l" defTabSz="1511300">
            <a:lnSpc>
              <a:spcPct val="90000"/>
            </a:lnSpc>
            <a:spcBef>
              <a:spcPct val="0"/>
            </a:spcBef>
            <a:spcAft>
              <a:spcPct val="15000"/>
            </a:spcAft>
            <a:buChar char="•"/>
          </a:pPr>
          <a:r>
            <a:rPr lang="en-US" sz="3400" b="1" kern="1200" dirty="0">
              <a:latin typeface="Times New Roman" panose="02020603050405020304" pitchFamily="18" charset="0"/>
              <a:cs typeface="Times New Roman" panose="02020603050405020304" pitchFamily="18" charset="0"/>
            </a:rPr>
            <a:t>Age (age)</a:t>
          </a:r>
          <a:r>
            <a:rPr lang="en-US" sz="3400" kern="1200" dirty="0">
              <a:latin typeface="Times New Roman" panose="02020603050405020304" pitchFamily="18" charset="0"/>
              <a:cs typeface="Times New Roman" panose="02020603050405020304" pitchFamily="18" charset="0"/>
            </a:rPr>
            <a:t> – patient’s age (numeric).</a:t>
          </a:r>
        </a:p>
        <a:p>
          <a:pPr marL="285750" lvl="1" indent="-285750" algn="l" defTabSz="1511300">
            <a:lnSpc>
              <a:spcPct val="90000"/>
            </a:lnSpc>
            <a:spcBef>
              <a:spcPct val="0"/>
            </a:spcBef>
            <a:spcAft>
              <a:spcPct val="15000"/>
            </a:spcAft>
            <a:buChar char="•"/>
          </a:pPr>
          <a:r>
            <a:rPr lang="en-US" sz="3400" b="1" kern="1200" dirty="0">
              <a:latin typeface="Times New Roman" panose="02020603050405020304" pitchFamily="18" charset="0"/>
              <a:cs typeface="Times New Roman" panose="02020603050405020304" pitchFamily="18" charset="0"/>
            </a:rPr>
            <a:t>Blood Pressure (bp)</a:t>
          </a:r>
          <a:r>
            <a:rPr lang="en-US" sz="3400" kern="1200" dirty="0">
              <a:latin typeface="Times New Roman" panose="02020603050405020304" pitchFamily="18" charset="0"/>
              <a:cs typeface="Times New Roman" panose="02020603050405020304" pitchFamily="18" charset="0"/>
            </a:rPr>
            <a:t> – in mmHg (numeric).</a:t>
          </a:r>
        </a:p>
        <a:p>
          <a:pPr marL="285750" lvl="1" indent="-285750" algn="l" defTabSz="1511300">
            <a:lnSpc>
              <a:spcPct val="90000"/>
            </a:lnSpc>
            <a:spcBef>
              <a:spcPct val="0"/>
            </a:spcBef>
            <a:spcAft>
              <a:spcPct val="15000"/>
            </a:spcAft>
            <a:buChar char="•"/>
          </a:pPr>
          <a:r>
            <a:rPr lang="en-US" sz="3400" b="1" kern="1200" dirty="0">
              <a:latin typeface="Times New Roman" panose="02020603050405020304" pitchFamily="18" charset="0"/>
              <a:cs typeface="Times New Roman" panose="02020603050405020304" pitchFamily="18" charset="0"/>
            </a:rPr>
            <a:t>Serum Creatinine (</a:t>
          </a:r>
          <a:r>
            <a:rPr lang="en-US" sz="3400" b="1" kern="1200" dirty="0" err="1">
              <a:latin typeface="Times New Roman" panose="02020603050405020304" pitchFamily="18" charset="0"/>
              <a:cs typeface="Times New Roman" panose="02020603050405020304" pitchFamily="18" charset="0"/>
            </a:rPr>
            <a:t>sc</a:t>
          </a:r>
          <a:r>
            <a:rPr lang="en-US" sz="3400" b="1" kern="1200" dirty="0">
              <a:latin typeface="Times New Roman" panose="02020603050405020304" pitchFamily="18" charset="0"/>
              <a:cs typeface="Times New Roman" panose="02020603050405020304" pitchFamily="18" charset="0"/>
            </a:rPr>
            <a:t>)</a:t>
          </a:r>
          <a:r>
            <a:rPr lang="en-US" sz="3400" kern="1200" dirty="0">
              <a:latin typeface="Times New Roman" panose="02020603050405020304" pitchFamily="18" charset="0"/>
              <a:cs typeface="Times New Roman" panose="02020603050405020304" pitchFamily="18" charset="0"/>
            </a:rPr>
            <a:t> – kidney function marker in mg/dL (numeric).</a:t>
          </a:r>
        </a:p>
      </dsp:txBody>
      <dsp:txXfrm>
        <a:off x="1886640" y="127407"/>
        <a:ext cx="6995199" cy="40951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5DA7D8-0674-41F6-9FA8-787683C7A73F}">
      <dsp:nvSpPr>
        <dsp:cNvPr id="0" name=""/>
        <dsp:cNvSpPr/>
      </dsp:nvSpPr>
      <dsp:spPr>
        <a:xfrm>
          <a:off x="86325" y="89758"/>
          <a:ext cx="2283253" cy="1828234"/>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latin typeface="Times New Roman" panose="02020603050405020304" pitchFamily="18" charset="0"/>
              <a:cs typeface="Times New Roman" panose="02020603050405020304" pitchFamily="18" charset="0"/>
            </a:rPr>
            <a:t>Interpretation of Confusion Matrix</a:t>
          </a:r>
          <a:endParaRPr lang="en-US" sz="1800" kern="1200" dirty="0">
            <a:latin typeface="Times New Roman" panose="02020603050405020304" pitchFamily="18" charset="0"/>
            <a:cs typeface="Times New Roman" panose="02020603050405020304" pitchFamily="18" charset="0"/>
          </a:endParaRPr>
        </a:p>
      </dsp:txBody>
      <dsp:txXfrm>
        <a:off x="420700" y="357497"/>
        <a:ext cx="1614503" cy="1292756"/>
      </dsp:txXfrm>
    </dsp:sp>
    <dsp:sp modelId="{49E87D72-BA55-4A57-8361-0AD3DAE47481}">
      <dsp:nvSpPr>
        <dsp:cNvPr id="0" name=""/>
        <dsp:cNvSpPr/>
      </dsp:nvSpPr>
      <dsp:spPr>
        <a:xfrm rot="10382217">
          <a:off x="1030215" y="2059879"/>
          <a:ext cx="730000" cy="333630"/>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7CDB8E-F997-40DD-8326-59CE8952E047}">
      <dsp:nvSpPr>
        <dsp:cNvPr id="0" name=""/>
        <dsp:cNvSpPr/>
      </dsp:nvSpPr>
      <dsp:spPr>
        <a:xfrm>
          <a:off x="298166" y="2579162"/>
          <a:ext cx="2537818" cy="240290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Overall Accuracy</a:t>
          </a:r>
          <a:r>
            <a:rPr lang="en-US" sz="1600" kern="1200" dirty="0">
              <a:latin typeface="Times New Roman" panose="02020603050405020304" pitchFamily="18" charset="0"/>
              <a:cs typeface="Times New Roman" panose="02020603050405020304" pitchFamily="18" charset="0"/>
            </a:rPr>
            <a:t>: The model achieved </a:t>
          </a:r>
          <a:r>
            <a:rPr lang="en-US" sz="1600" b="1" kern="1200" dirty="0">
              <a:latin typeface="Times New Roman" panose="02020603050405020304" pitchFamily="18" charset="0"/>
              <a:cs typeface="Times New Roman" panose="02020603050405020304" pitchFamily="18" charset="0"/>
            </a:rPr>
            <a:t>83% accuracy</a:t>
          </a:r>
          <a:r>
            <a:rPr lang="en-US" sz="1600" kern="1200" dirty="0">
              <a:latin typeface="Times New Roman" panose="02020603050405020304" pitchFamily="18" charset="0"/>
              <a:cs typeface="Times New Roman" panose="02020603050405020304" pitchFamily="18" charset="0"/>
            </a:rPr>
            <a:t>, meaning it correctly classified CKD vs non-CKD in 83% of the test cases.</a:t>
          </a:r>
        </a:p>
      </dsp:txBody>
      <dsp:txXfrm>
        <a:off x="669821" y="2931059"/>
        <a:ext cx="1794508" cy="1699108"/>
      </dsp:txXfrm>
    </dsp:sp>
    <dsp:sp modelId="{CD0F59B4-CE67-4547-AA9A-6BF36BC9FE2F}">
      <dsp:nvSpPr>
        <dsp:cNvPr id="0" name=""/>
        <dsp:cNvSpPr/>
      </dsp:nvSpPr>
      <dsp:spPr>
        <a:xfrm rot="6320231">
          <a:off x="2768467" y="4043407"/>
          <a:ext cx="730000" cy="333630"/>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DA541EA-E24A-4202-8D16-F1C981EFCAD9}">
      <dsp:nvSpPr>
        <dsp:cNvPr id="0" name=""/>
        <dsp:cNvSpPr/>
      </dsp:nvSpPr>
      <dsp:spPr>
        <a:xfrm>
          <a:off x="3383223" y="3419722"/>
          <a:ext cx="3118980" cy="2573432"/>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CKD Patients (Class 1)</a:t>
          </a:r>
          <a:endParaRPr lang="en-US" sz="1400"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r>
            <a:rPr lang="en-US" sz="1400" b="1" kern="1200" dirty="0">
              <a:latin typeface="Times New Roman" panose="02020603050405020304" pitchFamily="18" charset="0"/>
              <a:cs typeface="Times New Roman" panose="02020603050405020304" pitchFamily="18" charset="0"/>
            </a:rPr>
            <a:t>Precision (0.86)</a:t>
          </a:r>
          <a:r>
            <a:rPr lang="en-US" sz="1400" kern="1200" dirty="0">
              <a:latin typeface="Times New Roman" panose="02020603050405020304" pitchFamily="18" charset="0"/>
              <a:cs typeface="Times New Roman" panose="02020603050405020304" pitchFamily="18" charset="0"/>
            </a:rPr>
            <a:t> → When the model predicts CKD, it is correct </a:t>
          </a:r>
          <a:r>
            <a:rPr lang="en-US" sz="1400" b="1" kern="1200" dirty="0">
              <a:latin typeface="Times New Roman" panose="02020603050405020304" pitchFamily="18" charset="0"/>
              <a:cs typeface="Times New Roman" panose="02020603050405020304" pitchFamily="18" charset="0"/>
            </a:rPr>
            <a:t>86% of the time</a:t>
          </a:r>
          <a:r>
            <a:rPr lang="en-US" sz="1400" kern="1200" dirty="0">
              <a:latin typeface="Times New Roman" panose="02020603050405020304" pitchFamily="18" charset="0"/>
              <a:cs typeface="Times New Roman" panose="02020603050405020304" pitchFamily="18" charset="0"/>
            </a:rPr>
            <a:t>.</a:t>
          </a:r>
        </a:p>
        <a:p>
          <a:pPr marL="114300" lvl="1" indent="-114300" algn="l" defTabSz="622300">
            <a:lnSpc>
              <a:spcPct val="90000"/>
            </a:lnSpc>
            <a:spcBef>
              <a:spcPct val="0"/>
            </a:spcBef>
            <a:spcAft>
              <a:spcPct val="15000"/>
            </a:spcAft>
            <a:buChar char="•"/>
          </a:pPr>
          <a:r>
            <a:rPr lang="en-US" sz="1400" b="1" kern="1200" dirty="0">
              <a:latin typeface="Times New Roman" panose="02020603050405020304" pitchFamily="18" charset="0"/>
              <a:cs typeface="Times New Roman" panose="02020603050405020304" pitchFamily="18" charset="0"/>
            </a:rPr>
            <a:t>Recall (0.83)</a:t>
          </a:r>
          <a:r>
            <a:rPr lang="en-US" sz="1400" kern="1200" dirty="0">
              <a:latin typeface="Times New Roman" panose="02020603050405020304" pitchFamily="18" charset="0"/>
              <a:cs typeface="Times New Roman" panose="02020603050405020304" pitchFamily="18" charset="0"/>
            </a:rPr>
            <a:t> → The model detects </a:t>
          </a:r>
          <a:r>
            <a:rPr lang="en-US" sz="1400" b="1" kern="1200" dirty="0">
              <a:latin typeface="Times New Roman" panose="02020603050405020304" pitchFamily="18" charset="0"/>
              <a:cs typeface="Times New Roman" panose="02020603050405020304" pitchFamily="18" charset="0"/>
            </a:rPr>
            <a:t>83% of actual CKD cases</a:t>
          </a:r>
          <a:r>
            <a:rPr lang="en-US" sz="1400" kern="1200" dirty="0">
              <a:latin typeface="Times New Roman" panose="02020603050405020304" pitchFamily="18" charset="0"/>
              <a:cs typeface="Times New Roman" panose="02020603050405020304" pitchFamily="18" charset="0"/>
            </a:rPr>
            <a:t>.</a:t>
          </a:r>
        </a:p>
        <a:p>
          <a:pPr marL="114300" lvl="1" indent="-114300" algn="l" defTabSz="622300">
            <a:lnSpc>
              <a:spcPct val="90000"/>
            </a:lnSpc>
            <a:spcBef>
              <a:spcPct val="0"/>
            </a:spcBef>
            <a:spcAft>
              <a:spcPct val="15000"/>
            </a:spcAft>
            <a:buChar char="•"/>
          </a:pPr>
          <a:r>
            <a:rPr lang="en-US" sz="1400" b="1" kern="1200" dirty="0">
              <a:latin typeface="Times New Roman" panose="02020603050405020304" pitchFamily="18" charset="0"/>
              <a:cs typeface="Times New Roman" panose="02020603050405020304" pitchFamily="18" charset="0"/>
            </a:rPr>
            <a:t>F1-score (0.85)</a:t>
          </a:r>
          <a:r>
            <a:rPr lang="en-US" sz="1400" kern="1200" dirty="0">
              <a:latin typeface="Times New Roman" panose="02020603050405020304" pitchFamily="18" charset="0"/>
              <a:cs typeface="Times New Roman" panose="02020603050405020304" pitchFamily="18" charset="0"/>
            </a:rPr>
            <a:t> → Good balance between precision and recall.</a:t>
          </a:r>
        </a:p>
      </dsp:txBody>
      <dsp:txXfrm>
        <a:off x="3839987" y="3796592"/>
        <a:ext cx="2205452" cy="1819692"/>
      </dsp:txXfrm>
    </dsp:sp>
    <dsp:sp modelId="{A6DFCDAE-7220-4740-9006-70E69F76A726}">
      <dsp:nvSpPr>
        <dsp:cNvPr id="0" name=""/>
        <dsp:cNvSpPr/>
      </dsp:nvSpPr>
      <dsp:spPr>
        <a:xfrm rot="213730">
          <a:off x="4677850" y="2931039"/>
          <a:ext cx="730000" cy="333630"/>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B24CCA-6E77-4497-A84B-68628A1901EA}">
      <dsp:nvSpPr>
        <dsp:cNvPr id="0" name=""/>
        <dsp:cNvSpPr/>
      </dsp:nvSpPr>
      <dsp:spPr>
        <a:xfrm>
          <a:off x="3654975" y="75987"/>
          <a:ext cx="2982701" cy="271933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l" defTabSz="533400">
            <a:lnSpc>
              <a:spcPct val="90000"/>
            </a:lnSpc>
            <a:spcBef>
              <a:spcPct val="0"/>
            </a:spcBef>
            <a:spcAft>
              <a:spcPct val="35000"/>
            </a:spcAft>
            <a:buNone/>
          </a:pPr>
          <a:r>
            <a:rPr lang="en-US" sz="1200" b="1" kern="1200">
              <a:latin typeface="Times New Roman" panose="02020603050405020304" pitchFamily="18" charset="0"/>
              <a:cs typeface="Times New Roman" panose="02020603050405020304" pitchFamily="18" charset="0"/>
            </a:rPr>
            <a:t>Non-CKD Patients (Class 0)</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Char char="•"/>
          </a:pPr>
          <a:r>
            <a:rPr lang="en-US" sz="1200" b="1" kern="1200">
              <a:latin typeface="Times New Roman" panose="02020603050405020304" pitchFamily="18" charset="0"/>
              <a:cs typeface="Times New Roman" panose="02020603050405020304" pitchFamily="18" charset="0"/>
            </a:rPr>
            <a:t>Precision (0.78)</a:t>
          </a:r>
          <a:r>
            <a:rPr lang="en-US" sz="1200" kern="1200">
              <a:latin typeface="Times New Roman" panose="02020603050405020304" pitchFamily="18" charset="0"/>
              <a:cs typeface="Times New Roman" panose="02020603050405020304" pitchFamily="18" charset="0"/>
            </a:rPr>
            <a:t> → Slightly more false positives compared to CKD class.</a:t>
          </a:r>
          <a:endParaRPr lang="en-US" sz="1200" kern="1200" dirty="0">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Char char="•"/>
          </a:pPr>
          <a:r>
            <a:rPr lang="en-US" sz="1200" b="1" kern="1200" dirty="0">
              <a:latin typeface="Times New Roman" panose="02020603050405020304" pitchFamily="18" charset="0"/>
              <a:cs typeface="Times New Roman" panose="02020603050405020304" pitchFamily="18" charset="0"/>
            </a:rPr>
            <a:t>Recall (0.82)</a:t>
          </a:r>
          <a:r>
            <a:rPr lang="en-US" sz="1200" kern="1200" dirty="0">
              <a:latin typeface="Times New Roman" panose="02020603050405020304" pitchFamily="18" charset="0"/>
              <a:cs typeface="Times New Roman" panose="02020603050405020304" pitchFamily="18" charset="0"/>
            </a:rPr>
            <a:t> → Correctly identifies most non-CKD cases.</a:t>
          </a:r>
        </a:p>
        <a:p>
          <a:pPr marL="114300" lvl="1" indent="-114300" algn="l" defTabSz="533400">
            <a:lnSpc>
              <a:spcPct val="90000"/>
            </a:lnSpc>
            <a:spcBef>
              <a:spcPct val="0"/>
            </a:spcBef>
            <a:spcAft>
              <a:spcPct val="15000"/>
            </a:spcAft>
            <a:buChar char="•"/>
          </a:pPr>
          <a:r>
            <a:rPr lang="en-US" sz="1200" b="1" kern="1200">
              <a:latin typeface="Times New Roman" panose="02020603050405020304" pitchFamily="18" charset="0"/>
              <a:cs typeface="Times New Roman" panose="02020603050405020304" pitchFamily="18" charset="0"/>
            </a:rPr>
            <a:t>F1-score (0.80)</a:t>
          </a:r>
          <a:r>
            <a:rPr lang="en-US" sz="1200" kern="1200">
              <a:latin typeface="Times New Roman" panose="02020603050405020304" pitchFamily="18" charset="0"/>
              <a:cs typeface="Times New Roman" panose="02020603050405020304" pitchFamily="18" charset="0"/>
            </a:rPr>
            <a:t> → Strong but slightly lower than CKD group.</a:t>
          </a:r>
          <a:endParaRPr lang="en-US" sz="1200" kern="1200" dirty="0">
            <a:latin typeface="Times New Roman" panose="02020603050405020304" pitchFamily="18" charset="0"/>
            <a:cs typeface="Times New Roman" panose="02020603050405020304" pitchFamily="18" charset="0"/>
          </a:endParaRPr>
        </a:p>
      </dsp:txBody>
      <dsp:txXfrm>
        <a:off x="4091781" y="474225"/>
        <a:ext cx="2109089" cy="1922862"/>
      </dsp:txXfrm>
    </dsp:sp>
    <dsp:sp modelId="{27C3B362-99BD-4C38-ACC9-74B208645614}">
      <dsp:nvSpPr>
        <dsp:cNvPr id="0" name=""/>
        <dsp:cNvSpPr/>
      </dsp:nvSpPr>
      <dsp:spPr>
        <a:xfrm rot="5368133">
          <a:off x="6566702" y="1250229"/>
          <a:ext cx="730000" cy="333630"/>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E79B461-8A2B-45B4-9FA9-D5199D85EF8F}">
      <dsp:nvSpPr>
        <dsp:cNvPr id="0" name=""/>
        <dsp:cNvSpPr/>
      </dsp:nvSpPr>
      <dsp:spPr>
        <a:xfrm>
          <a:off x="7651662" y="135334"/>
          <a:ext cx="3249333" cy="252407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Times New Roman" panose="02020603050405020304" pitchFamily="18" charset="0"/>
              <a:cs typeface="Times New Roman" panose="02020603050405020304" pitchFamily="18" charset="0"/>
            </a:rPr>
            <a:t>Confusion Matrix Insight</a:t>
          </a:r>
          <a:endParaRPr lang="en-US" sz="1400"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Correctly identified </a:t>
          </a:r>
          <a:r>
            <a:rPr lang="en-US" sz="1400" b="1" kern="1200" dirty="0">
              <a:latin typeface="Times New Roman" panose="02020603050405020304" pitchFamily="18" charset="0"/>
              <a:cs typeface="Times New Roman" panose="02020603050405020304" pitchFamily="18" charset="0"/>
            </a:rPr>
            <a:t>18 non-CKD</a:t>
          </a:r>
          <a:r>
            <a:rPr lang="en-US" sz="1400" kern="1200" dirty="0">
              <a:latin typeface="Times New Roman" panose="02020603050405020304" pitchFamily="18" charset="0"/>
              <a:cs typeface="Times New Roman" panose="02020603050405020304" pitchFamily="18" charset="0"/>
            </a:rPr>
            <a:t> and </a:t>
          </a:r>
          <a:r>
            <a:rPr lang="en-US" sz="1400" b="1" kern="1200" dirty="0">
              <a:latin typeface="Times New Roman" panose="02020603050405020304" pitchFamily="18" charset="0"/>
              <a:cs typeface="Times New Roman" panose="02020603050405020304" pitchFamily="18" charset="0"/>
            </a:rPr>
            <a:t>25 CKD</a:t>
          </a:r>
          <a:r>
            <a:rPr lang="en-US" sz="1400" kern="1200" dirty="0">
              <a:latin typeface="Times New Roman" panose="02020603050405020304" pitchFamily="18" charset="0"/>
              <a:cs typeface="Times New Roman" panose="02020603050405020304" pitchFamily="18" charset="0"/>
            </a:rPr>
            <a:t> patients.</a:t>
          </a: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Made </a:t>
          </a:r>
          <a:r>
            <a:rPr lang="en-US" sz="1400" b="1" kern="1200" dirty="0">
              <a:latin typeface="Times New Roman" panose="02020603050405020304" pitchFamily="18" charset="0"/>
              <a:cs typeface="Times New Roman" panose="02020603050405020304" pitchFamily="18" charset="0"/>
            </a:rPr>
            <a:t>4 false positive</a:t>
          </a:r>
          <a:r>
            <a:rPr lang="en-US" sz="1400" kern="1200" dirty="0">
              <a:latin typeface="Times New Roman" panose="02020603050405020304" pitchFamily="18" charset="0"/>
              <a:cs typeface="Times New Roman" panose="02020603050405020304" pitchFamily="18" charset="0"/>
            </a:rPr>
            <a:t> errors (predicted CKD when not present).</a:t>
          </a: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Made </a:t>
          </a:r>
          <a:r>
            <a:rPr lang="en-US" sz="1400" b="1" kern="1200" dirty="0">
              <a:latin typeface="Times New Roman" panose="02020603050405020304" pitchFamily="18" charset="0"/>
              <a:cs typeface="Times New Roman" panose="02020603050405020304" pitchFamily="18" charset="0"/>
            </a:rPr>
            <a:t>5 false negative</a:t>
          </a:r>
          <a:r>
            <a:rPr lang="en-US" sz="1400" kern="1200" dirty="0">
              <a:latin typeface="Times New Roman" panose="02020603050405020304" pitchFamily="18" charset="0"/>
              <a:cs typeface="Times New Roman" panose="02020603050405020304" pitchFamily="18" charset="0"/>
            </a:rPr>
            <a:t> errors (missed CKD patients).</a:t>
          </a:r>
        </a:p>
      </dsp:txBody>
      <dsp:txXfrm>
        <a:off x="8127516" y="504976"/>
        <a:ext cx="2297625" cy="1784789"/>
      </dsp:txXfrm>
    </dsp:sp>
    <dsp:sp modelId="{E2E6BBE3-9640-44C9-86F1-9CC7F7C61AAC}">
      <dsp:nvSpPr>
        <dsp:cNvPr id="0" name=""/>
        <dsp:cNvSpPr/>
      </dsp:nvSpPr>
      <dsp:spPr>
        <a:xfrm rot="10387839">
          <a:off x="9105016" y="2838314"/>
          <a:ext cx="730000" cy="333630"/>
        </a:xfrm>
        <a:prstGeom prst="triangle">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3B06CE2-557D-4AD7-A790-B6E86513F02F}">
      <dsp:nvSpPr>
        <dsp:cNvPr id="0" name=""/>
        <dsp:cNvSpPr/>
      </dsp:nvSpPr>
      <dsp:spPr>
        <a:xfrm>
          <a:off x="7742479" y="3330061"/>
          <a:ext cx="3916056" cy="317664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1" kern="1200" dirty="0"/>
            <a:t>Conclusion</a:t>
          </a:r>
          <a:r>
            <a:rPr lang="en-US" sz="1400" kern="1200" dirty="0"/>
            <a:t>:</a:t>
          </a:r>
          <a:br>
            <a:rPr lang="en-US" sz="1400" kern="1200" dirty="0"/>
          </a:br>
          <a:r>
            <a:rPr lang="en-US" sz="1400" kern="1200" dirty="0"/>
            <a:t>The model is more reliable in predicting </a:t>
          </a:r>
          <a:r>
            <a:rPr lang="en-US" sz="1400" b="1" kern="1200" dirty="0"/>
            <a:t>CKD</a:t>
          </a:r>
          <a:r>
            <a:rPr lang="en-US" sz="1400" kern="1200" dirty="0"/>
            <a:t> cases than non-CKD, which is desirable in healthcare since missing CKD (false negatives) can be riskier than over-predicting it. The results show that even with only </a:t>
          </a:r>
          <a:r>
            <a:rPr lang="en-US" sz="1400" b="1" kern="1200" dirty="0"/>
            <a:t>age, blood pressure, and serum creatinine</a:t>
          </a:r>
          <a:r>
            <a:rPr lang="en-US" sz="1400" kern="1200" dirty="0"/>
            <a:t>, the model can provide </a:t>
          </a:r>
          <a:r>
            <a:rPr lang="en-US" sz="1400" b="1" kern="1200" dirty="0"/>
            <a:t>clinically useful predictions</a:t>
          </a:r>
          <a:r>
            <a:rPr lang="en-US" sz="1400" kern="1200" dirty="0"/>
            <a:t>.</a:t>
          </a:r>
        </a:p>
      </dsp:txBody>
      <dsp:txXfrm>
        <a:off x="8315972" y="3795270"/>
        <a:ext cx="2769070" cy="224623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411311-4806-49B7-814F-96F328F7A45D}">
      <dsp:nvSpPr>
        <dsp:cNvPr id="0" name=""/>
        <dsp:cNvSpPr/>
      </dsp:nvSpPr>
      <dsp:spPr>
        <a:xfrm>
          <a:off x="4494198" y="1223491"/>
          <a:ext cx="1176189" cy="559759"/>
        </a:xfrm>
        <a:custGeom>
          <a:avLst/>
          <a:gdLst/>
          <a:ahLst/>
          <a:cxnLst/>
          <a:rect l="0" t="0" r="0" b="0"/>
          <a:pathLst>
            <a:path>
              <a:moveTo>
                <a:pt x="0" y="0"/>
              </a:moveTo>
              <a:lnTo>
                <a:pt x="0" y="381459"/>
              </a:lnTo>
              <a:lnTo>
                <a:pt x="1176189" y="381459"/>
              </a:lnTo>
              <a:lnTo>
                <a:pt x="1176189" y="559759"/>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F707C0-AA3A-472F-AFBF-26CF5AEA2C9E}">
      <dsp:nvSpPr>
        <dsp:cNvPr id="0" name=""/>
        <dsp:cNvSpPr/>
      </dsp:nvSpPr>
      <dsp:spPr>
        <a:xfrm>
          <a:off x="3318009" y="1223491"/>
          <a:ext cx="1176189" cy="559759"/>
        </a:xfrm>
        <a:custGeom>
          <a:avLst/>
          <a:gdLst/>
          <a:ahLst/>
          <a:cxnLst/>
          <a:rect l="0" t="0" r="0" b="0"/>
          <a:pathLst>
            <a:path>
              <a:moveTo>
                <a:pt x="1176189" y="0"/>
              </a:moveTo>
              <a:lnTo>
                <a:pt x="1176189" y="381459"/>
              </a:lnTo>
              <a:lnTo>
                <a:pt x="0" y="381459"/>
              </a:lnTo>
              <a:lnTo>
                <a:pt x="0" y="559759"/>
              </a:lnTo>
            </a:path>
          </a:pathLst>
        </a:custGeom>
        <a:noFill/>
        <a:ln w="1905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59E4B81-AFFF-4FDA-964A-5B5F743BE2E1}">
      <dsp:nvSpPr>
        <dsp:cNvPr id="0" name=""/>
        <dsp:cNvSpPr/>
      </dsp:nvSpPr>
      <dsp:spPr>
        <a:xfrm>
          <a:off x="3531862" y="1323"/>
          <a:ext cx="1924673" cy="12221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CD7E0C-83E9-41DD-9320-53C146C1AE60}">
      <dsp:nvSpPr>
        <dsp:cNvPr id="0" name=""/>
        <dsp:cNvSpPr/>
      </dsp:nvSpPr>
      <dsp:spPr>
        <a:xfrm>
          <a:off x="3745714" y="204483"/>
          <a:ext cx="1924673" cy="122216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Features Used:</a:t>
          </a:r>
          <a:endParaRPr lang="en-US" sz="2200" kern="1200"/>
        </a:p>
      </dsp:txBody>
      <dsp:txXfrm>
        <a:off x="3781510" y="240279"/>
        <a:ext cx="1853081" cy="1150575"/>
      </dsp:txXfrm>
    </dsp:sp>
    <dsp:sp modelId="{61A0991E-051C-4CDB-92B2-57C92D7BB018}">
      <dsp:nvSpPr>
        <dsp:cNvPr id="0" name=""/>
        <dsp:cNvSpPr/>
      </dsp:nvSpPr>
      <dsp:spPr>
        <a:xfrm>
          <a:off x="2355672" y="1783250"/>
          <a:ext cx="1924673" cy="122216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E16CD1-12A3-4F33-80F4-10C66002DF85}">
      <dsp:nvSpPr>
        <dsp:cNvPr id="0" name=""/>
        <dsp:cNvSpPr/>
      </dsp:nvSpPr>
      <dsp:spPr>
        <a:xfrm>
          <a:off x="2569525" y="1986410"/>
          <a:ext cx="1924673" cy="1222167"/>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a:t>Blood Pressure (bp)</a:t>
          </a:r>
          <a:endParaRPr lang="en-US" sz="2200" kern="1200" dirty="0"/>
        </a:p>
      </dsp:txBody>
      <dsp:txXfrm>
        <a:off x="2605321" y="2022206"/>
        <a:ext cx="1853081" cy="1150575"/>
      </dsp:txXfrm>
    </dsp:sp>
    <dsp:sp modelId="{85BC618A-80B3-40C4-AFD1-775BE0652309}">
      <dsp:nvSpPr>
        <dsp:cNvPr id="0" name=""/>
        <dsp:cNvSpPr/>
      </dsp:nvSpPr>
      <dsp:spPr>
        <a:xfrm>
          <a:off x="4708051" y="1783250"/>
          <a:ext cx="1924673" cy="122216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FC5432-9B3A-4685-929A-ABE266ECE4B5}">
      <dsp:nvSpPr>
        <dsp:cNvPr id="0" name=""/>
        <dsp:cNvSpPr/>
      </dsp:nvSpPr>
      <dsp:spPr>
        <a:xfrm>
          <a:off x="4921904" y="1986410"/>
          <a:ext cx="1924673" cy="1222167"/>
        </a:xfrm>
        <a:prstGeom prst="roundRect">
          <a:avLst>
            <a:gd name="adj" fmla="val 1000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Serum Creatinine (sc)</a:t>
          </a:r>
          <a:endParaRPr lang="en-US" sz="2200" kern="1200"/>
        </a:p>
      </dsp:txBody>
      <dsp:txXfrm>
        <a:off x="4957700" y="2022206"/>
        <a:ext cx="1853081" cy="1150575"/>
      </dsp:txXfrm>
    </dsp:sp>
    <dsp:sp modelId="{A86A0464-ADE4-4F1E-A1CB-63C73468E658}">
      <dsp:nvSpPr>
        <dsp:cNvPr id="0" name=""/>
        <dsp:cNvSpPr/>
      </dsp:nvSpPr>
      <dsp:spPr>
        <a:xfrm>
          <a:off x="5884241" y="1323"/>
          <a:ext cx="1924673" cy="122216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328953-8E8F-4D86-9937-8D7F3D7446E6}">
      <dsp:nvSpPr>
        <dsp:cNvPr id="0" name=""/>
        <dsp:cNvSpPr/>
      </dsp:nvSpPr>
      <dsp:spPr>
        <a:xfrm>
          <a:off x="6098093" y="204483"/>
          <a:ext cx="1924673" cy="122216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a:t>Target Column:</a:t>
          </a:r>
          <a:r>
            <a:rPr lang="en-US" sz="2200" kern="1200"/>
            <a:t> classification</a:t>
          </a:r>
        </a:p>
      </dsp:txBody>
      <dsp:txXfrm>
        <a:off x="6133889" y="240279"/>
        <a:ext cx="1853081" cy="115057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D5302D-9EFD-461F-8942-DFB7D1933DDA}">
      <dsp:nvSpPr>
        <dsp:cNvPr id="0" name=""/>
        <dsp:cNvSpPr/>
      </dsp:nvSpPr>
      <dsp:spPr>
        <a:xfrm>
          <a:off x="0" y="569"/>
          <a:ext cx="64373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115C0E-3840-46DE-B39D-431AAE3BF564}">
      <dsp:nvSpPr>
        <dsp:cNvPr id="0" name=""/>
        <dsp:cNvSpPr/>
      </dsp:nvSpPr>
      <dsp:spPr>
        <a:xfrm>
          <a:off x="0" y="569"/>
          <a:ext cx="6437309" cy="932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latin typeface="Times New Roman" panose="02020603050405020304" pitchFamily="18" charset="0"/>
              <a:cs typeface="Times New Roman" panose="02020603050405020304" pitchFamily="18" charset="0"/>
            </a:rPr>
            <a:t>The </a:t>
          </a:r>
          <a:r>
            <a:rPr lang="en-US" sz="1600" b="1" i="0" kern="1200" baseline="0" dirty="0">
              <a:latin typeface="Times New Roman" panose="02020603050405020304" pitchFamily="18" charset="0"/>
              <a:cs typeface="Times New Roman" panose="02020603050405020304" pitchFamily="18" charset="0"/>
            </a:rPr>
            <a:t>Linear SVM model</a:t>
          </a:r>
          <a:r>
            <a:rPr lang="en-US" sz="1600" b="0" i="0" kern="1200" baseline="0" dirty="0">
              <a:latin typeface="Times New Roman" panose="02020603050405020304" pitchFamily="18" charset="0"/>
              <a:cs typeface="Times New Roman" panose="02020603050405020304" pitchFamily="18" charset="0"/>
            </a:rPr>
            <a:t> achieved the </a:t>
          </a:r>
          <a:r>
            <a:rPr lang="en-US" sz="1600" b="1" i="0" kern="1200" baseline="0" dirty="0">
              <a:latin typeface="Times New Roman" panose="02020603050405020304" pitchFamily="18" charset="0"/>
              <a:cs typeface="Times New Roman" panose="02020603050405020304" pitchFamily="18" charset="0"/>
            </a:rPr>
            <a:t>highest accuracy (79.7%)</a:t>
          </a:r>
          <a:r>
            <a:rPr lang="en-US" sz="1600" b="0" i="0" kern="1200" baseline="0" dirty="0">
              <a:latin typeface="Times New Roman" panose="02020603050405020304" pitchFamily="18" charset="0"/>
              <a:cs typeface="Times New Roman" panose="02020603050405020304" pitchFamily="18" charset="0"/>
            </a:rPr>
            <a:t>, outperforming all other kernels.</a:t>
          </a:r>
          <a:endParaRPr lang="en-US" sz="1600" kern="1200" dirty="0">
            <a:latin typeface="Times New Roman" panose="02020603050405020304" pitchFamily="18" charset="0"/>
            <a:cs typeface="Times New Roman" panose="02020603050405020304" pitchFamily="18" charset="0"/>
          </a:endParaRPr>
        </a:p>
      </dsp:txBody>
      <dsp:txXfrm>
        <a:off x="0" y="569"/>
        <a:ext cx="6437309" cy="932335"/>
      </dsp:txXfrm>
    </dsp:sp>
    <dsp:sp modelId="{0F1C7FCC-4556-4035-B4FF-0AEB18705125}">
      <dsp:nvSpPr>
        <dsp:cNvPr id="0" name=""/>
        <dsp:cNvSpPr/>
      </dsp:nvSpPr>
      <dsp:spPr>
        <a:xfrm>
          <a:off x="0" y="932904"/>
          <a:ext cx="64373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1A017A-39E3-4687-8D52-B8A9DF9F2F4C}">
      <dsp:nvSpPr>
        <dsp:cNvPr id="0" name=""/>
        <dsp:cNvSpPr/>
      </dsp:nvSpPr>
      <dsp:spPr>
        <a:xfrm>
          <a:off x="0" y="932904"/>
          <a:ext cx="6437309" cy="932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latin typeface="Times New Roman" panose="02020603050405020304" pitchFamily="18" charset="0"/>
              <a:cs typeface="Times New Roman" panose="02020603050405020304" pitchFamily="18" charset="0"/>
            </a:rPr>
            <a:t>The </a:t>
          </a:r>
          <a:r>
            <a:rPr lang="en-US" sz="1600" b="1" i="0" kern="1200" baseline="0" dirty="0">
              <a:latin typeface="Times New Roman" panose="02020603050405020304" pitchFamily="18" charset="0"/>
              <a:cs typeface="Times New Roman" panose="02020603050405020304" pitchFamily="18" charset="0"/>
            </a:rPr>
            <a:t>Polynomial (70.9%)</a:t>
          </a:r>
          <a:r>
            <a:rPr lang="en-US" sz="1600" b="0" i="0" kern="1200" baseline="0" dirty="0">
              <a:latin typeface="Times New Roman" panose="02020603050405020304" pitchFamily="18" charset="0"/>
              <a:cs typeface="Times New Roman" panose="02020603050405020304" pitchFamily="18" charset="0"/>
            </a:rPr>
            <a:t> and </a:t>
          </a:r>
          <a:r>
            <a:rPr lang="en-US" sz="1600" b="1" i="0" kern="1200" baseline="0" dirty="0">
              <a:latin typeface="Times New Roman" panose="02020603050405020304" pitchFamily="18" charset="0"/>
              <a:cs typeface="Times New Roman" panose="02020603050405020304" pitchFamily="18" charset="0"/>
            </a:rPr>
            <a:t>RBF (75.9%)</a:t>
          </a:r>
          <a:r>
            <a:rPr lang="en-US" sz="1600" b="0" i="0" kern="1200" baseline="0" dirty="0">
              <a:latin typeface="Times New Roman" panose="02020603050405020304" pitchFamily="18" charset="0"/>
              <a:cs typeface="Times New Roman" panose="02020603050405020304" pitchFamily="18" charset="0"/>
            </a:rPr>
            <a:t> kernels showed moderate performance, while </a:t>
          </a:r>
          <a:r>
            <a:rPr lang="en-US" sz="1600" b="1" i="0" kern="1200" baseline="0" dirty="0">
              <a:latin typeface="Times New Roman" panose="02020603050405020304" pitchFamily="18" charset="0"/>
              <a:cs typeface="Times New Roman" panose="02020603050405020304" pitchFamily="18" charset="0"/>
            </a:rPr>
            <a:t>Sigmoid (54.4%)</a:t>
          </a:r>
          <a:r>
            <a:rPr lang="en-US" sz="1600" b="0" i="0" kern="1200" baseline="0" dirty="0">
              <a:latin typeface="Times New Roman" panose="02020603050405020304" pitchFamily="18" charset="0"/>
              <a:cs typeface="Times New Roman" panose="02020603050405020304" pitchFamily="18" charset="0"/>
            </a:rPr>
            <a:t> performed poorly, indicating it was not well-suited for this dataset.</a:t>
          </a:r>
          <a:endParaRPr lang="en-US" sz="1600" kern="1200" dirty="0">
            <a:latin typeface="Times New Roman" panose="02020603050405020304" pitchFamily="18" charset="0"/>
            <a:cs typeface="Times New Roman" panose="02020603050405020304" pitchFamily="18" charset="0"/>
          </a:endParaRPr>
        </a:p>
      </dsp:txBody>
      <dsp:txXfrm>
        <a:off x="0" y="932904"/>
        <a:ext cx="6437309" cy="932335"/>
      </dsp:txXfrm>
    </dsp:sp>
    <dsp:sp modelId="{3D90FFFF-396F-4C7B-85E9-66E47C503716}">
      <dsp:nvSpPr>
        <dsp:cNvPr id="0" name=""/>
        <dsp:cNvSpPr/>
      </dsp:nvSpPr>
      <dsp:spPr>
        <a:xfrm>
          <a:off x="0" y="1865239"/>
          <a:ext cx="64373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21AC63-A221-42E5-8959-3877F67057D6}">
      <dsp:nvSpPr>
        <dsp:cNvPr id="0" name=""/>
        <dsp:cNvSpPr/>
      </dsp:nvSpPr>
      <dsp:spPr>
        <a:xfrm>
          <a:off x="0" y="1865239"/>
          <a:ext cx="6437309" cy="932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baseline="0" dirty="0">
              <a:latin typeface="Times New Roman" panose="02020603050405020304" pitchFamily="18" charset="0"/>
              <a:cs typeface="Times New Roman" panose="02020603050405020304" pitchFamily="18" charset="0"/>
            </a:rPr>
            <a:t>The </a:t>
          </a:r>
          <a:r>
            <a:rPr lang="en-US" sz="1600" b="1" i="0" kern="1200" baseline="0" dirty="0">
              <a:latin typeface="Times New Roman" panose="02020603050405020304" pitchFamily="18" charset="0"/>
              <a:cs typeface="Times New Roman" panose="02020603050405020304" pitchFamily="18" charset="0"/>
            </a:rPr>
            <a:t>Linear kernel’s strong performance</a:t>
          </a:r>
          <a:r>
            <a:rPr lang="en-US" sz="1600" b="0" i="0" kern="1200" baseline="0" dirty="0">
              <a:latin typeface="Times New Roman" panose="02020603050405020304" pitchFamily="18" charset="0"/>
              <a:cs typeface="Times New Roman" panose="02020603050405020304" pitchFamily="18" charset="0"/>
            </a:rPr>
            <a:t> suggests that the relationship between </a:t>
          </a:r>
          <a:r>
            <a:rPr lang="en-US" sz="1600" b="1" i="0" kern="1200" baseline="0" dirty="0">
              <a:latin typeface="Times New Roman" panose="02020603050405020304" pitchFamily="18" charset="0"/>
              <a:cs typeface="Times New Roman" panose="02020603050405020304" pitchFamily="18" charset="0"/>
            </a:rPr>
            <a:t>blood pressure, serum creatinine, and CKD classification</a:t>
          </a:r>
          <a:r>
            <a:rPr lang="en-US" sz="1600" b="0" i="0" kern="1200" baseline="0" dirty="0">
              <a:latin typeface="Times New Roman" panose="02020603050405020304" pitchFamily="18" charset="0"/>
              <a:cs typeface="Times New Roman" panose="02020603050405020304" pitchFamily="18" charset="0"/>
            </a:rPr>
            <a:t> is approximately </a:t>
          </a:r>
          <a:r>
            <a:rPr lang="en-US" sz="1600" b="1" i="0" kern="1200" baseline="0" dirty="0">
              <a:latin typeface="Times New Roman" panose="02020603050405020304" pitchFamily="18" charset="0"/>
              <a:cs typeface="Times New Roman" panose="02020603050405020304" pitchFamily="18" charset="0"/>
            </a:rPr>
            <a:t>linearly separable</a:t>
          </a:r>
          <a:r>
            <a:rPr lang="en-US" sz="1600" b="0" i="0" kern="1200" baseline="0" dirty="0">
              <a:latin typeface="Times New Roman" panose="02020603050405020304" pitchFamily="18" charset="0"/>
              <a:cs typeface="Times New Roman" panose="02020603050405020304" pitchFamily="18" charset="0"/>
            </a:rPr>
            <a:t>.</a:t>
          </a:r>
          <a:endParaRPr lang="en-US" sz="1600" kern="1200" dirty="0">
            <a:latin typeface="Times New Roman" panose="02020603050405020304" pitchFamily="18" charset="0"/>
            <a:cs typeface="Times New Roman" panose="02020603050405020304" pitchFamily="18" charset="0"/>
          </a:endParaRPr>
        </a:p>
      </dsp:txBody>
      <dsp:txXfrm>
        <a:off x="0" y="1865239"/>
        <a:ext cx="6437309" cy="932335"/>
      </dsp:txXfrm>
    </dsp:sp>
    <dsp:sp modelId="{7CFE9407-3A4C-4AD6-9D3B-5C464D372CF0}">
      <dsp:nvSpPr>
        <dsp:cNvPr id="0" name=""/>
        <dsp:cNvSpPr/>
      </dsp:nvSpPr>
      <dsp:spPr>
        <a:xfrm>
          <a:off x="0" y="2797574"/>
          <a:ext cx="64373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D6100B-33FA-458B-9003-A3757A7042D1}">
      <dsp:nvSpPr>
        <dsp:cNvPr id="0" name=""/>
        <dsp:cNvSpPr/>
      </dsp:nvSpPr>
      <dsp:spPr>
        <a:xfrm>
          <a:off x="0" y="2797574"/>
          <a:ext cx="1287461" cy="932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0" i="0" kern="1200" baseline="0" dirty="0">
              <a:latin typeface="Times New Roman" panose="02020603050405020304" pitchFamily="18" charset="0"/>
              <a:cs typeface="Times New Roman" panose="02020603050405020304" pitchFamily="18" charset="0"/>
            </a:rPr>
            <a:t>From the </a:t>
          </a:r>
          <a:r>
            <a:rPr lang="en-US" sz="1800" b="1" i="0" kern="1200" baseline="0" dirty="0">
              <a:latin typeface="Times New Roman" panose="02020603050405020304" pitchFamily="18" charset="0"/>
              <a:cs typeface="Times New Roman" panose="02020603050405020304" pitchFamily="18" charset="0"/>
            </a:rPr>
            <a:t>confusion matrix</a:t>
          </a:r>
          <a:r>
            <a:rPr lang="en-US" sz="1800" b="0" i="0" kern="1200" baseline="0" dirty="0">
              <a:latin typeface="Times New Roman" panose="02020603050405020304" pitchFamily="18" charset="0"/>
              <a:cs typeface="Times New Roman" panose="02020603050405020304" pitchFamily="18" charset="0"/>
            </a:rPr>
            <a:t>:</a:t>
          </a:r>
          <a:endParaRPr lang="en-US" sz="1800" kern="1200" dirty="0">
            <a:latin typeface="Times New Roman" panose="02020603050405020304" pitchFamily="18" charset="0"/>
            <a:cs typeface="Times New Roman" panose="02020603050405020304" pitchFamily="18" charset="0"/>
          </a:endParaRPr>
        </a:p>
      </dsp:txBody>
      <dsp:txXfrm>
        <a:off x="0" y="2797574"/>
        <a:ext cx="1287461" cy="932335"/>
      </dsp:txXfrm>
    </dsp:sp>
    <dsp:sp modelId="{488B4B6A-404F-4F5E-9C8F-82D566D067CB}">
      <dsp:nvSpPr>
        <dsp:cNvPr id="0" name=""/>
        <dsp:cNvSpPr/>
      </dsp:nvSpPr>
      <dsp:spPr>
        <a:xfrm>
          <a:off x="1384021" y="2819244"/>
          <a:ext cx="5053287" cy="433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1" i="0" kern="1200" baseline="0" dirty="0">
              <a:latin typeface="Times New Roman" panose="02020603050405020304" pitchFamily="18" charset="0"/>
              <a:cs typeface="Times New Roman" panose="02020603050405020304" pitchFamily="18" charset="0"/>
            </a:rPr>
            <a:t>True Negatives (30)</a:t>
          </a:r>
          <a:r>
            <a:rPr lang="en-US" sz="1400" b="0" i="0" kern="1200" baseline="0" dirty="0">
              <a:latin typeface="Times New Roman" panose="02020603050405020304" pitchFamily="18" charset="0"/>
              <a:cs typeface="Times New Roman" panose="02020603050405020304" pitchFamily="18" charset="0"/>
            </a:rPr>
            <a:t> and </a:t>
          </a:r>
          <a:r>
            <a:rPr lang="en-US" sz="1400" b="1" i="0" kern="1200" baseline="0" dirty="0">
              <a:latin typeface="Times New Roman" panose="02020603050405020304" pitchFamily="18" charset="0"/>
              <a:cs typeface="Times New Roman" panose="02020603050405020304" pitchFamily="18" charset="0"/>
            </a:rPr>
            <a:t>True Positives (33)</a:t>
          </a:r>
          <a:r>
            <a:rPr lang="en-US" sz="1400" b="0" i="0" kern="1200" baseline="0" dirty="0">
              <a:latin typeface="Times New Roman" panose="02020603050405020304" pitchFamily="18" charset="0"/>
              <a:cs typeface="Times New Roman" panose="02020603050405020304" pitchFamily="18" charset="0"/>
            </a:rPr>
            <a:t> indicate reliable classification overall.</a:t>
          </a:r>
          <a:endParaRPr lang="en-US" sz="1400" kern="1200" dirty="0">
            <a:latin typeface="Times New Roman" panose="02020603050405020304" pitchFamily="18" charset="0"/>
            <a:cs typeface="Times New Roman" panose="02020603050405020304" pitchFamily="18" charset="0"/>
          </a:endParaRPr>
        </a:p>
      </dsp:txBody>
      <dsp:txXfrm>
        <a:off x="1384021" y="2819244"/>
        <a:ext cx="5053287" cy="433390"/>
      </dsp:txXfrm>
    </dsp:sp>
    <dsp:sp modelId="{8B156A16-510C-4408-8C5D-9D00A4FAEAFE}">
      <dsp:nvSpPr>
        <dsp:cNvPr id="0" name=""/>
        <dsp:cNvSpPr/>
      </dsp:nvSpPr>
      <dsp:spPr>
        <a:xfrm>
          <a:off x="1287461" y="3252634"/>
          <a:ext cx="514984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18AE54-D910-43DC-9F94-C16BA9096F1E}">
      <dsp:nvSpPr>
        <dsp:cNvPr id="0" name=""/>
        <dsp:cNvSpPr/>
      </dsp:nvSpPr>
      <dsp:spPr>
        <a:xfrm>
          <a:off x="1384021" y="3274303"/>
          <a:ext cx="5053287" cy="4333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US" sz="1400" b="0" i="0" kern="1200" baseline="0" dirty="0">
              <a:latin typeface="Times New Roman" panose="02020603050405020304" pitchFamily="18" charset="0"/>
              <a:cs typeface="Times New Roman" panose="02020603050405020304" pitchFamily="18" charset="0"/>
            </a:rPr>
            <a:t>The model </a:t>
          </a:r>
          <a:r>
            <a:rPr lang="en-US" sz="1400" b="1" i="0" kern="1200" baseline="0" dirty="0">
              <a:latin typeface="Times New Roman" panose="02020603050405020304" pitchFamily="18" charset="0"/>
              <a:cs typeface="Times New Roman" panose="02020603050405020304" pitchFamily="18" charset="0"/>
            </a:rPr>
            <a:t>missed 16 CKD cases</a:t>
          </a:r>
          <a:r>
            <a:rPr lang="en-US" sz="1400" b="0" i="0" kern="1200" baseline="0" dirty="0">
              <a:latin typeface="Times New Roman" panose="02020603050405020304" pitchFamily="18" charset="0"/>
              <a:cs typeface="Times New Roman" panose="02020603050405020304" pitchFamily="18" charset="0"/>
            </a:rPr>
            <a:t> (false negatives), meaning it sometimes predicted “non-CKD” for patients who had CKD.</a:t>
          </a:r>
          <a:endParaRPr lang="en-US" sz="1400" kern="1200" dirty="0">
            <a:latin typeface="Times New Roman" panose="02020603050405020304" pitchFamily="18" charset="0"/>
            <a:cs typeface="Times New Roman" panose="02020603050405020304" pitchFamily="18" charset="0"/>
          </a:endParaRPr>
        </a:p>
      </dsp:txBody>
      <dsp:txXfrm>
        <a:off x="1384021" y="3274303"/>
        <a:ext cx="5053287" cy="433390"/>
      </dsp:txXfrm>
    </dsp:sp>
    <dsp:sp modelId="{D2717F13-8408-4728-B3B3-CF0633D218CE}">
      <dsp:nvSpPr>
        <dsp:cNvPr id="0" name=""/>
        <dsp:cNvSpPr/>
      </dsp:nvSpPr>
      <dsp:spPr>
        <a:xfrm>
          <a:off x="1287461" y="3707693"/>
          <a:ext cx="5149847" cy="0"/>
        </a:xfrm>
        <a:prstGeom prst="line">
          <a:avLst/>
        </a:prstGeom>
        <a:solidFill>
          <a:schemeClr val="accent1">
            <a:hueOff val="0"/>
            <a:satOff val="0"/>
            <a:lumOff val="0"/>
            <a:alphaOff val="0"/>
          </a:schemeClr>
        </a:solidFill>
        <a:ln w="1905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7F3D23-F189-4E8F-A0B2-06DD4E95A281}">
      <dsp:nvSpPr>
        <dsp:cNvPr id="0" name=""/>
        <dsp:cNvSpPr/>
      </dsp:nvSpPr>
      <dsp:spPr>
        <a:xfrm>
          <a:off x="0" y="3729909"/>
          <a:ext cx="6437309"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22B4DA-BA4B-45D8-97C4-DB99566B3D19}">
      <dsp:nvSpPr>
        <dsp:cNvPr id="0" name=""/>
        <dsp:cNvSpPr/>
      </dsp:nvSpPr>
      <dsp:spPr>
        <a:xfrm>
          <a:off x="0" y="3730478"/>
          <a:ext cx="6437309" cy="9323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i="0" kern="1200" baseline="0" dirty="0">
              <a:latin typeface="Times New Roman" panose="02020603050405020304" pitchFamily="18" charset="0"/>
              <a:cs typeface="Times New Roman" panose="02020603050405020304" pitchFamily="18" charset="0"/>
            </a:rPr>
            <a:t>Precision (1.00)</a:t>
          </a:r>
          <a:r>
            <a:rPr lang="en-US" sz="1600" b="0" i="0" kern="1200" baseline="0" dirty="0">
              <a:latin typeface="Times New Roman" panose="02020603050405020304" pitchFamily="18" charset="0"/>
              <a:cs typeface="Times New Roman" panose="02020603050405020304" pitchFamily="18" charset="0"/>
            </a:rPr>
            <a:t> for CKD detection shows the model rarely mislabels non-CKD patients as CKD, while </a:t>
          </a:r>
          <a:r>
            <a:rPr lang="en-US" sz="1600" b="1" i="0" kern="1200" baseline="0" dirty="0">
              <a:latin typeface="Times New Roman" panose="02020603050405020304" pitchFamily="18" charset="0"/>
              <a:cs typeface="Times New Roman" panose="02020603050405020304" pitchFamily="18" charset="0"/>
            </a:rPr>
            <a:t>recall (0.673)</a:t>
          </a:r>
          <a:r>
            <a:rPr lang="en-US" sz="1600" b="0" i="0" kern="1200" baseline="0" dirty="0">
              <a:latin typeface="Times New Roman" panose="02020603050405020304" pitchFamily="18" charset="0"/>
              <a:cs typeface="Times New Roman" panose="02020603050405020304" pitchFamily="18" charset="0"/>
            </a:rPr>
            <a:t> indicates it could still miss some CKD cases.</a:t>
          </a:r>
          <a:endParaRPr lang="en-US" sz="1600" kern="1200" dirty="0">
            <a:latin typeface="Times New Roman" panose="02020603050405020304" pitchFamily="18" charset="0"/>
            <a:cs typeface="Times New Roman" panose="02020603050405020304" pitchFamily="18" charset="0"/>
          </a:endParaRPr>
        </a:p>
      </dsp:txBody>
      <dsp:txXfrm>
        <a:off x="0" y="3730478"/>
        <a:ext cx="6437309" cy="9323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B55F1-ECED-4249-B0B4-C43BE894EE42}">
      <dsp:nvSpPr>
        <dsp:cNvPr id="0" name=""/>
        <dsp:cNvSpPr/>
      </dsp:nvSpPr>
      <dsp:spPr>
        <a:xfrm>
          <a:off x="1283" y="507350"/>
          <a:ext cx="4505585" cy="286104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B5903AF7-519B-4987-B228-E6BED276F9CE}">
      <dsp:nvSpPr>
        <dsp:cNvPr id="0" name=""/>
        <dsp:cNvSpPr/>
      </dsp:nvSpPr>
      <dsp:spPr>
        <a:xfrm>
          <a:off x="501904" y="982940"/>
          <a:ext cx="4505585" cy="2861046"/>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b="0" i="0" kern="1200" baseline="0"/>
            <a:t>Features used: </a:t>
          </a:r>
          <a:r>
            <a:rPr lang="en-US" sz="4200" b="1" i="0" kern="1200" baseline="0"/>
            <a:t>bp</a:t>
          </a:r>
          <a:r>
            <a:rPr lang="en-US" sz="4200" b="0" i="0" kern="1200" baseline="0"/>
            <a:t>, </a:t>
          </a:r>
          <a:r>
            <a:rPr lang="en-US" sz="4200" b="1" i="0" kern="1200" baseline="0"/>
            <a:t>sc</a:t>
          </a:r>
          <a:r>
            <a:rPr lang="en-US" sz="4200" b="0" i="0" kern="1200" baseline="0"/>
            <a:t>, and </a:t>
          </a:r>
          <a:r>
            <a:rPr lang="en-US" sz="4200" b="1" i="0" kern="1200" baseline="0"/>
            <a:t>age</a:t>
          </a:r>
          <a:endParaRPr lang="en-US" sz="4200" kern="1200"/>
        </a:p>
      </dsp:txBody>
      <dsp:txXfrm>
        <a:off x="585701" y="1066737"/>
        <a:ext cx="4337991" cy="2693452"/>
      </dsp:txXfrm>
    </dsp:sp>
    <dsp:sp modelId="{ED3F4D70-6117-4A80-B362-D8B849BA325C}">
      <dsp:nvSpPr>
        <dsp:cNvPr id="0" name=""/>
        <dsp:cNvSpPr/>
      </dsp:nvSpPr>
      <dsp:spPr>
        <a:xfrm>
          <a:off x="5508110" y="507350"/>
          <a:ext cx="4505585" cy="286104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699D43E-4FB3-4D8B-9A34-3C774AAEBE1C}">
      <dsp:nvSpPr>
        <dsp:cNvPr id="0" name=""/>
        <dsp:cNvSpPr/>
      </dsp:nvSpPr>
      <dsp:spPr>
        <a:xfrm>
          <a:off x="6008730" y="982940"/>
          <a:ext cx="4505585" cy="2861046"/>
        </a:xfrm>
        <a:prstGeom prst="roundRect">
          <a:avLst>
            <a:gd name="adj" fmla="val 10000"/>
          </a:avLst>
        </a:prstGeom>
        <a:solidFill>
          <a:schemeClr val="lt1">
            <a:alpha val="90000"/>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b="0" i="0" kern="1200" baseline="0"/>
            <a:t>Target column: </a:t>
          </a:r>
          <a:r>
            <a:rPr lang="en-US" sz="4200" b="1" i="0" kern="1200" baseline="0"/>
            <a:t>classification (CKD vs Non-CKD)</a:t>
          </a:r>
          <a:endParaRPr lang="en-US" sz="4200" kern="1200"/>
        </a:p>
      </dsp:txBody>
      <dsp:txXfrm>
        <a:off x="6092527" y="1066737"/>
        <a:ext cx="4337991" cy="26934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47D95D-6223-4060-8D49-E9CC5A912957}">
      <dsp:nvSpPr>
        <dsp:cNvPr id="0" name=""/>
        <dsp:cNvSpPr/>
      </dsp:nvSpPr>
      <dsp:spPr>
        <a:xfrm>
          <a:off x="158748" y="526512"/>
          <a:ext cx="1482600" cy="14826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4D94BC-43A0-4A3B-9120-E472F3530AA3}">
      <dsp:nvSpPr>
        <dsp:cNvPr id="0" name=""/>
        <dsp:cNvSpPr/>
      </dsp:nvSpPr>
      <dsp:spPr>
        <a:xfrm>
          <a:off x="470094" y="837858"/>
          <a:ext cx="859908" cy="8599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234E5F-574A-4DBC-97C0-FC89AB5829D2}">
      <dsp:nvSpPr>
        <dsp:cNvPr id="0" name=""/>
        <dsp:cNvSpPr/>
      </dsp:nvSpPr>
      <dsp:spPr>
        <a:xfrm>
          <a:off x="1729027" y="401062"/>
          <a:ext cx="3954742" cy="1733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Accuracy Interpretation:</a:t>
          </a:r>
          <a:br>
            <a:rPr lang="en-US" sz="1600" kern="1200" dirty="0">
              <a:latin typeface="Times New Roman" panose="02020603050405020304" pitchFamily="18" charset="0"/>
              <a:cs typeface="Times New Roman" panose="02020603050405020304" pitchFamily="18" charset="0"/>
            </a:rPr>
          </a:br>
          <a:r>
            <a:rPr lang="en-US" sz="1600" kern="1200" dirty="0">
              <a:latin typeface="Times New Roman" panose="02020603050405020304" pitchFamily="18" charset="0"/>
              <a:cs typeface="Times New Roman" panose="02020603050405020304" pitchFamily="18" charset="0"/>
            </a:rPr>
            <a:t>The Random Forest model achieved an </a:t>
          </a:r>
          <a:r>
            <a:rPr lang="en-US" sz="1600" b="1" kern="1200" dirty="0">
              <a:latin typeface="Times New Roman" panose="02020603050405020304" pitchFamily="18" charset="0"/>
              <a:cs typeface="Times New Roman" panose="02020603050405020304" pitchFamily="18" charset="0"/>
            </a:rPr>
            <a:t>accuracy of 96.2%</a:t>
          </a:r>
          <a:r>
            <a:rPr lang="en-US" sz="1600" kern="1200" dirty="0">
              <a:latin typeface="Times New Roman" panose="02020603050405020304" pitchFamily="18" charset="0"/>
              <a:cs typeface="Times New Roman" panose="02020603050405020304" pitchFamily="18" charset="0"/>
            </a:rPr>
            <a:t>, showing excellent predictive capability in identifying CKD and non-CKD patients. This high score indicates the model generalizes well and effectively captures the key relationships between clinical variables and kidney disease outcomes.</a:t>
          </a:r>
        </a:p>
      </dsp:txBody>
      <dsp:txXfrm>
        <a:off x="1729027" y="401062"/>
        <a:ext cx="3954742" cy="1733500"/>
      </dsp:txXfrm>
    </dsp:sp>
    <dsp:sp modelId="{7B805D3A-E5F8-4AC6-AE10-7F6C3F4D3439}">
      <dsp:nvSpPr>
        <dsp:cNvPr id="0" name=""/>
        <dsp:cNvSpPr/>
      </dsp:nvSpPr>
      <dsp:spPr>
        <a:xfrm>
          <a:off x="5987901" y="560048"/>
          <a:ext cx="1482600" cy="14826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040253-C39B-4972-926D-AB397A4BD126}">
      <dsp:nvSpPr>
        <dsp:cNvPr id="0" name=""/>
        <dsp:cNvSpPr/>
      </dsp:nvSpPr>
      <dsp:spPr>
        <a:xfrm>
          <a:off x="6289408" y="847687"/>
          <a:ext cx="859908" cy="8599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18F5B1-F46D-4B60-BA54-5E952ED35928}">
      <dsp:nvSpPr>
        <dsp:cNvPr id="0" name=""/>
        <dsp:cNvSpPr/>
      </dsp:nvSpPr>
      <dsp:spPr>
        <a:xfrm>
          <a:off x="7655248" y="90650"/>
          <a:ext cx="4153870" cy="23038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Model Explanation:</a:t>
          </a:r>
          <a:br>
            <a:rPr lang="en-US" sz="1600" kern="1200" dirty="0">
              <a:latin typeface="Times New Roman" panose="02020603050405020304" pitchFamily="18" charset="0"/>
              <a:cs typeface="Times New Roman" panose="02020603050405020304" pitchFamily="18" charset="0"/>
            </a:rPr>
          </a:br>
          <a:r>
            <a:rPr lang="en-US" sz="1600" kern="1200" dirty="0">
              <a:latin typeface="Times New Roman" panose="02020603050405020304" pitchFamily="18" charset="0"/>
              <a:cs typeface="Times New Roman" panose="02020603050405020304" pitchFamily="18" charset="0"/>
            </a:rPr>
            <a:t>Random Forest reduces overfitting by aggregating results from multiple decision trees, improving both </a:t>
          </a:r>
          <a:r>
            <a:rPr lang="en-US" sz="1600" b="1" kern="1200" dirty="0">
              <a:latin typeface="Times New Roman" panose="02020603050405020304" pitchFamily="18" charset="0"/>
              <a:cs typeface="Times New Roman" panose="02020603050405020304" pitchFamily="18" charset="0"/>
            </a:rPr>
            <a:t>stability and precision</a:t>
          </a:r>
          <a:r>
            <a:rPr lang="en-US" sz="1600" kern="1200" dirty="0">
              <a:latin typeface="Times New Roman" panose="02020603050405020304" pitchFamily="18" charset="0"/>
              <a:cs typeface="Times New Roman" panose="02020603050405020304" pitchFamily="18" charset="0"/>
            </a:rPr>
            <a:t>. It performs particularly well in datasets where nonlinear patterns exist between predictors such as blood pressure, serum creatinine, and kidney disease status.</a:t>
          </a:r>
        </a:p>
      </dsp:txBody>
      <dsp:txXfrm>
        <a:off x="7655248" y="90650"/>
        <a:ext cx="4153870" cy="2303856"/>
      </dsp:txXfrm>
    </dsp:sp>
    <dsp:sp modelId="{13E89258-3E81-4377-B2F9-FA6252EC0028}">
      <dsp:nvSpPr>
        <dsp:cNvPr id="0" name=""/>
        <dsp:cNvSpPr/>
      </dsp:nvSpPr>
      <dsp:spPr>
        <a:xfrm>
          <a:off x="158748" y="3817376"/>
          <a:ext cx="1482600" cy="14826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B09B5D-C5C5-48FF-ADAB-7D5369D36244}">
      <dsp:nvSpPr>
        <dsp:cNvPr id="0" name=""/>
        <dsp:cNvSpPr/>
      </dsp:nvSpPr>
      <dsp:spPr>
        <a:xfrm>
          <a:off x="470094" y="4128722"/>
          <a:ext cx="859908" cy="8599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27BCB0F-19B2-446A-BB2B-199265EEAA7C}">
      <dsp:nvSpPr>
        <dsp:cNvPr id="0" name=""/>
        <dsp:cNvSpPr/>
      </dsp:nvSpPr>
      <dsp:spPr>
        <a:xfrm>
          <a:off x="1648090" y="3409736"/>
          <a:ext cx="4116616" cy="22978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Times New Roman" panose="02020603050405020304" pitchFamily="18" charset="0"/>
              <a:cs typeface="Times New Roman" panose="02020603050405020304" pitchFamily="18" charset="0"/>
            </a:rPr>
            <a:t>Feature Importance Interpretation:</a:t>
          </a:r>
          <a:br>
            <a:rPr lang="en-US" sz="1600" kern="1200" dirty="0">
              <a:latin typeface="Times New Roman" panose="02020603050405020304" pitchFamily="18" charset="0"/>
              <a:cs typeface="Times New Roman" panose="02020603050405020304" pitchFamily="18" charset="0"/>
            </a:rPr>
          </a:br>
          <a:r>
            <a:rPr lang="en-US" sz="1600" kern="1200" dirty="0">
              <a:latin typeface="Times New Roman" panose="02020603050405020304" pitchFamily="18" charset="0"/>
              <a:cs typeface="Times New Roman" panose="02020603050405020304" pitchFamily="18" charset="0"/>
            </a:rPr>
            <a:t>As shown in the feature importance plot, </a:t>
          </a:r>
          <a:r>
            <a:rPr lang="en-US" sz="1600" b="1" kern="1200" dirty="0">
              <a:latin typeface="Times New Roman" panose="02020603050405020304" pitchFamily="18" charset="0"/>
              <a:cs typeface="Times New Roman" panose="02020603050405020304" pitchFamily="18" charset="0"/>
            </a:rPr>
            <a:t>Serum Creatinine (</a:t>
          </a:r>
          <a:r>
            <a:rPr lang="en-US" sz="1600" b="1" kern="1200" dirty="0" err="1">
              <a:latin typeface="Times New Roman" panose="02020603050405020304" pitchFamily="18" charset="0"/>
              <a:cs typeface="Times New Roman" panose="02020603050405020304" pitchFamily="18" charset="0"/>
            </a:rPr>
            <a:t>sc</a:t>
          </a:r>
          <a:r>
            <a:rPr lang="en-US" sz="1600" b="1" kern="1200" dirty="0">
              <a:latin typeface="Times New Roman" panose="02020603050405020304" pitchFamily="18" charset="0"/>
              <a:cs typeface="Times New Roman" panose="02020603050405020304" pitchFamily="18" charset="0"/>
            </a:rPr>
            <a:t>)</a:t>
          </a:r>
          <a:r>
            <a:rPr lang="en-US" sz="1600" kern="1200" dirty="0">
              <a:latin typeface="Times New Roman" panose="02020603050405020304" pitchFamily="18" charset="0"/>
              <a:cs typeface="Times New Roman" panose="02020603050405020304" pitchFamily="18" charset="0"/>
            </a:rPr>
            <a:t> has the highest contribution (~0.62), confirming its clinical significance since elevated creatinine levels reflect reduced kidney function. </a:t>
          </a:r>
          <a:r>
            <a:rPr lang="en-US" sz="1600" b="1" kern="1200" dirty="0">
              <a:latin typeface="Times New Roman" panose="02020603050405020304" pitchFamily="18" charset="0"/>
              <a:cs typeface="Times New Roman" panose="02020603050405020304" pitchFamily="18" charset="0"/>
            </a:rPr>
            <a:t>Age</a:t>
          </a:r>
          <a:r>
            <a:rPr lang="en-US" sz="1600" kern="1200" dirty="0">
              <a:latin typeface="Times New Roman" panose="02020603050405020304" pitchFamily="18" charset="0"/>
              <a:cs typeface="Times New Roman" panose="02020603050405020304" pitchFamily="18" charset="0"/>
            </a:rPr>
            <a:t> has moderate influence (~0.26), while </a:t>
          </a:r>
          <a:r>
            <a:rPr lang="en-US" sz="1600" b="1" kern="1200" dirty="0">
              <a:latin typeface="Times New Roman" panose="02020603050405020304" pitchFamily="18" charset="0"/>
              <a:cs typeface="Times New Roman" panose="02020603050405020304" pitchFamily="18" charset="0"/>
            </a:rPr>
            <a:t>Blood Pressure (bp)</a:t>
          </a:r>
          <a:r>
            <a:rPr lang="en-US" sz="1600" kern="1200" dirty="0">
              <a:latin typeface="Times New Roman" panose="02020603050405020304" pitchFamily="18" charset="0"/>
              <a:cs typeface="Times New Roman" panose="02020603050405020304" pitchFamily="18" charset="0"/>
            </a:rPr>
            <a:t> contributes least (~0.12). These results emphasize that </a:t>
          </a:r>
          <a:r>
            <a:rPr lang="en-US" sz="1600" b="1" kern="1200" dirty="0" err="1">
              <a:latin typeface="Times New Roman" panose="02020603050405020304" pitchFamily="18" charset="0"/>
              <a:cs typeface="Times New Roman" panose="02020603050405020304" pitchFamily="18" charset="0"/>
            </a:rPr>
            <a:t>sc</a:t>
          </a:r>
          <a:r>
            <a:rPr lang="en-US" sz="1600" b="1" kern="1200" dirty="0">
              <a:latin typeface="Times New Roman" panose="02020603050405020304" pitchFamily="18" charset="0"/>
              <a:cs typeface="Times New Roman" panose="02020603050405020304" pitchFamily="18" charset="0"/>
            </a:rPr>
            <a:t> is the strongest predictor of CKD</a:t>
          </a:r>
          <a:r>
            <a:rPr lang="en-US" sz="1600" kern="1200" dirty="0">
              <a:latin typeface="Times New Roman" panose="02020603050405020304" pitchFamily="18" charset="0"/>
              <a:cs typeface="Times New Roman" panose="02020603050405020304" pitchFamily="18" charset="0"/>
            </a:rPr>
            <a:t> among the chosen features.</a:t>
          </a:r>
        </a:p>
      </dsp:txBody>
      <dsp:txXfrm>
        <a:off x="1648090" y="3409736"/>
        <a:ext cx="4116616" cy="2297881"/>
      </dsp:txXfrm>
    </dsp:sp>
    <dsp:sp modelId="{2F5B2938-445D-41C7-BF5A-1C09EAF7D59E}">
      <dsp:nvSpPr>
        <dsp:cNvPr id="0" name=""/>
        <dsp:cNvSpPr/>
      </dsp:nvSpPr>
      <dsp:spPr>
        <a:xfrm>
          <a:off x="6096000" y="3856710"/>
          <a:ext cx="1482600" cy="148260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8AE231-4D9E-4818-A842-6979DA8067CE}">
      <dsp:nvSpPr>
        <dsp:cNvPr id="0" name=""/>
        <dsp:cNvSpPr/>
      </dsp:nvSpPr>
      <dsp:spPr>
        <a:xfrm>
          <a:off x="6419507" y="4118894"/>
          <a:ext cx="859908" cy="8599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B31C37-68F8-4FCF-B259-91395CCBC656}">
      <dsp:nvSpPr>
        <dsp:cNvPr id="0" name=""/>
        <dsp:cNvSpPr/>
      </dsp:nvSpPr>
      <dsp:spPr>
        <a:xfrm>
          <a:off x="7702584" y="3406296"/>
          <a:ext cx="4223939" cy="21615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The Random Forest model trained with bp, </a:t>
          </a:r>
          <a:r>
            <a:rPr lang="en-US" sz="1600" kern="1200" dirty="0" err="1">
              <a:latin typeface="Times New Roman" panose="02020603050405020304" pitchFamily="18" charset="0"/>
              <a:cs typeface="Times New Roman" panose="02020603050405020304" pitchFamily="18" charset="0"/>
            </a:rPr>
            <a:t>sc</a:t>
          </a:r>
          <a:r>
            <a:rPr lang="en-US" sz="1600" kern="1200" dirty="0">
              <a:latin typeface="Times New Roman" panose="02020603050405020304" pitchFamily="18" charset="0"/>
              <a:cs typeface="Times New Roman" panose="02020603050405020304" pitchFamily="18" charset="0"/>
            </a:rPr>
            <a:t>, and age demonstrates </a:t>
          </a:r>
          <a:r>
            <a:rPr lang="en-US" sz="1600" b="1" kern="1200" dirty="0">
              <a:latin typeface="Times New Roman" panose="02020603050405020304" pitchFamily="18" charset="0"/>
              <a:cs typeface="Times New Roman" panose="02020603050405020304" pitchFamily="18" charset="0"/>
            </a:rPr>
            <a:t>strong predictive accuracy (96.2%)</a:t>
          </a:r>
          <a:r>
            <a:rPr lang="en-US" sz="1600" kern="1200" dirty="0">
              <a:latin typeface="Times New Roman" panose="02020603050405020304" pitchFamily="18" charset="0"/>
              <a:cs typeface="Times New Roman" panose="02020603050405020304" pitchFamily="18" charset="0"/>
            </a:rPr>
            <a:t>, with </a:t>
          </a:r>
          <a:r>
            <a:rPr lang="en-US" sz="1600" b="1" kern="1200" dirty="0">
              <a:latin typeface="Times New Roman" panose="02020603050405020304" pitchFamily="18" charset="0"/>
              <a:cs typeface="Times New Roman" panose="02020603050405020304" pitchFamily="18" charset="0"/>
            </a:rPr>
            <a:t>serum creatinine</a:t>
          </a:r>
          <a:r>
            <a:rPr lang="en-US" sz="1600" kern="1200" dirty="0">
              <a:latin typeface="Times New Roman" panose="02020603050405020304" pitchFamily="18" charset="0"/>
              <a:cs typeface="Times New Roman" panose="02020603050405020304" pitchFamily="18" charset="0"/>
            </a:rPr>
            <a:t> emerging as the most critical indicator of chronic kidney disease. This makes it highly reliable and clinically interpretable model for CKD prediction</a:t>
          </a:r>
        </a:p>
      </dsp:txBody>
      <dsp:txXfrm>
        <a:off x="7702584" y="3406296"/>
        <a:ext cx="4223939" cy="2161571"/>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010E0-38D5-6B4D-BC42-D3FD6DAA9F65}" type="datetimeFigureOut">
              <a:rPr lang="en-US" smtClean="0"/>
              <a:t>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77D203-3BBC-6849-937D-0DD9522BBB75}" type="slidenum">
              <a:rPr lang="en-US" smtClean="0"/>
              <a:t>‹#›</a:t>
            </a:fld>
            <a:endParaRPr lang="en-US"/>
          </a:p>
        </p:txBody>
      </p:sp>
    </p:spTree>
    <p:extLst>
      <p:ext uri="{BB962C8B-B14F-4D97-AF65-F5344CB8AC3E}">
        <p14:creationId xmlns:p14="http://schemas.microsoft.com/office/powerpoint/2010/main" val="975424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77D203-3BBC-6849-937D-0DD9522BBB75}" type="slidenum">
              <a:rPr lang="en-US" smtClean="0"/>
              <a:t>1</a:t>
            </a:fld>
            <a:endParaRPr lang="en-US"/>
          </a:p>
        </p:txBody>
      </p:sp>
    </p:spTree>
    <p:extLst>
      <p:ext uri="{BB962C8B-B14F-4D97-AF65-F5344CB8AC3E}">
        <p14:creationId xmlns:p14="http://schemas.microsoft.com/office/powerpoint/2010/main" val="1295014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73550-20F7-1A59-FFC3-950B870BAC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B3EC051-AA7A-487C-94A4-24F1F0FAA0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C113C4E-AA22-2C76-440F-984738B52462}"/>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5" name="Footer Placeholder 4">
            <a:extLst>
              <a:ext uri="{FF2B5EF4-FFF2-40B4-BE49-F238E27FC236}">
                <a16:creationId xmlns:a16="http://schemas.microsoft.com/office/drawing/2014/main" id="{EDE3296F-D297-3211-3189-03F37A2E8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45B2D-304F-ECF0-D825-F137ABF48B9D}"/>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64711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8AF0D-7418-B7DC-A728-F3B57BE5C1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66B3D3-0340-41B0-E31F-A82DFC9D5B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036EAC-41AE-92C1-AD51-99C4F0B4B7A0}"/>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5" name="Footer Placeholder 4">
            <a:extLst>
              <a:ext uri="{FF2B5EF4-FFF2-40B4-BE49-F238E27FC236}">
                <a16:creationId xmlns:a16="http://schemas.microsoft.com/office/drawing/2014/main" id="{7512F5D7-F941-0D0C-510E-58CF1DF83D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D8603C-8559-40F2-F5AC-C8F2D40BBC20}"/>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791650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8A9C-1DE2-23EC-D647-21427B4828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00CB178-5AF7-D888-D257-9200F381EA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47181D-74D2-64A8-7507-2081A3E89EFB}"/>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5" name="Footer Placeholder 4">
            <a:extLst>
              <a:ext uri="{FF2B5EF4-FFF2-40B4-BE49-F238E27FC236}">
                <a16:creationId xmlns:a16="http://schemas.microsoft.com/office/drawing/2014/main" id="{A78AAE48-A9B5-94D4-C566-FD60767C3C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22CD77-FB4A-F285-78C7-F7E75F4B118C}"/>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2193183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88249-3912-6E4C-15F0-0D1F39699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7512F1-6CD3-5D70-1164-850EB27882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2B1DC1-D7C2-5B37-D6B6-EDC704C25E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0457B1-1FFE-22E9-1A33-0C65545DC525}"/>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6" name="Footer Placeholder 5">
            <a:extLst>
              <a:ext uri="{FF2B5EF4-FFF2-40B4-BE49-F238E27FC236}">
                <a16:creationId xmlns:a16="http://schemas.microsoft.com/office/drawing/2014/main" id="{57D46A39-AF89-2888-B8D5-DBCFC81B3B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315158-EE24-357B-5675-1F7729ADA2C5}"/>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2370167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573E-11D6-6A88-ADA0-C45E990BA5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4B2FF6-C612-849B-F6C4-F2D42AAC4C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809D77-02A9-F54C-21EA-D58332F33D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95578A2-AF34-0325-EE95-DA002D229D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DD6A48-8712-337B-0C35-468170C61A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7022E7-31B5-55D6-E9CA-E5535733D9DC}"/>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8" name="Footer Placeholder 7">
            <a:extLst>
              <a:ext uri="{FF2B5EF4-FFF2-40B4-BE49-F238E27FC236}">
                <a16:creationId xmlns:a16="http://schemas.microsoft.com/office/drawing/2014/main" id="{48150DA2-A7F0-A27A-A4ED-E9AD90E6FB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DF92A9-2FD1-5E1D-0C25-FDEE47155D62}"/>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2662517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F587-4D4C-3F53-45E3-39E62FA10EE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0155FF6-512D-1DC5-B453-A29BDC8E748E}"/>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4" name="Footer Placeholder 3">
            <a:extLst>
              <a:ext uri="{FF2B5EF4-FFF2-40B4-BE49-F238E27FC236}">
                <a16:creationId xmlns:a16="http://schemas.microsoft.com/office/drawing/2014/main" id="{3230EB78-C2B9-C4D9-2A1C-A8EFEFC728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7D2BCE7-8B3E-B6DB-2144-3F72A9424D6C}"/>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3981780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940418-8236-ED3D-B37A-8AF1109E0D68}"/>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3" name="Footer Placeholder 2">
            <a:extLst>
              <a:ext uri="{FF2B5EF4-FFF2-40B4-BE49-F238E27FC236}">
                <a16:creationId xmlns:a16="http://schemas.microsoft.com/office/drawing/2014/main" id="{ED7B61CC-43BE-1261-A865-31B22F7C3C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110FD3-29D1-6FD2-2576-57156E546D4B}"/>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2439079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33B2F-73B4-7B03-37CC-79E6175A2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1C67D2-F209-C7F2-659A-C5A543B506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178579-C090-5BD4-93F0-8D38C6B54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5704FD-4904-C672-784E-093182147DC6}"/>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6" name="Footer Placeholder 5">
            <a:extLst>
              <a:ext uri="{FF2B5EF4-FFF2-40B4-BE49-F238E27FC236}">
                <a16:creationId xmlns:a16="http://schemas.microsoft.com/office/drawing/2014/main" id="{FDC7503A-6F04-D023-54F2-0102227301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52A517-157C-A888-6199-9C446DCD7812}"/>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1922600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F4DB-DC82-7539-39E7-909E39C4D7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32B82E-1F01-49F9-E7BB-13674DAF07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5628C4-0DD4-9542-4363-A46581DC31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263BD-C7CF-B494-C8EA-276380D6237B}"/>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6" name="Footer Placeholder 5">
            <a:extLst>
              <a:ext uri="{FF2B5EF4-FFF2-40B4-BE49-F238E27FC236}">
                <a16:creationId xmlns:a16="http://schemas.microsoft.com/office/drawing/2014/main" id="{3935D7AC-2909-DE11-B482-ABB4117B99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E0CFA0-F0A6-3F7B-0A8B-C596F42B121E}"/>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3305121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C96C-27AA-81AD-5FBE-70E1586E58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28D0161-0102-8B96-2A2D-7DA465F429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DE6B91-0C5B-DCD0-4DE4-6601E3CFA6D1}"/>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5" name="Footer Placeholder 4">
            <a:extLst>
              <a:ext uri="{FF2B5EF4-FFF2-40B4-BE49-F238E27FC236}">
                <a16:creationId xmlns:a16="http://schemas.microsoft.com/office/drawing/2014/main" id="{6E4C4B84-1D81-8F14-8309-9BD7FB714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253C83-41A1-40DF-EE46-20C0C95D4B68}"/>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11139691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73317A-CEB1-118C-3B8A-1EDDFB6922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ED47C5-A060-516A-FC19-D472A44A6B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5456F0-1A9A-3F17-E487-2C44285C062C}"/>
              </a:ext>
            </a:extLst>
          </p:cNvPr>
          <p:cNvSpPr>
            <a:spLocks noGrp="1"/>
          </p:cNvSpPr>
          <p:nvPr>
            <p:ph type="dt" sz="half" idx="10"/>
          </p:nvPr>
        </p:nvSpPr>
        <p:spPr/>
        <p:txBody>
          <a:bodyPr/>
          <a:lstStyle/>
          <a:p>
            <a:fld id="{74A0DA54-FAC1-084D-A4B4-93A0DFAA9E06}" type="datetimeFigureOut">
              <a:rPr lang="en-US" smtClean="0"/>
              <a:t>12/2/2025</a:t>
            </a:fld>
            <a:endParaRPr lang="en-US"/>
          </a:p>
        </p:txBody>
      </p:sp>
      <p:sp>
        <p:nvSpPr>
          <p:cNvPr id="5" name="Footer Placeholder 4">
            <a:extLst>
              <a:ext uri="{FF2B5EF4-FFF2-40B4-BE49-F238E27FC236}">
                <a16:creationId xmlns:a16="http://schemas.microsoft.com/office/drawing/2014/main" id="{139BA21E-4EE7-A8E9-3AFF-C65458A319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A595E8-88AE-3787-9BFF-394CA4FE06CE}"/>
              </a:ext>
            </a:extLst>
          </p:cNvPr>
          <p:cNvSpPr>
            <a:spLocks noGrp="1"/>
          </p:cNvSpPr>
          <p:nvPr>
            <p:ph type="sldNum" sz="quarter" idx="12"/>
          </p:nvPr>
        </p:nvSpPr>
        <p:spPr/>
        <p:txBody>
          <a:bodyPr/>
          <a:lstStyle/>
          <a:p>
            <a:fld id="{7901334D-4681-8441-B9A9-3DB887386BF4}" type="slidenum">
              <a:rPr lang="en-US" smtClean="0"/>
              <a:t>‹#›</a:t>
            </a:fld>
            <a:endParaRPr lang="en-US"/>
          </a:p>
        </p:txBody>
      </p:sp>
    </p:spTree>
    <p:extLst>
      <p:ext uri="{BB962C8B-B14F-4D97-AF65-F5344CB8AC3E}">
        <p14:creationId xmlns:p14="http://schemas.microsoft.com/office/powerpoint/2010/main" val="3236621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2FADFD-0526-E244-3431-912E4BB5E9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35151E9-B7EA-F92A-1BC3-03450F6D19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149B55-7BA6-A569-42BE-6D3E9D2D17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A0DA54-FAC1-084D-A4B4-93A0DFAA9E06}" type="datetimeFigureOut">
              <a:rPr lang="en-US" smtClean="0"/>
              <a:t>12/2/2025</a:t>
            </a:fld>
            <a:endParaRPr lang="en-US"/>
          </a:p>
        </p:txBody>
      </p:sp>
      <p:sp>
        <p:nvSpPr>
          <p:cNvPr id="5" name="Footer Placeholder 4">
            <a:extLst>
              <a:ext uri="{FF2B5EF4-FFF2-40B4-BE49-F238E27FC236}">
                <a16:creationId xmlns:a16="http://schemas.microsoft.com/office/drawing/2014/main" id="{CC1BB7A5-4669-5F90-B375-867C1FF47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FA1173B-C168-974C-0DAF-21EEC6BF2D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01334D-4681-8441-B9A9-3DB887386BF4}" type="slidenum">
              <a:rPr lang="en-US" smtClean="0"/>
              <a:t>‹#›</a:t>
            </a:fld>
            <a:endParaRPr lang="en-US"/>
          </a:p>
        </p:txBody>
      </p:sp>
    </p:spTree>
    <p:extLst>
      <p:ext uri="{BB962C8B-B14F-4D97-AF65-F5344CB8AC3E}">
        <p14:creationId xmlns:p14="http://schemas.microsoft.com/office/powerpoint/2010/main" val="192410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kaggle.com/datasets/colearninglounge/chronic-kidney-disease"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image" Target="../media/image36.jpeg"/><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7.xml.rels><?xml version="1.0" encoding="UTF-8" standalone="yes"?>
<Relationships xmlns="http://schemas.openxmlformats.org/package/2006/relationships"><Relationship Id="rId3" Type="http://schemas.openxmlformats.org/officeDocument/2006/relationships/hyperlink" Target="https://pmc.ncbi.nlm.nih.gov/articles/PMC9874070/" TargetMode="External"/><Relationship Id="rId2" Type="http://schemas.openxmlformats.org/officeDocument/2006/relationships/hyperlink" Target="https://pubmed.ncbi.nlm.nih.gov/23727169/" TargetMode="External"/><Relationship Id="rId1" Type="http://schemas.openxmlformats.org/officeDocument/2006/relationships/slideLayout" Target="../slideLayouts/slideLayout2.xml"/><Relationship Id="rId6" Type="http://schemas.openxmlformats.org/officeDocument/2006/relationships/hyperlink" Target="https://doi.org/10.1016/j.aci.2018.12.004" TargetMode="External"/><Relationship Id="rId5" Type="http://schemas.openxmlformats.org/officeDocument/2006/relationships/hyperlink" Target="https://www.researchgate.net/publication/394525622_Performance_Evaluation_of_Advanced_Machine_Learning_Models_for_Chronic_Kidney_Disease_Classification_and_Prediction" TargetMode="External"/><Relationship Id="rId4" Type="http://schemas.openxmlformats.org/officeDocument/2006/relationships/hyperlink" Target="https://www.kaggle.com/datasets/colearninglounge/chronic-kidney-disease"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5" name="Picture 4" descr="Top view of a stethoscope on a blue surface">
            <a:extLst>
              <a:ext uri="{FF2B5EF4-FFF2-40B4-BE49-F238E27FC236}">
                <a16:creationId xmlns:a16="http://schemas.microsoft.com/office/drawing/2014/main" id="{C7D34F5F-4B14-9E67-B2A6-BFF5D4D80D16}"/>
              </a:ext>
            </a:extLst>
          </p:cNvPr>
          <p:cNvPicPr>
            <a:picLocks noChangeAspect="1"/>
          </p:cNvPicPr>
          <p:nvPr/>
        </p:nvPicPr>
        <p:blipFill>
          <a:blip r:embed="rId3">
            <a:alphaModFix amt="60000"/>
          </a:blip>
          <a:srcRect b="15730"/>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4D134D07-6ED5-5AAC-B45E-C7E6F1CBF30B}"/>
              </a:ext>
            </a:extLst>
          </p:cNvPr>
          <p:cNvSpPr>
            <a:spLocks noGrp="1"/>
          </p:cNvSpPr>
          <p:nvPr>
            <p:ph type="ctrTitle"/>
          </p:nvPr>
        </p:nvSpPr>
        <p:spPr>
          <a:xfrm>
            <a:off x="1054342" y="279882"/>
            <a:ext cx="9795637" cy="2220775"/>
          </a:xfrm>
        </p:spPr>
        <p:txBody>
          <a:bodyPr>
            <a:normAutofit/>
          </a:bodyPr>
          <a:lstStyle/>
          <a:p>
            <a:r>
              <a:rPr lang="en-US" sz="4800" b="1" dirty="0">
                <a:solidFill>
                  <a:srgbClr val="FFFFFF"/>
                </a:solidFill>
                <a:latin typeface="Times New Roman" panose="02020603050405020304" pitchFamily="18" charset="0"/>
                <a:cs typeface="Times New Roman" panose="02020603050405020304" pitchFamily="18" charset="0"/>
              </a:rPr>
              <a:t>Predictive Modeling of Chronic Kidney Disease Based on Diabetes and Hypertension Factors</a:t>
            </a:r>
            <a:endParaRPr lang="en-US" sz="4800" dirty="0">
              <a:solidFill>
                <a:srgbClr val="FFFFFF"/>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1E7CC2D6-8973-99D9-08E3-FA6927A6550E}"/>
              </a:ext>
            </a:extLst>
          </p:cNvPr>
          <p:cNvSpPr>
            <a:spLocks noGrp="1"/>
          </p:cNvSpPr>
          <p:nvPr>
            <p:ph type="subTitle" idx="1"/>
          </p:nvPr>
        </p:nvSpPr>
        <p:spPr>
          <a:xfrm>
            <a:off x="3139998" y="4521075"/>
            <a:ext cx="8695832" cy="2057043"/>
          </a:xfrm>
        </p:spPr>
        <p:txBody>
          <a:bodyPr>
            <a:normAutofit/>
          </a:bodyPr>
          <a:lstStyle/>
          <a:p>
            <a:pPr algn="r"/>
            <a:r>
              <a:rPr lang="en-US" sz="1500" b="1" dirty="0">
                <a:solidFill>
                  <a:srgbClr val="FFFFFF"/>
                </a:solidFill>
                <a:latin typeface="Times New Roman" panose="02020603050405020304" pitchFamily="18" charset="0"/>
                <a:cs typeface="Times New Roman" panose="02020603050405020304" pitchFamily="18" charset="0"/>
              </a:rPr>
              <a:t> Authors  </a:t>
            </a:r>
          </a:p>
          <a:p>
            <a:pPr algn="r"/>
            <a:r>
              <a:rPr lang="en-US" sz="1500" dirty="0">
                <a:solidFill>
                  <a:srgbClr val="FFFFFF"/>
                </a:solidFill>
                <a:latin typeface="Times New Roman" panose="02020603050405020304" pitchFamily="18" charset="0"/>
                <a:cs typeface="Times New Roman" panose="02020603050405020304" pitchFamily="18" charset="0"/>
              </a:rPr>
              <a:t>Dr. Rithwik Raj Suram. (Bachelor of dental surgery)</a:t>
            </a:r>
          </a:p>
          <a:p>
            <a:pPr algn="r"/>
            <a:r>
              <a:rPr lang="en-US" sz="1500" dirty="0">
                <a:solidFill>
                  <a:srgbClr val="FFFFFF"/>
                </a:solidFill>
                <a:latin typeface="Times New Roman" panose="02020603050405020304" pitchFamily="18" charset="0"/>
                <a:cs typeface="Times New Roman" panose="02020603050405020304" pitchFamily="18" charset="0"/>
              </a:rPr>
              <a:t>Dr. Sharath kasula. (Doctor of Pharmacy, Bachelor of Pharmacy)</a:t>
            </a:r>
          </a:p>
          <a:p>
            <a:pPr algn="r"/>
            <a:r>
              <a:rPr lang="en-US" sz="1500" dirty="0">
                <a:solidFill>
                  <a:srgbClr val="FFFFFF"/>
                </a:solidFill>
                <a:latin typeface="Times New Roman" panose="02020603050405020304" pitchFamily="18" charset="0"/>
                <a:cs typeface="Times New Roman" panose="02020603050405020304" pitchFamily="18" charset="0"/>
              </a:rPr>
              <a:t>Sai Kiran Boddu. (Bachelor of science in Biotechnology)</a:t>
            </a:r>
          </a:p>
          <a:p>
            <a:pPr algn="r"/>
            <a:r>
              <a:rPr lang="en-US" sz="1500" dirty="0">
                <a:solidFill>
                  <a:srgbClr val="FFFFFF"/>
                </a:solidFill>
                <a:latin typeface="Times New Roman" panose="02020603050405020304" pitchFamily="18" charset="0"/>
                <a:cs typeface="Times New Roman" panose="02020603050405020304" pitchFamily="18" charset="0"/>
              </a:rPr>
              <a:t>Vaishnavi </a:t>
            </a:r>
            <a:r>
              <a:rPr lang="en-US" sz="1500" dirty="0" err="1">
                <a:solidFill>
                  <a:srgbClr val="FFFFFF"/>
                </a:solidFill>
                <a:latin typeface="Times New Roman" panose="02020603050405020304" pitchFamily="18" charset="0"/>
                <a:cs typeface="Times New Roman" panose="02020603050405020304" pitchFamily="18" charset="0"/>
              </a:rPr>
              <a:t>Madhiraju</a:t>
            </a:r>
            <a:r>
              <a:rPr lang="en-US" sz="1500" dirty="0">
                <a:solidFill>
                  <a:srgbClr val="FFFFFF"/>
                </a:solidFill>
                <a:latin typeface="Times New Roman" panose="02020603050405020304" pitchFamily="18" charset="0"/>
                <a:cs typeface="Times New Roman" panose="02020603050405020304" pitchFamily="18" charset="0"/>
              </a:rPr>
              <a:t>. (Bachelor of Technology in Electronics &amp;Telecom)</a:t>
            </a:r>
          </a:p>
          <a:p>
            <a:pPr algn="r"/>
            <a:r>
              <a:rPr lang="en-US" sz="1500" dirty="0">
                <a:solidFill>
                  <a:srgbClr val="FFFFFF"/>
                </a:solidFill>
                <a:latin typeface="Times New Roman" panose="02020603050405020304" pitchFamily="18" charset="0"/>
                <a:cs typeface="Times New Roman" panose="02020603050405020304" pitchFamily="18" charset="0"/>
              </a:rPr>
              <a:t>Varshini Guthi.  (Bachelor of Science in Forensic Science)</a:t>
            </a:r>
          </a:p>
        </p:txBody>
      </p:sp>
      <p:sp>
        <p:nvSpPr>
          <p:cNvPr id="6" name="TextBox 5">
            <a:extLst>
              <a:ext uri="{FF2B5EF4-FFF2-40B4-BE49-F238E27FC236}">
                <a16:creationId xmlns:a16="http://schemas.microsoft.com/office/drawing/2014/main" id="{E1B6E22B-E5AD-D8FA-BF7D-D32BB5E44E57}"/>
              </a:ext>
            </a:extLst>
          </p:cNvPr>
          <p:cNvSpPr txBox="1"/>
          <p:nvPr/>
        </p:nvSpPr>
        <p:spPr>
          <a:xfrm>
            <a:off x="4828853" y="2599533"/>
            <a:ext cx="1941816"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HDS – 5330 - 03</a:t>
            </a:r>
          </a:p>
        </p:txBody>
      </p:sp>
      <p:sp>
        <p:nvSpPr>
          <p:cNvPr id="28" name="TextBox 27">
            <a:extLst>
              <a:ext uri="{FF2B5EF4-FFF2-40B4-BE49-F238E27FC236}">
                <a16:creationId xmlns:a16="http://schemas.microsoft.com/office/drawing/2014/main" id="{4BD90973-E1C2-12AD-E44A-EB2D6A5C16D3}"/>
              </a:ext>
            </a:extLst>
          </p:cNvPr>
          <p:cNvSpPr txBox="1"/>
          <p:nvPr/>
        </p:nvSpPr>
        <p:spPr>
          <a:xfrm>
            <a:off x="5106256" y="3059668"/>
            <a:ext cx="1387011" cy="369332"/>
          </a:xfrm>
          <a:prstGeom prst="rect">
            <a:avLst/>
          </a:prstGeom>
          <a:noFill/>
        </p:spPr>
        <p:txBody>
          <a:bodyPr wrap="square" rtlCol="0">
            <a:spAutoFit/>
          </a:bodyPr>
          <a:lstStyle/>
          <a:p>
            <a:r>
              <a:rPr lang="en-US" dirty="0">
                <a:solidFill>
                  <a:schemeClr val="bg1"/>
                </a:solidFill>
                <a:latin typeface="Times New Roman" panose="02020603050405020304" pitchFamily="18" charset="0"/>
                <a:cs typeface="Times New Roman" panose="02020603050405020304" pitchFamily="18" charset="0"/>
              </a:rPr>
              <a:t>GROUP - 4</a:t>
            </a:r>
          </a:p>
        </p:txBody>
      </p:sp>
    </p:spTree>
    <p:extLst>
      <p:ext uri="{BB962C8B-B14F-4D97-AF65-F5344CB8AC3E}">
        <p14:creationId xmlns:p14="http://schemas.microsoft.com/office/powerpoint/2010/main" val="922038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16F22E-DEA2-7A2D-42B0-7720C07587DB}"/>
              </a:ext>
            </a:extLst>
          </p:cNvPr>
          <p:cNvSpPr>
            <a:spLocks noGrp="1"/>
          </p:cNvSpPr>
          <p:nvPr>
            <p:ph type="title"/>
          </p:nvPr>
        </p:nvSpPr>
        <p:spPr>
          <a:xfrm>
            <a:off x="1190680" y="433086"/>
            <a:ext cx="4977976" cy="1454051"/>
          </a:xfrm>
        </p:spPr>
        <p:txBody>
          <a:bodyPr>
            <a:normAutofit/>
          </a:bodyPr>
          <a:lstStyle/>
          <a:p>
            <a:r>
              <a:rPr lang="en-US" sz="3600" dirty="0">
                <a:solidFill>
                  <a:schemeClr val="tx2"/>
                </a:solidFill>
                <a:latin typeface="Times New Roman" panose="02020603050405020304" pitchFamily="18" charset="0"/>
                <a:cs typeface="Times New Roman" panose="02020603050405020304" pitchFamily="18" charset="0"/>
              </a:rPr>
              <a:t>Table of Contents</a:t>
            </a:r>
          </a:p>
        </p:txBody>
      </p:sp>
      <p:sp>
        <p:nvSpPr>
          <p:cNvPr id="3" name="Content Placeholder 2">
            <a:extLst>
              <a:ext uri="{FF2B5EF4-FFF2-40B4-BE49-F238E27FC236}">
                <a16:creationId xmlns:a16="http://schemas.microsoft.com/office/drawing/2014/main" id="{49725E66-BB49-7530-78E5-1D817CE9F0A9}"/>
              </a:ext>
            </a:extLst>
          </p:cNvPr>
          <p:cNvSpPr>
            <a:spLocks noGrp="1"/>
          </p:cNvSpPr>
          <p:nvPr>
            <p:ph idx="1"/>
          </p:nvPr>
        </p:nvSpPr>
        <p:spPr>
          <a:xfrm>
            <a:off x="989439" y="1772927"/>
            <a:ext cx="4977976" cy="4425956"/>
          </a:xfrm>
        </p:spPr>
        <p:txBody>
          <a:bodyPr anchor="ctr">
            <a:normAutofit/>
          </a:bodyPr>
          <a:lstStyle/>
          <a:p>
            <a:r>
              <a:rPr lang="en-US" sz="1700" dirty="0">
                <a:solidFill>
                  <a:schemeClr val="tx2"/>
                </a:solidFill>
                <a:latin typeface="Times New Roman" panose="02020603050405020304" pitchFamily="18" charset="0"/>
                <a:cs typeface="Times New Roman" panose="02020603050405020304" pitchFamily="18" charset="0"/>
              </a:rPr>
              <a:t>Introduction</a:t>
            </a:r>
          </a:p>
          <a:p>
            <a:r>
              <a:rPr lang="en-US" sz="1700" dirty="0">
                <a:solidFill>
                  <a:schemeClr val="tx2"/>
                </a:solidFill>
                <a:latin typeface="Times New Roman" panose="02020603050405020304" pitchFamily="18" charset="0"/>
                <a:cs typeface="Times New Roman" panose="02020603050405020304" pitchFamily="18" charset="0"/>
              </a:rPr>
              <a:t>Objective </a:t>
            </a:r>
          </a:p>
          <a:p>
            <a:r>
              <a:rPr lang="en-US" sz="1700" dirty="0">
                <a:solidFill>
                  <a:schemeClr val="tx2"/>
                </a:solidFill>
                <a:latin typeface="Times New Roman" panose="02020603050405020304" pitchFamily="18" charset="0"/>
                <a:cs typeface="Times New Roman" panose="02020603050405020304" pitchFamily="18" charset="0"/>
              </a:rPr>
              <a:t>Data Collection</a:t>
            </a:r>
          </a:p>
          <a:p>
            <a:r>
              <a:rPr lang="en-US" sz="1700" dirty="0">
                <a:solidFill>
                  <a:schemeClr val="tx2"/>
                </a:solidFill>
                <a:latin typeface="Times New Roman" panose="02020603050405020304" pitchFamily="18" charset="0"/>
                <a:cs typeface="Times New Roman" panose="02020603050405020304" pitchFamily="18" charset="0"/>
              </a:rPr>
              <a:t>Data Cleaning </a:t>
            </a:r>
          </a:p>
          <a:p>
            <a:r>
              <a:rPr lang="en-US" sz="1700" dirty="0">
                <a:solidFill>
                  <a:schemeClr val="tx2"/>
                </a:solidFill>
                <a:latin typeface="Times New Roman" panose="02020603050405020304" pitchFamily="18" charset="0"/>
                <a:cs typeface="Times New Roman" panose="02020603050405020304" pitchFamily="18" charset="0"/>
              </a:rPr>
              <a:t>Data processing</a:t>
            </a:r>
          </a:p>
          <a:p>
            <a:r>
              <a:rPr lang="en-US" sz="1700" dirty="0">
                <a:solidFill>
                  <a:schemeClr val="tx2"/>
                </a:solidFill>
                <a:latin typeface="Times New Roman" panose="02020603050405020304" pitchFamily="18" charset="0"/>
                <a:cs typeface="Times New Roman" panose="02020603050405020304" pitchFamily="18" charset="0"/>
              </a:rPr>
              <a:t>Exploratory Data Analysis (EDA)</a:t>
            </a:r>
          </a:p>
          <a:p>
            <a:r>
              <a:rPr lang="en-US" sz="1700" dirty="0">
                <a:solidFill>
                  <a:schemeClr val="tx2"/>
                </a:solidFill>
                <a:latin typeface="Times New Roman" panose="02020603050405020304" pitchFamily="18" charset="0"/>
                <a:cs typeface="Times New Roman" panose="02020603050405020304" pitchFamily="18" charset="0"/>
              </a:rPr>
              <a:t>Visualization &amp; Interpretation</a:t>
            </a:r>
          </a:p>
          <a:p>
            <a:r>
              <a:rPr lang="en-US" sz="1700" dirty="0">
                <a:solidFill>
                  <a:schemeClr val="tx2"/>
                </a:solidFill>
                <a:latin typeface="Times New Roman" panose="02020603050405020304" pitchFamily="18" charset="0"/>
                <a:cs typeface="Times New Roman" panose="02020603050405020304" pitchFamily="18" charset="0"/>
              </a:rPr>
              <a:t>Statistical Analysis &amp; Insights</a:t>
            </a:r>
          </a:p>
          <a:p>
            <a:r>
              <a:rPr lang="en-US" sz="1700" dirty="0">
                <a:solidFill>
                  <a:schemeClr val="tx2"/>
                </a:solidFill>
                <a:latin typeface="Times New Roman" panose="02020603050405020304" pitchFamily="18" charset="0"/>
                <a:cs typeface="Times New Roman" panose="02020603050405020304" pitchFamily="18" charset="0"/>
              </a:rPr>
              <a:t>Discussion of Findings</a:t>
            </a:r>
          </a:p>
          <a:p>
            <a:r>
              <a:rPr lang="en-US" sz="1700" dirty="0">
                <a:solidFill>
                  <a:schemeClr val="tx2"/>
                </a:solidFill>
                <a:latin typeface="Times New Roman" panose="02020603050405020304" pitchFamily="18" charset="0"/>
                <a:cs typeface="Times New Roman" panose="02020603050405020304" pitchFamily="18" charset="0"/>
              </a:rPr>
              <a:t>Conclusion</a:t>
            </a:r>
          </a:p>
          <a:p>
            <a:endParaRPr lang="en-US" sz="1700" dirty="0">
              <a:solidFill>
                <a:schemeClr val="tx2"/>
              </a:solidFill>
              <a:latin typeface="Times New Roman" panose="02020603050405020304" pitchFamily="18" charset="0"/>
              <a:cs typeface="Times New Roman" panose="02020603050405020304" pitchFamily="18" charset="0"/>
            </a:endParaRPr>
          </a:p>
          <a:p>
            <a:endParaRPr lang="en-US" sz="1700" dirty="0">
              <a:solidFill>
                <a:schemeClr val="tx2"/>
              </a:solidFill>
              <a:latin typeface="Times New Roman" panose="02020603050405020304" pitchFamily="18" charset="0"/>
              <a:cs typeface="Times New Roman" panose="02020603050405020304" pitchFamily="18" charset="0"/>
            </a:endParaRPr>
          </a:p>
        </p:txBody>
      </p:sp>
      <p:grpSp>
        <p:nvGrpSpPr>
          <p:cNvPr id="25" name="Group 24">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6" name="Freeform: Shape 25">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8" name="Graphic 17" descr="Bar chart">
            <a:extLst>
              <a:ext uri="{FF2B5EF4-FFF2-40B4-BE49-F238E27FC236}">
                <a16:creationId xmlns:a16="http://schemas.microsoft.com/office/drawing/2014/main" id="{FBA0D04B-CCB8-6324-9E79-F7274CA180A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664462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0">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C68400C-711E-58B5-BC7D-FA2E36016748}"/>
              </a:ext>
            </a:extLst>
          </p:cNvPr>
          <p:cNvSpPr>
            <a:spLocks noGrp="1"/>
          </p:cNvSpPr>
          <p:nvPr>
            <p:ph type="title"/>
          </p:nvPr>
        </p:nvSpPr>
        <p:spPr>
          <a:xfrm>
            <a:off x="5990690" y="251084"/>
            <a:ext cx="5310116" cy="1322887"/>
          </a:xfrm>
        </p:spPr>
        <p:txBody>
          <a:bodyPr>
            <a:normAutofit/>
          </a:bodyPr>
          <a:lstStyle/>
          <a:p>
            <a:r>
              <a:rPr lang="en-US" dirty="0">
                <a:latin typeface="Times New Roman" panose="02020603050405020304" pitchFamily="18" charset="0"/>
                <a:cs typeface="Times New Roman" panose="02020603050405020304" pitchFamily="18" charset="0"/>
              </a:rPr>
              <a:t>Defining the Project</a:t>
            </a:r>
          </a:p>
        </p:txBody>
      </p:sp>
      <p:pic>
        <p:nvPicPr>
          <p:cNvPr id="25" name="Graphic 24" descr="Health">
            <a:extLst>
              <a:ext uri="{FF2B5EF4-FFF2-40B4-BE49-F238E27FC236}">
                <a16:creationId xmlns:a16="http://schemas.microsoft.com/office/drawing/2014/main" id="{56555E94-9EEB-2755-F344-C0413B1EEB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427" y="1573971"/>
            <a:ext cx="3720152" cy="3720152"/>
          </a:xfrm>
          <a:prstGeom prst="rect">
            <a:avLst/>
          </a:prstGeom>
        </p:spPr>
      </p:pic>
      <p:sp>
        <p:nvSpPr>
          <p:cNvPr id="3" name="Content Placeholder 2">
            <a:extLst>
              <a:ext uri="{FF2B5EF4-FFF2-40B4-BE49-F238E27FC236}">
                <a16:creationId xmlns:a16="http://schemas.microsoft.com/office/drawing/2014/main" id="{1DA833E2-5DFC-2BA2-7573-174628D5736B}"/>
              </a:ext>
            </a:extLst>
          </p:cNvPr>
          <p:cNvSpPr>
            <a:spLocks noGrp="1"/>
          </p:cNvSpPr>
          <p:nvPr>
            <p:ph idx="1"/>
          </p:nvPr>
        </p:nvSpPr>
        <p:spPr>
          <a:xfrm>
            <a:off x="5373384" y="1428108"/>
            <a:ext cx="5927422" cy="4767209"/>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Objective: </a:t>
            </a:r>
          </a:p>
          <a:p>
            <a:r>
              <a:rPr lang="en-US" sz="1800" dirty="0">
                <a:latin typeface="Times New Roman" panose="02020603050405020304" pitchFamily="18" charset="0"/>
                <a:cs typeface="Times New Roman" panose="02020603050405020304" pitchFamily="18" charset="0"/>
              </a:rPr>
              <a:t>To use patient EHR and laboratory data to predict and analyze CKD progression and to identify key risk factors (diabetes, hypertension). </a:t>
            </a:r>
          </a:p>
          <a:p>
            <a:r>
              <a:rPr lang="en-US" sz="1800" dirty="0">
                <a:latin typeface="Times New Roman" panose="02020603050405020304" pitchFamily="18" charset="0"/>
                <a:cs typeface="Times New Roman" panose="02020603050405020304" pitchFamily="18" charset="0"/>
              </a:rPr>
              <a:t>Develop a predictive model that can be used for early detection and better management of patients. </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Why CKD? </a:t>
            </a:r>
          </a:p>
          <a:p>
            <a:r>
              <a:rPr lang="en-US" sz="1800" dirty="0">
                <a:latin typeface="Times New Roman" panose="02020603050405020304" pitchFamily="18" charset="0"/>
                <a:cs typeface="Times New Roman" panose="02020603050405020304" pitchFamily="18" charset="0"/>
              </a:rPr>
              <a:t>Has an incidence of about 10% of the world population (more than 800 million people). </a:t>
            </a:r>
          </a:p>
          <a:p>
            <a:r>
              <a:rPr lang="en-US" sz="1800" dirty="0">
                <a:latin typeface="Times New Roman" panose="02020603050405020304" pitchFamily="18" charset="0"/>
                <a:cs typeface="Times New Roman" panose="02020603050405020304" pitchFamily="18" charset="0"/>
              </a:rPr>
              <a:t>CKD </a:t>
            </a:r>
            <a:r>
              <a:rPr lang="en-US" sz="1800">
                <a:latin typeface="Times New Roman" panose="02020603050405020304" pitchFamily="18" charset="0"/>
                <a:cs typeface="Times New Roman" panose="02020603050405020304" pitchFamily="18" charset="0"/>
              </a:rPr>
              <a:t>is often </a:t>
            </a:r>
            <a:r>
              <a:rPr lang="en-US" sz="1800" dirty="0">
                <a:latin typeface="Times New Roman" panose="02020603050405020304" pitchFamily="18" charset="0"/>
                <a:cs typeface="Times New Roman" panose="02020603050405020304" pitchFamily="18" charset="0"/>
              </a:rPr>
              <a:t>undiagnosed until late in the disease process, when chances for treatment </a:t>
            </a:r>
            <a:r>
              <a:rPr lang="en-US" sz="1800">
                <a:latin typeface="Times New Roman" panose="02020603050405020304" pitchFamily="18" charset="0"/>
                <a:cs typeface="Times New Roman" panose="02020603050405020304" pitchFamily="18" charset="0"/>
              </a:rPr>
              <a:t>are limited</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Diabetes and hypertension are responsible for almost 2/3 of CKD cases. </a:t>
            </a:r>
          </a:p>
        </p:txBody>
      </p:sp>
    </p:spTree>
    <p:extLst>
      <p:ext uri="{BB962C8B-B14F-4D97-AF65-F5344CB8AC3E}">
        <p14:creationId xmlns:p14="http://schemas.microsoft.com/office/powerpoint/2010/main" val="325705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Graphic 6" descr="Kidney">
            <a:extLst>
              <a:ext uri="{FF2B5EF4-FFF2-40B4-BE49-F238E27FC236}">
                <a16:creationId xmlns:a16="http://schemas.microsoft.com/office/drawing/2014/main" id="{92CB7951-744E-6648-C53D-1B147BC717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74427" y="1573971"/>
            <a:ext cx="3720152" cy="3720152"/>
          </a:xfrm>
          <a:prstGeom prst="rect">
            <a:avLst/>
          </a:prstGeom>
        </p:spPr>
      </p:pic>
      <p:sp>
        <p:nvSpPr>
          <p:cNvPr id="3" name="Content Placeholder 2">
            <a:extLst>
              <a:ext uri="{FF2B5EF4-FFF2-40B4-BE49-F238E27FC236}">
                <a16:creationId xmlns:a16="http://schemas.microsoft.com/office/drawing/2014/main" id="{21740CDF-A85C-2C77-74F4-50BBA96315ED}"/>
              </a:ext>
            </a:extLst>
          </p:cNvPr>
          <p:cNvSpPr>
            <a:spLocks noGrp="1"/>
          </p:cNvSpPr>
          <p:nvPr>
            <p:ph idx="1"/>
          </p:nvPr>
        </p:nvSpPr>
        <p:spPr>
          <a:xfrm>
            <a:off x="5407861" y="557373"/>
            <a:ext cx="6030163" cy="5743253"/>
          </a:xfrm>
        </p:spPr>
        <p:txBody>
          <a:bodyPr>
            <a:noAutofit/>
          </a:bodyPr>
          <a:lstStyle/>
          <a:p>
            <a:pPr marL="0" indent="0">
              <a:buNone/>
            </a:pPr>
            <a:r>
              <a:rPr lang="en-US" sz="3200" dirty="0">
                <a:latin typeface="Times New Roman" panose="02020603050405020304" pitchFamily="18" charset="0"/>
                <a:cs typeface="Times New Roman" panose="02020603050405020304" pitchFamily="18" charset="0"/>
              </a:rPr>
              <a:t>Early prediction can help in:</a:t>
            </a:r>
          </a:p>
          <a:p>
            <a:r>
              <a:rPr lang="en-US" sz="2000" dirty="0">
                <a:latin typeface="Times New Roman" panose="02020603050405020304" pitchFamily="18" charset="0"/>
                <a:cs typeface="Times New Roman" panose="02020603050405020304" pitchFamily="18" charset="0"/>
              </a:rPr>
              <a:t>Reducing dialysis and transplant load</a:t>
            </a:r>
          </a:p>
          <a:p>
            <a:r>
              <a:rPr lang="en-US" sz="2000" dirty="0">
                <a:latin typeface="Times New Roman" panose="02020603050405020304" pitchFamily="18" charset="0"/>
                <a:cs typeface="Times New Roman" panose="02020603050405020304" pitchFamily="18" charset="0"/>
              </a:rPr>
              <a:t>Lowering healthcare costs.</a:t>
            </a:r>
          </a:p>
          <a:p>
            <a:r>
              <a:rPr lang="en-US" sz="2000" dirty="0">
                <a:latin typeface="Times New Roman" panose="02020603050405020304" pitchFamily="18" charset="0"/>
                <a:cs typeface="Times New Roman" panose="02020603050405020304" pitchFamily="18" charset="0"/>
              </a:rPr>
              <a:t>Increasing the quality of patients' lives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 </a:t>
            </a:r>
          </a:p>
          <a:p>
            <a:pPr marL="0" indent="0">
              <a:buNone/>
            </a:pPr>
            <a:r>
              <a:rPr lang="en-US" sz="3200" dirty="0">
                <a:latin typeface="Times New Roman" panose="02020603050405020304" pitchFamily="18" charset="0"/>
                <a:cs typeface="Times New Roman" panose="02020603050405020304" pitchFamily="18" charset="0"/>
              </a:rPr>
              <a:t>Project Significance: </a:t>
            </a:r>
          </a:p>
          <a:p>
            <a:r>
              <a:rPr lang="en-US" sz="2000" dirty="0">
                <a:latin typeface="Times New Roman" panose="02020603050405020304" pitchFamily="18" charset="0"/>
                <a:cs typeface="Times New Roman" panose="02020603050405020304" pitchFamily="18" charset="0"/>
              </a:rPr>
              <a:t>Machine learning can uncover latent patterns in laboratory values (e.g. serum creatinine, eGFR, blood pressure).</a:t>
            </a:r>
          </a:p>
          <a:p>
            <a:r>
              <a:rPr lang="en-US" sz="2000" dirty="0">
                <a:latin typeface="Times New Roman" panose="02020603050405020304" pitchFamily="18" charset="0"/>
                <a:cs typeface="Times New Roman" panose="02020603050405020304" pitchFamily="18" charset="0"/>
              </a:rPr>
              <a:t>Helps clinicians stratify patients by risk and deliver tailored interventions</a:t>
            </a:r>
          </a:p>
          <a:p>
            <a:r>
              <a:rPr lang="en-US" sz="2000" dirty="0">
                <a:latin typeface="Times New Roman" panose="02020603050405020304" pitchFamily="18" charset="0"/>
                <a:cs typeface="Times New Roman" panose="02020603050405020304" pitchFamily="18" charset="0"/>
              </a:rPr>
              <a:t>Participates in preventive medicine and targeting of high-risk groups (diabetic, hypertensive                    patients).</a:t>
            </a:r>
            <a:endParaRPr lang="en-US" sz="2000" dirty="0"/>
          </a:p>
        </p:txBody>
      </p:sp>
    </p:spTree>
    <p:extLst>
      <p:ext uri="{BB962C8B-B14F-4D97-AF65-F5344CB8AC3E}">
        <p14:creationId xmlns:p14="http://schemas.microsoft.com/office/powerpoint/2010/main" val="309858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0FE148-599F-CCE1-BF42-15138E53C8D0}"/>
              </a:ext>
            </a:extLst>
          </p:cNvPr>
          <p:cNvSpPr>
            <a:spLocks noGrp="1"/>
          </p:cNvSpPr>
          <p:nvPr>
            <p:ph type="title"/>
          </p:nvPr>
        </p:nvSpPr>
        <p:spPr>
          <a:xfrm>
            <a:off x="1468853" y="1162570"/>
            <a:ext cx="3511495" cy="4064628"/>
          </a:xfrm>
        </p:spPr>
        <p:txBody>
          <a:bodyPr>
            <a:normAutofit/>
          </a:bodyPr>
          <a:lstStyle/>
          <a:p>
            <a:r>
              <a:rPr lang="en-US" sz="4800" dirty="0">
                <a:solidFill>
                  <a:srgbClr val="FFFFFF"/>
                </a:solidFill>
                <a:latin typeface="Times New Roman" panose="02020603050405020304" pitchFamily="18" charset="0"/>
                <a:cs typeface="Times New Roman" panose="02020603050405020304" pitchFamily="18" charset="0"/>
              </a:rPr>
              <a:t>Data Description</a:t>
            </a:r>
          </a:p>
        </p:txBody>
      </p:sp>
      <p:sp>
        <p:nvSpPr>
          <p:cNvPr id="28" name="Freeform: Shape 27">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Freeform: Shape 29">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Content Placeholder 2">
            <a:extLst>
              <a:ext uri="{FF2B5EF4-FFF2-40B4-BE49-F238E27FC236}">
                <a16:creationId xmlns:a16="http://schemas.microsoft.com/office/drawing/2014/main" id="{1F566190-07F7-BC5A-5745-B2125C73C169}"/>
              </a:ext>
            </a:extLst>
          </p:cNvPr>
          <p:cNvSpPr>
            <a:spLocks noGrp="1"/>
          </p:cNvSpPr>
          <p:nvPr>
            <p:ph idx="1"/>
          </p:nvPr>
        </p:nvSpPr>
        <p:spPr>
          <a:xfrm>
            <a:off x="5327331" y="959535"/>
            <a:ext cx="6794958" cy="5605651"/>
          </a:xfrm>
        </p:spPr>
        <p:txBody>
          <a:bodyPr anchor="t">
            <a:normAutofit lnSpcReduction="10000"/>
          </a:bodyPr>
          <a:lstStyle/>
          <a:p>
            <a:r>
              <a:rPr lang="en-US" dirty="0">
                <a:latin typeface="Times New Roman" panose="02020603050405020304" pitchFamily="18" charset="0"/>
                <a:cs typeface="Times New Roman" panose="02020603050405020304" pitchFamily="18" charset="0"/>
              </a:rPr>
              <a:t>Dataset name: </a:t>
            </a:r>
            <a:r>
              <a:rPr lang="en-US" sz="2400" dirty="0">
                <a:latin typeface="Times New Roman" panose="02020603050405020304" pitchFamily="18" charset="0"/>
                <a:cs typeface="Times New Roman" panose="02020603050405020304" pitchFamily="18" charset="0"/>
              </a:rPr>
              <a:t>Chronic Kidney Disease Dataset</a:t>
            </a:r>
          </a:p>
          <a:p>
            <a:r>
              <a:rPr lang="en-US" dirty="0">
                <a:latin typeface="Times New Roman" panose="02020603050405020304" pitchFamily="18" charset="0"/>
                <a:cs typeface="Times New Roman" panose="02020603050405020304" pitchFamily="18" charset="0"/>
              </a:rPr>
              <a:t>Type of data: </a:t>
            </a:r>
            <a:r>
              <a:rPr lang="en-US" sz="2400" dirty="0">
                <a:latin typeface="Times New Roman" panose="02020603050405020304" pitchFamily="18" charset="0"/>
                <a:cs typeface="Times New Roman" panose="02020603050405020304" pitchFamily="18" charset="0"/>
              </a:rPr>
              <a:t>Patient-level clinical and demographic data.</a:t>
            </a:r>
          </a:p>
          <a:p>
            <a:r>
              <a:rPr lang="en-US" dirty="0">
                <a:latin typeface="Times New Roman" panose="02020603050405020304" pitchFamily="18" charset="0"/>
                <a:cs typeface="Times New Roman" panose="02020603050405020304" pitchFamily="18" charset="0"/>
              </a:rPr>
              <a:t>Source : </a:t>
            </a:r>
            <a:r>
              <a:rPr lang="en-US" dirty="0">
                <a:latin typeface="Times New Roman" panose="02020603050405020304" pitchFamily="18" charset="0"/>
                <a:cs typeface="Times New Roman" panose="02020603050405020304" pitchFamily="18" charset="0"/>
                <a:hlinkClick r:id="rId2"/>
              </a:rPr>
              <a:t>https://www.kaggle.com/datasets/colearninglounge/chronic-kidney-disease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Number of records: </a:t>
            </a:r>
          </a:p>
          <a:p>
            <a:pPr marL="514350" indent="-514350" algn="ctr">
              <a:buFont typeface="+mj-lt"/>
              <a:buAutoNum type="arabicPeriod"/>
            </a:pPr>
            <a:r>
              <a:rPr lang="en-US" dirty="0">
                <a:latin typeface="Times New Roman" panose="02020603050405020304" pitchFamily="18" charset="0"/>
                <a:cs typeface="Times New Roman" panose="02020603050405020304" pitchFamily="18" charset="0"/>
              </a:rPr>
              <a:t>Training records: 280</a:t>
            </a:r>
          </a:p>
          <a:p>
            <a:pPr marL="514350" indent="-514350" algn="ctr">
              <a:buFont typeface="+mj-lt"/>
              <a:buAutoNum type="arabicPeriod"/>
            </a:pPr>
            <a:r>
              <a:rPr lang="en-US" dirty="0">
                <a:latin typeface="Times New Roman" panose="02020603050405020304" pitchFamily="18" charset="0"/>
                <a:cs typeface="Times New Roman" panose="02020603050405020304" pitchFamily="18" charset="0"/>
              </a:rPr>
              <a:t>Testing records: 120</a:t>
            </a:r>
          </a:p>
          <a:p>
            <a:pPr marL="514350" indent="-514350" algn="ctr">
              <a:buFont typeface="+mj-lt"/>
              <a:buAutoNum type="arabicPeriod"/>
            </a:pPr>
            <a:r>
              <a:rPr lang="en-US" dirty="0">
                <a:latin typeface="Times New Roman" panose="02020603050405020304" pitchFamily="18" charset="0"/>
                <a:cs typeface="Times New Roman" panose="02020603050405020304" pitchFamily="18" charset="0"/>
              </a:rPr>
              <a:t>Total records: 400</a:t>
            </a:r>
          </a:p>
          <a:p>
            <a:r>
              <a:rPr lang="en-US" dirty="0">
                <a:latin typeface="Times New Roman" panose="02020603050405020304" pitchFamily="18" charset="0"/>
                <a:cs typeface="Times New Roman" panose="02020603050405020304" pitchFamily="18" charset="0"/>
              </a:rPr>
              <a:t>File format:  </a:t>
            </a:r>
            <a:r>
              <a:rPr lang="en-US" dirty="0">
                <a:solidFill>
                  <a:srgbClr val="FF0000"/>
                </a:solidFill>
                <a:latin typeface="Times New Roman" panose="02020603050405020304" pitchFamily="18" charset="0"/>
                <a:cs typeface="Times New Roman" panose="02020603050405020304" pitchFamily="18" charset="0"/>
              </a:rPr>
              <a:t>.csv</a:t>
            </a:r>
          </a:p>
          <a:p>
            <a:r>
              <a:rPr lang="en-US" dirty="0">
                <a:latin typeface="Times New Roman" panose="02020603050405020304" pitchFamily="18" charset="0"/>
                <a:cs typeface="Times New Roman" panose="02020603050405020304" pitchFamily="18" charset="0"/>
              </a:rPr>
              <a:t>Purpose: </a:t>
            </a:r>
            <a:r>
              <a:rPr lang="en-US" sz="2400" dirty="0">
                <a:latin typeface="Times New Roman" panose="02020603050405020304" pitchFamily="18" charset="0"/>
                <a:cs typeface="Times New Roman" panose="02020603050405020304" pitchFamily="18" charset="0"/>
              </a:rPr>
              <a:t>To classify patients as CKD or non-CKD based on lab tests and history.</a:t>
            </a:r>
          </a:p>
          <a:p>
            <a:pPr marL="0" indent="0">
              <a:buNone/>
            </a:pPr>
            <a:endParaRPr lang="en-US" dirty="0"/>
          </a:p>
        </p:txBody>
      </p:sp>
      <p:sp>
        <p:nvSpPr>
          <p:cNvPr id="34" name="Freeform: Shape 33">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876528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580BE0-A631-F756-2211-09D67E948ECB}"/>
              </a:ext>
            </a:extLst>
          </p:cNvPr>
          <p:cNvSpPr>
            <a:spLocks noGrp="1"/>
          </p:cNvSpPr>
          <p:nvPr>
            <p:ph type="title"/>
          </p:nvPr>
        </p:nvSpPr>
        <p:spPr>
          <a:xfrm>
            <a:off x="778636" y="-73739"/>
            <a:ext cx="5929328" cy="1423560"/>
          </a:xfrm>
        </p:spPr>
        <p:txBody>
          <a:bodyPr>
            <a:normAutofit/>
          </a:bodyPr>
          <a:lstStyle/>
          <a:p>
            <a:pPr fontAlgn="base"/>
            <a:r>
              <a:rPr lang="en-US" b="1" dirty="0">
                <a:solidFill>
                  <a:schemeClr val="accent5">
                    <a:lumMod val="50000"/>
                  </a:schemeClr>
                </a:solidFill>
                <a:latin typeface="Times New Roman" panose="02020603050405020304" pitchFamily="18" charset="0"/>
                <a:cs typeface="Times New Roman" panose="02020603050405020304" pitchFamily="18" charset="0"/>
              </a:rPr>
              <a:t>Attribute Information</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Content Placeholder 2">
            <a:extLst>
              <a:ext uri="{FF2B5EF4-FFF2-40B4-BE49-F238E27FC236}">
                <a16:creationId xmlns:a16="http://schemas.microsoft.com/office/drawing/2014/main" id="{EBC31897-124F-619A-377B-81015C58781A}"/>
              </a:ext>
            </a:extLst>
          </p:cNvPr>
          <p:cNvSpPr>
            <a:spLocks noGrp="1"/>
          </p:cNvSpPr>
          <p:nvPr>
            <p:ph idx="1"/>
          </p:nvPr>
        </p:nvSpPr>
        <p:spPr>
          <a:xfrm>
            <a:off x="514466" y="1276082"/>
            <a:ext cx="6502810" cy="5450440"/>
          </a:xfrm>
        </p:spPr>
        <p:txBody>
          <a:bodyPr>
            <a:noAutofit/>
          </a:bodyPr>
          <a:lstStyle/>
          <a:p>
            <a:pPr marL="0" indent="0" fontAlgn="base">
              <a:buNone/>
            </a:pPr>
            <a:r>
              <a:rPr lang="en-US" sz="1600" b="1" dirty="0">
                <a:solidFill>
                  <a:srgbClr val="FF0000"/>
                </a:solidFill>
                <a:latin typeface="Times New Roman" panose="02020603050405020304" pitchFamily="18" charset="0"/>
                <a:cs typeface="Times New Roman" panose="02020603050405020304" pitchFamily="18" charset="0"/>
              </a:rPr>
              <a:t>age - age                                                             </a:t>
            </a:r>
            <a:r>
              <a:rPr lang="en-US" sz="1600" dirty="0">
                <a:latin typeface="Times New Roman" panose="02020603050405020304" pitchFamily="18" charset="0"/>
                <a:cs typeface="Times New Roman" panose="02020603050405020304" pitchFamily="18" charset="0"/>
              </a:rPr>
              <a:t>sod - sodium   </a:t>
            </a:r>
          </a:p>
          <a:p>
            <a:pPr marL="0" indent="0" fontAlgn="base">
              <a:buNone/>
            </a:pPr>
            <a:r>
              <a:rPr lang="en-US" sz="1600" b="1" dirty="0">
                <a:solidFill>
                  <a:srgbClr val="FF0000"/>
                </a:solidFill>
                <a:latin typeface="Times New Roman" panose="02020603050405020304" pitchFamily="18" charset="0"/>
                <a:cs typeface="Times New Roman" panose="02020603050405020304" pitchFamily="18" charset="0"/>
              </a:rPr>
              <a:t>bp - blood pressure                                             </a:t>
            </a:r>
            <a:r>
              <a:rPr lang="en-US" sz="1600" dirty="0">
                <a:latin typeface="Times New Roman" panose="02020603050405020304" pitchFamily="18" charset="0"/>
                <a:cs typeface="Times New Roman" panose="02020603050405020304" pitchFamily="18" charset="0"/>
              </a:rPr>
              <a:t>pot - potassium</a:t>
            </a:r>
          </a:p>
          <a:p>
            <a:pPr marL="0" indent="0" fontAlgn="base">
              <a:buNone/>
            </a:pPr>
            <a:r>
              <a:rPr lang="en-US" sz="1600" b="1" dirty="0">
                <a:solidFill>
                  <a:srgbClr val="FF0000"/>
                </a:solidFill>
                <a:latin typeface="Times New Roman" panose="02020603050405020304" pitchFamily="18" charset="0"/>
                <a:cs typeface="Times New Roman" panose="02020603050405020304" pitchFamily="18" charset="0"/>
              </a:rPr>
              <a:t>sg - specific gravity                                            </a:t>
            </a:r>
            <a:r>
              <a:rPr lang="en-US" sz="1600" b="1" dirty="0" err="1">
                <a:solidFill>
                  <a:srgbClr val="FF0000"/>
                </a:solidFill>
                <a:latin typeface="Times New Roman" panose="02020603050405020304" pitchFamily="18" charset="0"/>
                <a:cs typeface="Times New Roman" panose="02020603050405020304" pitchFamily="18" charset="0"/>
              </a:rPr>
              <a:t>hemo</a:t>
            </a:r>
            <a:r>
              <a:rPr lang="en-US" sz="1600" b="1" dirty="0">
                <a:solidFill>
                  <a:srgbClr val="FF0000"/>
                </a:solidFill>
                <a:latin typeface="Times New Roman" panose="02020603050405020304" pitchFamily="18" charset="0"/>
                <a:cs typeface="Times New Roman" panose="02020603050405020304" pitchFamily="18" charset="0"/>
              </a:rPr>
              <a:t> – hemoglobin</a:t>
            </a:r>
          </a:p>
          <a:p>
            <a:pPr marL="0" indent="0" fontAlgn="base">
              <a:buNone/>
            </a:pPr>
            <a:r>
              <a:rPr lang="en-US" sz="1600" b="1" dirty="0">
                <a:solidFill>
                  <a:srgbClr val="FF0000"/>
                </a:solidFill>
                <a:latin typeface="Times New Roman" panose="02020603050405020304" pitchFamily="18" charset="0"/>
                <a:cs typeface="Times New Roman" panose="02020603050405020304" pitchFamily="18" charset="0"/>
              </a:rPr>
              <a:t>al - albumin                                                        </a:t>
            </a:r>
            <a:r>
              <a:rPr lang="en-US" sz="1600" dirty="0" err="1">
                <a:latin typeface="Times New Roman" panose="02020603050405020304" pitchFamily="18" charset="0"/>
                <a:cs typeface="Times New Roman" panose="02020603050405020304" pitchFamily="18" charset="0"/>
              </a:rPr>
              <a:t>pcv</a:t>
            </a:r>
            <a:r>
              <a:rPr lang="en-US" sz="1600" dirty="0">
                <a:latin typeface="Times New Roman" panose="02020603050405020304" pitchFamily="18" charset="0"/>
                <a:cs typeface="Times New Roman" panose="02020603050405020304" pitchFamily="18" charset="0"/>
              </a:rPr>
              <a:t> - packed cell volume</a:t>
            </a:r>
          </a:p>
          <a:p>
            <a:pPr marL="0" indent="0" fontAlgn="base">
              <a:buNone/>
            </a:pPr>
            <a:r>
              <a:rPr lang="en-US" sz="1600" dirty="0" err="1">
                <a:latin typeface="Times New Roman" panose="02020603050405020304" pitchFamily="18" charset="0"/>
                <a:cs typeface="Times New Roman" panose="02020603050405020304" pitchFamily="18" charset="0"/>
              </a:rPr>
              <a:t>su</a:t>
            </a:r>
            <a:r>
              <a:rPr lang="en-US" sz="1600" dirty="0">
                <a:latin typeface="Times New Roman" panose="02020603050405020304" pitchFamily="18" charset="0"/>
                <a:cs typeface="Times New Roman" panose="02020603050405020304" pitchFamily="18" charset="0"/>
              </a:rPr>
              <a:t> - sugar                                                            </a:t>
            </a:r>
            <a:r>
              <a:rPr lang="en-US" sz="1600" dirty="0" err="1">
                <a:latin typeface="Times New Roman" panose="02020603050405020304" pitchFamily="18" charset="0"/>
                <a:cs typeface="Times New Roman" panose="02020603050405020304" pitchFamily="18" charset="0"/>
              </a:rPr>
              <a:t>wc</a:t>
            </a:r>
            <a:r>
              <a:rPr lang="en-US" sz="1600" dirty="0">
                <a:latin typeface="Times New Roman" panose="02020603050405020304" pitchFamily="18" charset="0"/>
                <a:cs typeface="Times New Roman" panose="02020603050405020304" pitchFamily="18" charset="0"/>
              </a:rPr>
              <a:t> - white blood count</a:t>
            </a:r>
          </a:p>
          <a:p>
            <a:pPr marL="0" indent="0" fontAlgn="base">
              <a:buNone/>
            </a:pPr>
            <a:r>
              <a:rPr lang="en-US" sz="1600" dirty="0" err="1">
                <a:latin typeface="Times New Roman" panose="02020603050405020304" pitchFamily="18" charset="0"/>
                <a:cs typeface="Times New Roman" panose="02020603050405020304" pitchFamily="18" charset="0"/>
              </a:rPr>
              <a:t>rbc</a:t>
            </a:r>
            <a:r>
              <a:rPr lang="en-US" sz="1600" dirty="0">
                <a:latin typeface="Times New Roman" panose="02020603050405020304" pitchFamily="18" charset="0"/>
                <a:cs typeface="Times New Roman" panose="02020603050405020304" pitchFamily="18" charset="0"/>
              </a:rPr>
              <a:t> - red blood cells                                            </a:t>
            </a:r>
            <a:r>
              <a:rPr lang="en-US" sz="1600" dirty="0" err="1">
                <a:latin typeface="Times New Roman" panose="02020603050405020304" pitchFamily="18" charset="0"/>
                <a:cs typeface="Times New Roman" panose="02020603050405020304" pitchFamily="18" charset="0"/>
              </a:rPr>
              <a:t>rc</a:t>
            </a:r>
            <a:r>
              <a:rPr lang="en-US" sz="1600" dirty="0">
                <a:latin typeface="Times New Roman" panose="02020603050405020304" pitchFamily="18" charset="0"/>
                <a:cs typeface="Times New Roman" panose="02020603050405020304" pitchFamily="18" charset="0"/>
              </a:rPr>
              <a:t> – red blood count</a:t>
            </a:r>
          </a:p>
          <a:p>
            <a:pPr marL="0" indent="0" fontAlgn="base">
              <a:buNone/>
            </a:pPr>
            <a:r>
              <a:rPr lang="en-US" sz="1600" dirty="0">
                <a:latin typeface="Times New Roman" panose="02020603050405020304" pitchFamily="18" charset="0"/>
                <a:cs typeface="Times New Roman" panose="02020603050405020304" pitchFamily="18" charset="0"/>
              </a:rPr>
              <a:t>pc - pus cell                                                        </a:t>
            </a:r>
            <a:r>
              <a:rPr lang="en-US" sz="1600" b="1" dirty="0" err="1">
                <a:solidFill>
                  <a:srgbClr val="FF0000"/>
                </a:solidFill>
                <a:latin typeface="Times New Roman" panose="02020603050405020304" pitchFamily="18" charset="0"/>
                <a:cs typeface="Times New Roman" panose="02020603050405020304" pitchFamily="18" charset="0"/>
              </a:rPr>
              <a:t>htn</a:t>
            </a:r>
            <a:r>
              <a:rPr lang="en-US" sz="1600" b="1" dirty="0">
                <a:solidFill>
                  <a:srgbClr val="FF0000"/>
                </a:solidFill>
                <a:latin typeface="Times New Roman" panose="02020603050405020304" pitchFamily="18" charset="0"/>
                <a:cs typeface="Times New Roman" panose="02020603050405020304" pitchFamily="18" charset="0"/>
              </a:rPr>
              <a:t> - hypertension</a:t>
            </a:r>
          </a:p>
          <a:p>
            <a:pPr marL="0" indent="0" fontAlgn="base">
              <a:buNone/>
            </a:pPr>
            <a:r>
              <a:rPr lang="en-US" sz="1600" dirty="0" err="1">
                <a:latin typeface="Times New Roman" panose="02020603050405020304" pitchFamily="18" charset="0"/>
                <a:cs typeface="Times New Roman" panose="02020603050405020304" pitchFamily="18" charset="0"/>
              </a:rPr>
              <a:t>pcc</a:t>
            </a:r>
            <a:r>
              <a:rPr lang="en-US" sz="1600" dirty="0">
                <a:latin typeface="Times New Roman" panose="02020603050405020304" pitchFamily="18" charset="0"/>
                <a:cs typeface="Times New Roman" panose="02020603050405020304" pitchFamily="18" charset="0"/>
              </a:rPr>
              <a:t> - pus cell clumps                                          </a:t>
            </a:r>
            <a:r>
              <a:rPr lang="en-US" sz="1600" b="1" dirty="0">
                <a:solidFill>
                  <a:srgbClr val="FF0000"/>
                </a:solidFill>
                <a:latin typeface="Times New Roman" panose="02020603050405020304" pitchFamily="18" charset="0"/>
                <a:cs typeface="Times New Roman" panose="02020603050405020304" pitchFamily="18" charset="0"/>
              </a:rPr>
              <a:t>dm - diabetes mellitus </a:t>
            </a:r>
          </a:p>
          <a:p>
            <a:pPr marL="0" indent="0" fontAlgn="base">
              <a:buNone/>
            </a:pPr>
            <a:r>
              <a:rPr lang="en-US" sz="1600" dirty="0" err="1">
                <a:latin typeface="Times New Roman" panose="02020603050405020304" pitchFamily="18" charset="0"/>
                <a:cs typeface="Times New Roman" panose="02020603050405020304" pitchFamily="18" charset="0"/>
              </a:rPr>
              <a:t>ba</a:t>
            </a:r>
            <a:r>
              <a:rPr lang="en-US" sz="1600" dirty="0">
                <a:latin typeface="Times New Roman" panose="02020603050405020304" pitchFamily="18" charset="0"/>
                <a:cs typeface="Times New Roman" panose="02020603050405020304" pitchFamily="18" charset="0"/>
              </a:rPr>
              <a:t> – bacteria                                                     </a:t>
            </a:r>
            <a:r>
              <a:rPr lang="en-US" sz="1600" b="1" dirty="0">
                <a:solidFill>
                  <a:srgbClr val="FF0000"/>
                </a:solidFill>
                <a:latin typeface="Times New Roman" panose="02020603050405020304" pitchFamily="18" charset="0"/>
                <a:cs typeface="Times New Roman" panose="02020603050405020304" pitchFamily="18" charset="0"/>
              </a:rPr>
              <a:t>cad - coronary artery disease</a:t>
            </a:r>
          </a:p>
          <a:p>
            <a:pPr marL="0" indent="0" fontAlgn="base">
              <a:buNone/>
            </a:pPr>
            <a:r>
              <a:rPr lang="en-US" sz="1600" dirty="0" err="1">
                <a:latin typeface="Times New Roman" panose="02020603050405020304" pitchFamily="18" charset="0"/>
                <a:cs typeface="Times New Roman" panose="02020603050405020304" pitchFamily="18" charset="0"/>
              </a:rPr>
              <a:t>bgr</a:t>
            </a:r>
            <a:r>
              <a:rPr lang="en-US" sz="1600" dirty="0">
                <a:latin typeface="Times New Roman" panose="02020603050405020304" pitchFamily="18" charset="0"/>
                <a:cs typeface="Times New Roman" panose="02020603050405020304" pitchFamily="18" charset="0"/>
              </a:rPr>
              <a:t> - blood glucose random                               </a:t>
            </a:r>
            <a:r>
              <a:rPr lang="en-US" sz="1600" dirty="0" err="1">
                <a:latin typeface="Times New Roman" panose="02020603050405020304" pitchFamily="18" charset="0"/>
                <a:cs typeface="Times New Roman" panose="02020603050405020304" pitchFamily="18" charset="0"/>
              </a:rPr>
              <a:t>appet</a:t>
            </a:r>
            <a:r>
              <a:rPr lang="en-US" sz="1600" dirty="0">
                <a:latin typeface="Times New Roman" panose="02020603050405020304" pitchFamily="18" charset="0"/>
                <a:cs typeface="Times New Roman" panose="02020603050405020304" pitchFamily="18" charset="0"/>
              </a:rPr>
              <a:t> - appetite  </a:t>
            </a:r>
          </a:p>
          <a:p>
            <a:pPr marL="0" indent="0" fontAlgn="base">
              <a:buNone/>
            </a:pPr>
            <a:r>
              <a:rPr lang="en-US" sz="1600" dirty="0" err="1"/>
              <a:t>bu</a:t>
            </a:r>
            <a:r>
              <a:rPr lang="en-US" sz="1600" dirty="0"/>
              <a:t> - blood </a:t>
            </a:r>
            <a:r>
              <a:rPr lang="en-US" sz="1600" dirty="0">
                <a:latin typeface="Times New Roman" panose="02020603050405020304" pitchFamily="18" charset="0"/>
                <a:cs typeface="Times New Roman" panose="02020603050405020304" pitchFamily="18" charset="0"/>
              </a:rPr>
              <a:t>urea                                                  pe - pedal edema</a:t>
            </a:r>
          </a:p>
          <a:p>
            <a:pPr marL="0" indent="0" fontAlgn="base">
              <a:buNone/>
            </a:pPr>
            <a:r>
              <a:rPr lang="en-US" sz="1600" b="1" dirty="0" err="1">
                <a:solidFill>
                  <a:srgbClr val="FF0000"/>
                </a:solidFill>
                <a:latin typeface="Times New Roman" panose="02020603050405020304" pitchFamily="18" charset="0"/>
                <a:cs typeface="Times New Roman" panose="02020603050405020304" pitchFamily="18" charset="0"/>
              </a:rPr>
              <a:t>sc</a:t>
            </a:r>
            <a:r>
              <a:rPr lang="en-US" sz="1600" b="1" dirty="0">
                <a:solidFill>
                  <a:srgbClr val="FF0000"/>
                </a:solidFill>
                <a:latin typeface="Times New Roman" panose="02020603050405020304" pitchFamily="18" charset="0"/>
                <a:cs typeface="Times New Roman" panose="02020603050405020304" pitchFamily="18" charset="0"/>
              </a:rPr>
              <a:t> - serum creatinine                                          </a:t>
            </a:r>
            <a:r>
              <a:rPr lang="en-US" sz="1600" dirty="0" err="1">
                <a:latin typeface="Times New Roman" panose="02020603050405020304" pitchFamily="18" charset="0"/>
                <a:cs typeface="Times New Roman" panose="02020603050405020304" pitchFamily="18" charset="0"/>
              </a:rPr>
              <a:t>ane</a:t>
            </a:r>
            <a:r>
              <a:rPr lang="en-US" sz="1600" dirty="0">
                <a:latin typeface="Times New Roman" panose="02020603050405020304" pitchFamily="18" charset="0"/>
                <a:cs typeface="Times New Roman" panose="02020603050405020304" pitchFamily="18" charset="0"/>
              </a:rPr>
              <a:t> - anemia</a:t>
            </a:r>
          </a:p>
          <a:p>
            <a:pPr marL="0" indent="0">
              <a:buNone/>
            </a:pPr>
            <a:r>
              <a:rPr lang="en-US" sz="1600" b="1" dirty="0">
                <a:solidFill>
                  <a:srgbClr val="FF0000"/>
                </a:solidFill>
                <a:latin typeface="Times New Roman" panose="02020603050405020304" pitchFamily="18" charset="0"/>
                <a:cs typeface="Times New Roman" panose="02020603050405020304" pitchFamily="18" charset="0"/>
              </a:rPr>
              <a:t>class – class(CKD / non CKD)</a:t>
            </a:r>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36" name="Straight Connector 35">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4566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955807-96E3-3E0E-4F57-2CFEE8E1343B}"/>
              </a:ext>
            </a:extLst>
          </p:cNvPr>
          <p:cNvSpPr>
            <a:spLocks noGrp="1"/>
          </p:cNvSpPr>
          <p:nvPr>
            <p:ph type="title"/>
          </p:nvPr>
        </p:nvSpPr>
        <p:spPr>
          <a:xfrm>
            <a:off x="686834" y="1153572"/>
            <a:ext cx="3200400" cy="4461163"/>
          </a:xfrm>
        </p:spPr>
        <p:txBody>
          <a:bodyPr>
            <a:normAutofit/>
          </a:bodyPr>
          <a:lstStyle/>
          <a:p>
            <a:r>
              <a:rPr lang="en-US" dirty="0">
                <a:solidFill>
                  <a:srgbClr val="FFFFFF"/>
                </a:solidFill>
                <a:latin typeface="Times New Roman" panose="02020603050405020304" pitchFamily="18" charset="0"/>
                <a:cs typeface="Times New Roman" panose="02020603050405020304" pitchFamily="18" charset="0"/>
              </a:rPr>
              <a:t>Data cleaning</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B86941E9-2510-F1A7-98F7-66CD60A18464}"/>
              </a:ext>
            </a:extLst>
          </p:cNvPr>
          <p:cNvSpPr>
            <a:spLocks noGrp="1"/>
          </p:cNvSpPr>
          <p:nvPr>
            <p:ph idx="1"/>
          </p:nvPr>
        </p:nvSpPr>
        <p:spPr>
          <a:xfrm>
            <a:off x="4447308" y="591344"/>
            <a:ext cx="6906491" cy="5585619"/>
          </a:xfrm>
        </p:spPr>
        <p:txBody>
          <a:bodyPr anchor="ctr">
            <a:normAutofit/>
          </a:bodyPr>
          <a:lstStyle/>
          <a:p>
            <a:r>
              <a:rPr lang="en-US" sz="2400" dirty="0">
                <a:latin typeface="Times New Roman" panose="02020603050405020304" pitchFamily="18" charset="0"/>
                <a:cs typeface="Times New Roman" panose="02020603050405020304" pitchFamily="18" charset="0"/>
              </a:rPr>
              <a:t>Removed inconsistent values (e.g., “Yes/yes/YES” → standardized to lowercase).</a:t>
            </a:r>
          </a:p>
          <a:p>
            <a:r>
              <a:rPr lang="en-US" sz="2400" dirty="0">
                <a:latin typeface="Times New Roman" panose="02020603050405020304" pitchFamily="18" charset="0"/>
                <a:cs typeface="Times New Roman" panose="02020603050405020304" pitchFamily="18" charset="0"/>
              </a:rPr>
              <a:t>Converted categorical features like </a:t>
            </a:r>
            <a:r>
              <a:rPr lang="en-US" sz="2400" b="1" dirty="0" err="1">
                <a:latin typeface="Times New Roman" panose="02020603050405020304" pitchFamily="18" charset="0"/>
                <a:cs typeface="Times New Roman" panose="02020603050405020304" pitchFamily="18" charset="0"/>
              </a:rPr>
              <a:t>htn</a:t>
            </a:r>
            <a:r>
              <a:rPr lang="en-US" sz="2400" b="1" dirty="0">
                <a:latin typeface="Times New Roman" panose="02020603050405020304" pitchFamily="18" charset="0"/>
                <a:cs typeface="Times New Roman" panose="02020603050405020304" pitchFamily="18" charset="0"/>
              </a:rPr>
              <a:t>, dm, cad, </a:t>
            </a:r>
            <a:r>
              <a:rPr lang="en-US" sz="2400" b="1" dirty="0" err="1">
                <a:latin typeface="Times New Roman" panose="02020603050405020304" pitchFamily="18" charset="0"/>
                <a:cs typeface="Times New Roman" panose="02020603050405020304" pitchFamily="18" charset="0"/>
              </a:rPr>
              <a:t>appet</a:t>
            </a:r>
            <a:r>
              <a:rPr lang="en-US" sz="2400" b="1" dirty="0">
                <a:latin typeface="Times New Roman" panose="02020603050405020304" pitchFamily="18" charset="0"/>
                <a:cs typeface="Times New Roman" panose="02020603050405020304" pitchFamily="18" charset="0"/>
              </a:rPr>
              <a:t>, pe, </a:t>
            </a:r>
            <a:r>
              <a:rPr lang="en-US" sz="2400" b="1" dirty="0" err="1">
                <a:latin typeface="Times New Roman" panose="02020603050405020304" pitchFamily="18" charset="0"/>
                <a:cs typeface="Times New Roman" panose="02020603050405020304" pitchFamily="18" charset="0"/>
              </a:rPr>
              <a:t>ane</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rbc</a:t>
            </a:r>
            <a:r>
              <a:rPr lang="en-US" sz="2400" b="1" dirty="0">
                <a:latin typeface="Times New Roman" panose="02020603050405020304" pitchFamily="18" charset="0"/>
                <a:cs typeface="Times New Roman" panose="02020603050405020304" pitchFamily="18" charset="0"/>
              </a:rPr>
              <a:t>, pc</a:t>
            </a:r>
            <a:r>
              <a:rPr lang="en-US" sz="2400" dirty="0">
                <a:latin typeface="Times New Roman" panose="02020603050405020304" pitchFamily="18" charset="0"/>
                <a:cs typeface="Times New Roman" panose="02020603050405020304" pitchFamily="18" charset="0"/>
              </a:rPr>
              <a:t> into consistent labels (yes/no, normal/abnormal).</a:t>
            </a:r>
          </a:p>
          <a:p>
            <a:r>
              <a:rPr lang="en-US" sz="2400" dirty="0">
                <a:latin typeface="Times New Roman" panose="02020603050405020304" pitchFamily="18" charset="0"/>
                <a:cs typeface="Times New Roman" panose="02020603050405020304" pitchFamily="18" charset="0"/>
              </a:rPr>
              <a:t>Checked for </a:t>
            </a:r>
            <a:r>
              <a:rPr lang="en-US" sz="2400" b="1" dirty="0">
                <a:latin typeface="Times New Roman" panose="02020603050405020304" pitchFamily="18" charset="0"/>
                <a:cs typeface="Times New Roman" panose="02020603050405020304" pitchFamily="18" charset="0"/>
              </a:rPr>
              <a:t>missing values</a:t>
            </a:r>
            <a:r>
              <a:rPr lang="en-US" sz="2400" dirty="0">
                <a:latin typeface="Times New Roman" panose="02020603050405020304" pitchFamily="18" charset="0"/>
                <a:cs typeface="Times New Roman" panose="02020603050405020304" pitchFamily="18" charset="0"/>
              </a:rPr>
              <a:t> in key columns (e.g., </a:t>
            </a:r>
            <a:r>
              <a:rPr lang="en-US" sz="2400" dirty="0" err="1">
                <a:latin typeface="Times New Roman" panose="02020603050405020304" pitchFamily="18" charset="0"/>
                <a:cs typeface="Times New Roman" panose="02020603050405020304" pitchFamily="18" charset="0"/>
              </a:rPr>
              <a:t>sc</a:t>
            </a:r>
            <a:r>
              <a:rPr lang="en-US" sz="2400" dirty="0">
                <a:latin typeface="Times New Roman" panose="02020603050405020304" pitchFamily="18" charset="0"/>
                <a:cs typeface="Times New Roman" panose="02020603050405020304" pitchFamily="18" charset="0"/>
              </a:rPr>
              <a:t>, bp, </a:t>
            </a:r>
            <a:r>
              <a:rPr lang="en-US" sz="2400" dirty="0" err="1">
                <a:latin typeface="Times New Roman" panose="02020603050405020304" pitchFamily="18" charset="0"/>
                <a:cs typeface="Times New Roman" panose="02020603050405020304" pitchFamily="18" charset="0"/>
              </a:rPr>
              <a:t>hemo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wc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pcv</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Prepared summary of missing data to decide on imputation or exclusion later.</a:t>
            </a:r>
          </a:p>
          <a:p>
            <a:endParaRPr lang="en-US" dirty="0"/>
          </a:p>
        </p:txBody>
      </p:sp>
    </p:spTree>
    <p:extLst>
      <p:ext uri="{BB962C8B-B14F-4D97-AF65-F5344CB8AC3E}">
        <p14:creationId xmlns:p14="http://schemas.microsoft.com/office/powerpoint/2010/main" val="1156303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F945A-5BBD-20C5-F6F4-87C52419BC85}"/>
              </a:ext>
            </a:extLst>
          </p:cNvPr>
          <p:cNvSpPr>
            <a:spLocks noGrp="1"/>
          </p:cNvSpPr>
          <p:nvPr>
            <p:ph type="title"/>
          </p:nvPr>
        </p:nvSpPr>
        <p:spPr/>
        <p:txBody>
          <a:bodyPr/>
          <a:lstStyle/>
          <a:p>
            <a:r>
              <a:rPr lang="en-US" dirty="0">
                <a:solidFill>
                  <a:schemeClr val="tx2"/>
                </a:solidFill>
                <a:latin typeface="Times New Roman" panose="02020603050405020304" pitchFamily="18" charset="0"/>
                <a:cs typeface="Times New Roman" panose="02020603050405020304" pitchFamily="18" charset="0"/>
              </a:rPr>
              <a:t>Data processing</a:t>
            </a:r>
            <a:br>
              <a:rPr lang="en-US" dirty="0">
                <a:solidFill>
                  <a:schemeClr val="tx2"/>
                </a:solidFill>
                <a:latin typeface="Times New Roman" panose="02020603050405020304" pitchFamily="18" charset="0"/>
                <a:cs typeface="Times New Roman" panose="02020603050405020304" pitchFamily="18" charset="0"/>
              </a:rPr>
            </a:br>
            <a:endParaRPr lang="en-US" dirty="0"/>
          </a:p>
        </p:txBody>
      </p:sp>
      <p:graphicFrame>
        <p:nvGraphicFramePr>
          <p:cNvPr id="7" name="Content Placeholder 2">
            <a:extLst>
              <a:ext uri="{FF2B5EF4-FFF2-40B4-BE49-F238E27FC236}">
                <a16:creationId xmlns:a16="http://schemas.microsoft.com/office/drawing/2014/main" id="{8A8184B6-84DF-8CD9-34CE-3ABF1F845987}"/>
              </a:ext>
            </a:extLst>
          </p:cNvPr>
          <p:cNvGraphicFramePr>
            <a:graphicFrameLocks noGrp="1"/>
          </p:cNvGraphicFramePr>
          <p:nvPr>
            <p:ph idx="1"/>
            <p:extLst>
              <p:ext uri="{D42A27DB-BD31-4B8C-83A1-F6EECF244321}">
                <p14:modId xmlns:p14="http://schemas.microsoft.com/office/powerpoint/2010/main" val="2366507535"/>
              </p:ext>
            </p:extLst>
          </p:nvPr>
        </p:nvGraphicFramePr>
        <p:xfrm>
          <a:off x="838200" y="1825625"/>
          <a:ext cx="10515600" cy="4831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8616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DF39D9-7762-3840-4E77-36A81826D7E8}"/>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latin typeface="Times New Roman" panose="02020603050405020304" pitchFamily="18" charset="0"/>
                <a:cs typeface="Times New Roman" panose="02020603050405020304" pitchFamily="18" charset="0"/>
              </a:rPr>
              <a:t>Exploratory Data Analysis (EDA)</a:t>
            </a:r>
            <a:br>
              <a:rPr lang="en-US" sz="5600">
                <a:solidFill>
                  <a:srgbClr val="FFFFFF"/>
                </a:solidFill>
                <a:latin typeface="Times New Roman" panose="02020603050405020304" pitchFamily="18" charset="0"/>
                <a:cs typeface="Times New Roman" panose="02020603050405020304" pitchFamily="18" charset="0"/>
              </a:rPr>
            </a:br>
            <a:endParaRPr lang="en-US" sz="5600">
              <a:solidFill>
                <a:srgbClr val="FFFFFF"/>
              </a:solidFill>
            </a:endParaRPr>
          </a:p>
        </p:txBody>
      </p:sp>
      <p:sp>
        <p:nvSpPr>
          <p:cNvPr id="19"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2A3DDB67-81E7-7402-0747-EDF0194329CD}"/>
              </a:ext>
            </a:extLst>
          </p:cNvPr>
          <p:cNvSpPr>
            <a:spLocks noGrp="1"/>
          </p:cNvSpPr>
          <p:nvPr>
            <p:ph idx="1"/>
          </p:nvPr>
        </p:nvSpPr>
        <p:spPr>
          <a:xfrm>
            <a:off x="6297233" y="518400"/>
            <a:ext cx="4771607" cy="5837949"/>
          </a:xfrm>
        </p:spPr>
        <p:txBody>
          <a:bodyPr anchor="ctr">
            <a:normAutofit/>
          </a:bodyPr>
          <a:lstStyle/>
          <a:p>
            <a:pPr marL="0" indent="0">
              <a:buNone/>
            </a:pPr>
            <a:r>
              <a:rPr lang="en-US" sz="1700" b="1">
                <a:solidFill>
                  <a:schemeClr val="tx1">
                    <a:alpha val="80000"/>
                  </a:schemeClr>
                </a:solidFill>
                <a:latin typeface="Times New Roman" panose="02020603050405020304" pitchFamily="18" charset="0"/>
                <a:cs typeface="Times New Roman" panose="02020603050405020304" pitchFamily="18" charset="0"/>
              </a:rPr>
              <a:t>Feature selection: </a:t>
            </a:r>
          </a:p>
          <a:p>
            <a:r>
              <a:rPr lang="en-US" sz="1700" b="1">
                <a:solidFill>
                  <a:schemeClr val="tx1">
                    <a:alpha val="80000"/>
                  </a:schemeClr>
                </a:solidFill>
                <a:latin typeface="Times New Roman" panose="02020603050405020304" pitchFamily="18" charset="0"/>
                <a:cs typeface="Times New Roman" panose="02020603050405020304" pitchFamily="18" charset="0"/>
              </a:rPr>
              <a:t>Serum Creatinine (sc)</a:t>
            </a:r>
            <a:r>
              <a:rPr lang="en-US" sz="1700">
                <a:solidFill>
                  <a:schemeClr val="tx1">
                    <a:alpha val="80000"/>
                  </a:schemeClr>
                </a:solidFill>
                <a:latin typeface="Times New Roman" panose="02020603050405020304" pitchFamily="18" charset="0"/>
                <a:cs typeface="Times New Roman" panose="02020603050405020304" pitchFamily="18" charset="0"/>
              </a:rPr>
              <a:t> – Numeric</a:t>
            </a:r>
          </a:p>
          <a:p>
            <a:pPr lvl="1"/>
            <a:r>
              <a:rPr lang="en-US" sz="1700">
                <a:solidFill>
                  <a:schemeClr val="tx1">
                    <a:alpha val="80000"/>
                  </a:schemeClr>
                </a:solidFill>
                <a:latin typeface="Times New Roman" panose="02020603050405020304" pitchFamily="18" charset="0"/>
                <a:cs typeface="Times New Roman" panose="02020603050405020304" pitchFamily="18" charset="0"/>
              </a:rPr>
              <a:t>Key kidney function marker; higher values mean impaired kidney filtration.</a:t>
            </a:r>
          </a:p>
          <a:p>
            <a:r>
              <a:rPr lang="en-US" sz="1700" b="1">
                <a:solidFill>
                  <a:schemeClr val="tx1">
                    <a:alpha val="80000"/>
                  </a:schemeClr>
                </a:solidFill>
                <a:latin typeface="Times New Roman" panose="02020603050405020304" pitchFamily="18" charset="0"/>
                <a:cs typeface="Times New Roman" panose="02020603050405020304" pitchFamily="18" charset="0"/>
              </a:rPr>
              <a:t>Blood Pressure (bp)</a:t>
            </a:r>
            <a:r>
              <a:rPr lang="en-US" sz="1700">
                <a:solidFill>
                  <a:schemeClr val="tx1">
                    <a:alpha val="80000"/>
                  </a:schemeClr>
                </a:solidFill>
                <a:latin typeface="Times New Roman" panose="02020603050405020304" pitchFamily="18" charset="0"/>
                <a:cs typeface="Times New Roman" panose="02020603050405020304" pitchFamily="18" charset="0"/>
              </a:rPr>
              <a:t> – Numeric</a:t>
            </a:r>
          </a:p>
          <a:p>
            <a:pPr lvl="1"/>
            <a:r>
              <a:rPr lang="en-US" sz="1700">
                <a:solidFill>
                  <a:schemeClr val="tx1">
                    <a:alpha val="80000"/>
                  </a:schemeClr>
                </a:solidFill>
                <a:latin typeface="Times New Roman" panose="02020603050405020304" pitchFamily="18" charset="0"/>
                <a:cs typeface="Times New Roman" panose="02020603050405020304" pitchFamily="18" charset="0"/>
              </a:rPr>
              <a:t>Hypertension is a major CKD risk factor; important for studying variation.</a:t>
            </a:r>
          </a:p>
          <a:p>
            <a:r>
              <a:rPr lang="en-US" sz="1700" b="1">
                <a:solidFill>
                  <a:schemeClr val="tx1">
                    <a:alpha val="80000"/>
                  </a:schemeClr>
                </a:solidFill>
                <a:latin typeface="Times New Roman" panose="02020603050405020304" pitchFamily="18" charset="0"/>
                <a:cs typeface="Times New Roman" panose="02020603050405020304" pitchFamily="18" charset="0"/>
              </a:rPr>
              <a:t>Hypertension (htn)</a:t>
            </a:r>
            <a:r>
              <a:rPr lang="en-US" sz="1700">
                <a:solidFill>
                  <a:schemeClr val="tx1">
                    <a:alpha val="80000"/>
                  </a:schemeClr>
                </a:solidFill>
                <a:latin typeface="Times New Roman" panose="02020603050405020304" pitchFamily="18" charset="0"/>
                <a:cs typeface="Times New Roman" panose="02020603050405020304" pitchFamily="18" charset="0"/>
              </a:rPr>
              <a:t> – Categorical (yes/no)</a:t>
            </a:r>
          </a:p>
          <a:p>
            <a:pPr lvl="1"/>
            <a:r>
              <a:rPr lang="en-US" sz="1700">
                <a:solidFill>
                  <a:schemeClr val="tx1">
                    <a:alpha val="80000"/>
                  </a:schemeClr>
                </a:solidFill>
                <a:latin typeface="Times New Roman" panose="02020603050405020304" pitchFamily="18" charset="0"/>
                <a:cs typeface="Times New Roman" panose="02020603050405020304" pitchFamily="18" charset="0"/>
              </a:rPr>
              <a:t>Clinical condition strongly linked to CKD progression.</a:t>
            </a:r>
          </a:p>
          <a:p>
            <a:r>
              <a:rPr lang="en-US" sz="1700" b="1">
                <a:solidFill>
                  <a:schemeClr val="tx1">
                    <a:alpha val="80000"/>
                  </a:schemeClr>
                </a:solidFill>
                <a:latin typeface="Times New Roman" panose="02020603050405020304" pitchFamily="18" charset="0"/>
                <a:cs typeface="Times New Roman" panose="02020603050405020304" pitchFamily="18" charset="0"/>
              </a:rPr>
              <a:t>Diabetes Mellitus (dm)</a:t>
            </a:r>
            <a:r>
              <a:rPr lang="en-US" sz="1700">
                <a:solidFill>
                  <a:schemeClr val="tx1">
                    <a:alpha val="80000"/>
                  </a:schemeClr>
                </a:solidFill>
                <a:latin typeface="Times New Roman" panose="02020603050405020304" pitchFamily="18" charset="0"/>
                <a:cs typeface="Times New Roman" panose="02020603050405020304" pitchFamily="18" charset="0"/>
              </a:rPr>
              <a:t> – Categorical (yes/no)</a:t>
            </a:r>
          </a:p>
          <a:p>
            <a:pPr lvl="1"/>
            <a:r>
              <a:rPr lang="en-US" sz="1700">
                <a:solidFill>
                  <a:schemeClr val="tx1">
                    <a:alpha val="80000"/>
                  </a:schemeClr>
                </a:solidFill>
                <a:latin typeface="Times New Roman" panose="02020603050405020304" pitchFamily="18" charset="0"/>
                <a:cs typeface="Times New Roman" panose="02020603050405020304" pitchFamily="18" charset="0"/>
              </a:rPr>
              <a:t>Diabetes is a leading cause of CKD; ~36% of patients in our dataset have it.</a:t>
            </a:r>
          </a:p>
          <a:p>
            <a:r>
              <a:rPr lang="en-US" sz="1700" b="1">
                <a:solidFill>
                  <a:schemeClr val="tx1">
                    <a:alpha val="80000"/>
                  </a:schemeClr>
                </a:solidFill>
                <a:latin typeface="Times New Roman" panose="02020603050405020304" pitchFamily="18" charset="0"/>
                <a:cs typeface="Times New Roman" panose="02020603050405020304" pitchFamily="18" charset="0"/>
              </a:rPr>
              <a:t>Why chosen?</a:t>
            </a:r>
            <a:endParaRPr lang="en-US" sz="1700">
              <a:solidFill>
                <a:schemeClr val="tx1">
                  <a:alpha val="80000"/>
                </a:schemeClr>
              </a:solidFill>
              <a:latin typeface="Times New Roman" panose="02020603050405020304" pitchFamily="18" charset="0"/>
              <a:cs typeface="Times New Roman" panose="02020603050405020304" pitchFamily="18" charset="0"/>
            </a:endParaRPr>
          </a:p>
          <a:p>
            <a:r>
              <a:rPr lang="en-US" sz="1700">
                <a:solidFill>
                  <a:schemeClr val="tx1">
                    <a:alpha val="80000"/>
                  </a:schemeClr>
                </a:solidFill>
                <a:latin typeface="Times New Roman" panose="02020603050405020304" pitchFamily="18" charset="0"/>
                <a:cs typeface="Times New Roman" panose="02020603050405020304" pitchFamily="18" charset="0"/>
              </a:rPr>
              <a:t>Clinically significant features for CKD.</a:t>
            </a:r>
          </a:p>
          <a:p>
            <a:r>
              <a:rPr lang="en-US" sz="1700">
                <a:solidFill>
                  <a:schemeClr val="tx1">
                    <a:alpha val="80000"/>
                  </a:schemeClr>
                </a:solidFill>
                <a:latin typeface="Times New Roman" panose="02020603050405020304" pitchFamily="18" charset="0"/>
                <a:cs typeface="Times New Roman" panose="02020603050405020304" pitchFamily="18" charset="0"/>
              </a:rPr>
              <a:t>Mix of </a:t>
            </a:r>
            <a:r>
              <a:rPr lang="en-US" sz="1700" b="1">
                <a:solidFill>
                  <a:schemeClr val="tx1">
                    <a:alpha val="80000"/>
                  </a:schemeClr>
                </a:solidFill>
                <a:latin typeface="Times New Roman" panose="02020603050405020304" pitchFamily="18" charset="0"/>
                <a:cs typeface="Times New Roman" panose="02020603050405020304" pitchFamily="18" charset="0"/>
              </a:rPr>
              <a:t>numeric</a:t>
            </a:r>
            <a:r>
              <a:rPr lang="en-US" sz="1700">
                <a:solidFill>
                  <a:schemeClr val="tx1">
                    <a:alpha val="80000"/>
                  </a:schemeClr>
                </a:solidFill>
                <a:latin typeface="Times New Roman" panose="02020603050405020304" pitchFamily="18" charset="0"/>
                <a:cs typeface="Times New Roman" panose="02020603050405020304" pitchFamily="18" charset="0"/>
              </a:rPr>
              <a:t> and </a:t>
            </a:r>
            <a:r>
              <a:rPr lang="en-US" sz="1700" b="1">
                <a:solidFill>
                  <a:schemeClr val="tx1">
                    <a:alpha val="80000"/>
                  </a:schemeClr>
                </a:solidFill>
                <a:latin typeface="Times New Roman" panose="02020603050405020304" pitchFamily="18" charset="0"/>
                <a:cs typeface="Times New Roman" panose="02020603050405020304" pitchFamily="18" charset="0"/>
              </a:rPr>
              <a:t>categorical</a:t>
            </a:r>
            <a:r>
              <a:rPr lang="en-US" sz="1700">
                <a:solidFill>
                  <a:schemeClr val="tx1">
                    <a:alpha val="80000"/>
                  </a:schemeClr>
                </a:solidFill>
                <a:latin typeface="Times New Roman" panose="02020603050405020304" pitchFamily="18" charset="0"/>
                <a:cs typeface="Times New Roman" panose="02020603050405020304" pitchFamily="18" charset="0"/>
              </a:rPr>
              <a:t> variables.</a:t>
            </a:r>
          </a:p>
          <a:p>
            <a:r>
              <a:rPr lang="en-US" sz="1700">
                <a:solidFill>
                  <a:schemeClr val="tx1">
                    <a:alpha val="80000"/>
                  </a:schemeClr>
                </a:solidFill>
                <a:latin typeface="Times New Roman" panose="02020603050405020304" pitchFamily="18" charset="0"/>
                <a:cs typeface="Times New Roman" panose="02020603050405020304" pitchFamily="18" charset="0"/>
              </a:rPr>
              <a:t>Clear variation in the dataset → good for visualization.</a:t>
            </a:r>
          </a:p>
          <a:p>
            <a:pPr marL="0" indent="0">
              <a:buNone/>
            </a:pPr>
            <a:endParaRPr lang="en-US" sz="17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4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FFB9E74-DF06-DAC3-A9C3-3980370A2F5E}"/>
              </a:ext>
            </a:extLst>
          </p:cNvPr>
          <p:cNvSpPr>
            <a:spLocks noGrp="1"/>
          </p:cNvSpPr>
          <p:nvPr>
            <p:ph type="title"/>
          </p:nvPr>
        </p:nvSpPr>
        <p:spPr>
          <a:xfrm>
            <a:off x="838200" y="609600"/>
            <a:ext cx="3739341" cy="1330839"/>
          </a:xfrm>
        </p:spPr>
        <p:txBody>
          <a:bodyPr vert="horz" lIns="91440" tIns="45720" rIns="91440" bIns="45720" rtlCol="0" anchor="ctr">
            <a:normAutofit fontScale="90000"/>
          </a:bodyPr>
          <a:lstStyle/>
          <a:p>
            <a:r>
              <a:rPr lang="en-US" sz="4400" b="1" kern="1200" dirty="0">
                <a:solidFill>
                  <a:schemeClr val="tx1"/>
                </a:solidFill>
                <a:latin typeface="Times New Roman" panose="02020603050405020304" pitchFamily="18" charset="0"/>
                <a:cs typeface="Times New Roman" panose="02020603050405020304" pitchFamily="18" charset="0"/>
              </a:rPr>
              <a:t>Visualization &amp; Interpretation</a:t>
            </a:r>
          </a:p>
        </p:txBody>
      </p:sp>
      <p:pic>
        <p:nvPicPr>
          <p:cNvPr id="6" name="Content Placeholder 5" descr="A graph with blue rectangular bars&#10;&#10;AI-generated content may be incorrect.">
            <a:extLst>
              <a:ext uri="{FF2B5EF4-FFF2-40B4-BE49-F238E27FC236}">
                <a16:creationId xmlns:a16="http://schemas.microsoft.com/office/drawing/2014/main" id="{6AF6F084-AB38-9B6E-4C55-513F42C752AC}"/>
              </a:ext>
            </a:extLst>
          </p:cNvPr>
          <p:cNvPicPr>
            <a:picLocks noGrp="1" noChangeAspect="1"/>
          </p:cNvPicPr>
          <p:nvPr>
            <p:ph idx="1"/>
          </p:nvPr>
        </p:nvPicPr>
        <p:blipFill>
          <a:blip r:embed="rId2"/>
          <a:stretch>
            <a:fillRect/>
          </a:stretch>
        </p:blipFill>
        <p:spPr>
          <a:xfrm>
            <a:off x="5445457" y="1148081"/>
            <a:ext cx="6155141" cy="4585579"/>
          </a:xfrm>
          <a:prstGeom prst="rect">
            <a:avLst/>
          </a:prstGeom>
        </p:spPr>
      </p:pic>
      <p:graphicFrame>
        <p:nvGraphicFramePr>
          <p:cNvPr id="25" name="Text Placeholder 3">
            <a:extLst>
              <a:ext uri="{FF2B5EF4-FFF2-40B4-BE49-F238E27FC236}">
                <a16:creationId xmlns:a16="http://schemas.microsoft.com/office/drawing/2014/main" id="{DEC9E860-8618-584D-2C1D-38DF673F3CE9}"/>
              </a:ext>
            </a:extLst>
          </p:cNvPr>
          <p:cNvGraphicFramePr/>
          <p:nvPr>
            <p:extLst>
              <p:ext uri="{D42A27DB-BD31-4B8C-83A1-F6EECF244321}">
                <p14:modId xmlns:p14="http://schemas.microsoft.com/office/powerpoint/2010/main" val="882020301"/>
              </p:ext>
            </p:extLst>
          </p:nvPr>
        </p:nvGraphicFramePr>
        <p:xfrm>
          <a:off x="838200" y="1940439"/>
          <a:ext cx="3451167" cy="4162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44666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7B4B3D9-AD98-28D4-5556-74D061E1EDB1}"/>
              </a:ext>
            </a:extLst>
          </p:cNvPr>
          <p:cNvSpPr>
            <a:spLocks noGrp="1"/>
          </p:cNvSpPr>
          <p:nvPr>
            <p:ph type="title"/>
          </p:nvPr>
        </p:nvSpPr>
        <p:spPr>
          <a:xfrm>
            <a:off x="6657715" y="467271"/>
            <a:ext cx="4195674" cy="2052522"/>
          </a:xfrm>
        </p:spPr>
        <p:txBody>
          <a:bodyPr vert="horz" lIns="91440" tIns="45720" rIns="91440" bIns="45720" rtlCol="0" anchor="b">
            <a:normAutofit/>
          </a:bodyPr>
          <a:lstStyle/>
          <a:p>
            <a:r>
              <a:rPr lang="en-US" sz="2800" b="1" dirty="0">
                <a:latin typeface="Times New Roman" panose="02020603050405020304" pitchFamily="18" charset="0"/>
                <a:cs typeface="Times New Roman" panose="02020603050405020304" pitchFamily="18" charset="0"/>
              </a:rPr>
              <a:t>Pie chart (share of diabetes)</a:t>
            </a:r>
            <a:br>
              <a:rPr lang="en-US" sz="2800" b="1" dirty="0">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13" name="Oval 1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2965"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blue and orange pie chart&#10;&#10;AI-generated content may be incorrect.">
            <a:extLst>
              <a:ext uri="{FF2B5EF4-FFF2-40B4-BE49-F238E27FC236}">
                <a16:creationId xmlns:a16="http://schemas.microsoft.com/office/drawing/2014/main" id="{7CF94BE0-FDE6-C1D0-86FD-50A7DB0518B8}"/>
              </a:ext>
            </a:extLst>
          </p:cNvPr>
          <p:cNvPicPr>
            <a:picLocks noGrp="1" noChangeAspect="1"/>
          </p:cNvPicPr>
          <p:nvPr>
            <p:ph idx="1"/>
          </p:nvPr>
        </p:nvPicPr>
        <p:blipFill>
          <a:blip r:embed="rId2"/>
          <a:srcRect t="4894"/>
          <a:stretch>
            <a:fillRect/>
          </a:stretch>
        </p:blipFill>
        <p:spPr>
          <a:xfrm>
            <a:off x="505418" y="554151"/>
            <a:ext cx="5742189" cy="5742189"/>
          </a:xfrm>
          <a:custGeom>
            <a:avLst/>
            <a:gdLst/>
            <a:ahLst/>
            <a:cxnLst/>
            <a:rect l="l" t="t" r="r" b="b"/>
            <a:pathLst>
              <a:path w="1838528" h="1838528">
                <a:moveTo>
                  <a:pt x="919264" y="0"/>
                </a:moveTo>
                <a:cubicBezTo>
                  <a:pt x="1426959" y="0"/>
                  <a:pt x="1838528" y="411569"/>
                  <a:pt x="1838528" y="919264"/>
                </a:cubicBezTo>
                <a:cubicBezTo>
                  <a:pt x="1838528" y="1426959"/>
                  <a:pt x="1426959" y="1838528"/>
                  <a:pt x="919264" y="1838528"/>
                </a:cubicBezTo>
                <a:cubicBezTo>
                  <a:pt x="411569" y="1838528"/>
                  <a:pt x="0" y="1426959"/>
                  <a:pt x="0" y="919264"/>
                </a:cubicBezTo>
                <a:cubicBezTo>
                  <a:pt x="0" y="411569"/>
                  <a:pt x="411569" y="0"/>
                  <a:pt x="919264" y="0"/>
                </a:cubicBezTo>
                <a:close/>
              </a:path>
            </a:pathLst>
          </a:custGeom>
        </p:spPr>
      </p:pic>
      <p:sp>
        <p:nvSpPr>
          <p:cNvPr id="15" name="!!plus graphic">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4956" y="703679"/>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17" name="!!circle graphic">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2753" y="1562696"/>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4" name="Text Placeholder 3">
            <a:extLst>
              <a:ext uri="{FF2B5EF4-FFF2-40B4-BE49-F238E27FC236}">
                <a16:creationId xmlns:a16="http://schemas.microsoft.com/office/drawing/2014/main" id="{9AE6474F-8CD4-7943-173A-2DC00A36FC4C}"/>
              </a:ext>
            </a:extLst>
          </p:cNvPr>
          <p:cNvSpPr>
            <a:spLocks noGrp="1"/>
          </p:cNvSpPr>
          <p:nvPr>
            <p:ph type="body" sz="half" idx="2"/>
          </p:nvPr>
        </p:nvSpPr>
        <p:spPr>
          <a:xfrm>
            <a:off x="6567796" y="2443887"/>
            <a:ext cx="4195673" cy="2913872"/>
          </a:xfrm>
        </p:spPr>
        <p:txBody>
          <a:bodyPr vert="horz" lIns="91440" tIns="45720" rIns="91440" bIns="45720" rtlCol="0" anchor="t">
            <a:normAutofit/>
          </a:bodyPr>
          <a:lstStyle/>
          <a:p>
            <a:r>
              <a:rPr lang="en-US" sz="2000" dirty="0">
                <a:solidFill>
                  <a:schemeClr val="tx1">
                    <a:alpha val="80000"/>
                  </a:schemeClr>
                </a:solidFill>
                <a:latin typeface="Times New Roman" panose="02020603050405020304" pitchFamily="18" charset="0"/>
                <a:cs typeface="Times New Roman" panose="02020603050405020304" pitchFamily="18" charset="0"/>
              </a:rPr>
              <a:t>Approximately, 36 percent of the patients are diabetic and approximately 64 percent are not. Although the proportion of patients without diabetes is more, one-third of diabetes is still a large proportion. Diabetes being one of the causative agents of kidney disease, this aspect renders it a subject of interest.</a:t>
            </a:r>
          </a:p>
        </p:txBody>
      </p:sp>
      <p:sp>
        <p:nvSpPr>
          <p:cNvPr id="19" name="!!dot graphic">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4149" y="5775082"/>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cxnSp>
        <p:nvCxnSpPr>
          <p:cNvPr id="21" name="!!Straight Connector">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9272"/>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3831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756B343-807D-456E-AA26-80E96B75D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9B1C03-44B3-8B2C-A2DF-36C7AF188021}"/>
              </a:ext>
            </a:extLst>
          </p:cNvPr>
          <p:cNvSpPr>
            <a:spLocks noGrp="1"/>
          </p:cNvSpPr>
          <p:nvPr>
            <p:ph type="title"/>
          </p:nvPr>
        </p:nvSpPr>
        <p:spPr>
          <a:xfrm>
            <a:off x="7239014" y="525982"/>
            <a:ext cx="4282983" cy="1200361"/>
          </a:xfrm>
        </p:spPr>
        <p:txBody>
          <a:bodyPr vert="horz" lIns="91440" tIns="45720" rIns="91440" bIns="45720" rtlCol="0" anchor="b">
            <a:normAutofit fontScale="90000"/>
          </a:bodyPr>
          <a:lstStyle/>
          <a:p>
            <a:r>
              <a:rPr lang="en-US" sz="2800" b="1" dirty="0">
                <a:latin typeface="Times New Roman" panose="02020603050405020304" pitchFamily="18" charset="0"/>
                <a:cs typeface="Times New Roman" panose="02020603050405020304" pitchFamily="18" charset="0"/>
              </a:rPr>
              <a:t>Histogram (serum creatinine, </a:t>
            </a:r>
            <a:r>
              <a:rPr lang="en-US" sz="2800" b="1" dirty="0" err="1">
                <a:latin typeface="Times New Roman" panose="02020603050405020304" pitchFamily="18" charset="0"/>
                <a:cs typeface="Times New Roman" panose="02020603050405020304" pitchFamily="18" charset="0"/>
              </a:rPr>
              <a:t>sc</a:t>
            </a:r>
            <a:r>
              <a:rPr lang="en-US" sz="2800" b="1" dirty="0">
                <a:latin typeface="Times New Roman" panose="02020603050405020304" pitchFamily="18" charset="0"/>
                <a:cs typeface="Times New Roman" panose="02020603050405020304" pitchFamily="18" charset="0"/>
              </a:rPr>
              <a:t>)</a:t>
            </a:r>
            <a:br>
              <a:rPr lang="en-US" sz="2500" dirty="0"/>
            </a:br>
            <a:endParaRPr lang="en-US" sz="2500" dirty="0"/>
          </a:p>
        </p:txBody>
      </p:sp>
      <p:sp>
        <p:nvSpPr>
          <p:cNvPr id="13" name="Rectangle 12">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graph of a bar graph&#10;&#10;AI-generated content may be incorrect.">
            <a:extLst>
              <a:ext uri="{FF2B5EF4-FFF2-40B4-BE49-F238E27FC236}">
                <a16:creationId xmlns:a16="http://schemas.microsoft.com/office/drawing/2014/main" id="{B9BC7DA2-8BCE-81B7-5C17-D2DE62EAB401}"/>
              </a:ext>
            </a:extLst>
          </p:cNvPr>
          <p:cNvPicPr>
            <a:picLocks noGrp="1" noChangeAspect="1"/>
          </p:cNvPicPr>
          <p:nvPr>
            <p:ph idx="1"/>
          </p:nvPr>
        </p:nvPicPr>
        <p:blipFill>
          <a:blip r:embed="rId2"/>
          <a:srcRect r="21247" b="-1"/>
          <a:stretch>
            <a:fillRect/>
          </a:stretch>
        </p:blipFill>
        <p:spPr>
          <a:xfrm>
            <a:off x="576244" y="650494"/>
            <a:ext cx="5628018" cy="5324142"/>
          </a:xfrm>
          <a:prstGeom prst="rect">
            <a:avLst/>
          </a:prstGeom>
        </p:spPr>
      </p:pic>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72978D4-7CBA-371B-1EA6-C4C9CAF11B40}"/>
              </a:ext>
            </a:extLst>
          </p:cNvPr>
          <p:cNvSpPr>
            <a:spLocks noGrp="1"/>
          </p:cNvSpPr>
          <p:nvPr>
            <p:ph type="body" sz="half" idx="2"/>
          </p:nvPr>
        </p:nvSpPr>
        <p:spPr>
          <a:xfrm>
            <a:off x="6941574" y="1944913"/>
            <a:ext cx="4580422" cy="3598131"/>
          </a:xfrm>
        </p:spPr>
        <p:txBody>
          <a:bodyPr vert="horz" lIns="91440" tIns="45720" rIns="91440" bIns="45720" rtlCol="0" anchor="ctr">
            <a:normAutofit/>
          </a:bodyPr>
          <a:lstStyle/>
          <a:p>
            <a:r>
              <a:rPr lang="en-US" sz="2000" dirty="0">
                <a:latin typeface="Times New Roman" panose="02020603050405020304" pitchFamily="18" charset="0"/>
                <a:cs typeface="Times New Roman" panose="02020603050405020304" pitchFamily="18" charset="0"/>
              </a:rPr>
              <a:t>Most patients have low serum creatinine values, shown by the tall bars on the left. Only a few patients have very high values, which appear as small bars on the far right. These high values may represent severe kidney problems.</a:t>
            </a:r>
          </a:p>
        </p:txBody>
      </p:sp>
      <p:sp>
        <p:nvSpPr>
          <p:cNvPr id="19" name="Rectangle 1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9239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8393EBD-FD29-DCA1-B48E-3E3F00AD5500}"/>
              </a:ext>
            </a:extLst>
          </p:cNvPr>
          <p:cNvSpPr>
            <a:spLocks noGrp="1"/>
          </p:cNvSpPr>
          <p:nvPr>
            <p:ph type="title"/>
          </p:nvPr>
        </p:nvSpPr>
        <p:spPr>
          <a:xfrm>
            <a:off x="838200" y="609600"/>
            <a:ext cx="3739341" cy="1330839"/>
          </a:xfrm>
        </p:spPr>
        <p:txBody>
          <a:bodyPr vert="horz" lIns="91440" tIns="45720" rIns="91440" bIns="45720" rtlCol="0" anchor="ctr">
            <a:normAutofit/>
          </a:bodyPr>
          <a:lstStyle/>
          <a:p>
            <a:r>
              <a:rPr lang="en-US" sz="2000" b="1" kern="1200" dirty="0">
                <a:solidFill>
                  <a:schemeClr val="tx1"/>
                </a:solidFill>
                <a:latin typeface="Times New Roman" panose="02020603050405020304" pitchFamily="18" charset="0"/>
                <a:cs typeface="Times New Roman" panose="02020603050405020304" pitchFamily="18" charset="0"/>
              </a:rPr>
              <a:t>Box plot (blood pressure, bp)</a:t>
            </a:r>
            <a:br>
              <a:rPr lang="en-US" sz="2800" kern="1200" dirty="0">
                <a:solidFill>
                  <a:schemeClr val="tx1"/>
                </a:solidFill>
                <a:latin typeface="+mj-lt"/>
                <a:ea typeface="+mj-ea"/>
                <a:cs typeface="+mj-cs"/>
              </a:rPr>
            </a:br>
            <a:endParaRPr lang="en-US" sz="2800" kern="1200" dirty="0">
              <a:solidFill>
                <a:schemeClr val="tx1"/>
              </a:solidFill>
              <a:latin typeface="+mj-lt"/>
              <a:ea typeface="+mj-ea"/>
              <a:cs typeface="+mj-cs"/>
            </a:endParaRPr>
          </a:p>
        </p:txBody>
      </p:sp>
      <p:sp>
        <p:nvSpPr>
          <p:cNvPr id="4" name="Text Placeholder 3">
            <a:extLst>
              <a:ext uri="{FF2B5EF4-FFF2-40B4-BE49-F238E27FC236}">
                <a16:creationId xmlns:a16="http://schemas.microsoft.com/office/drawing/2014/main" id="{F8587969-DF81-CBA1-EC79-A6C5BF56FC59}"/>
              </a:ext>
            </a:extLst>
          </p:cNvPr>
          <p:cNvSpPr>
            <a:spLocks noGrp="1"/>
          </p:cNvSpPr>
          <p:nvPr>
            <p:ph type="body" sz="half" idx="2"/>
          </p:nvPr>
        </p:nvSpPr>
        <p:spPr>
          <a:xfrm>
            <a:off x="862366" y="2194102"/>
            <a:ext cx="3427001" cy="3908586"/>
          </a:xfrm>
        </p:spPr>
        <p:txBody>
          <a:bodyPr vert="horz" lIns="91440" tIns="45720" rIns="91440" bIns="45720" rtlCol="0">
            <a:normAutofit/>
          </a:bodyPr>
          <a:lstStyle/>
          <a:p>
            <a:r>
              <a:rPr lang="en-US" sz="2000" dirty="0">
                <a:latin typeface="Times New Roman" panose="02020603050405020304" pitchFamily="18" charset="0"/>
                <a:cs typeface="Times New Roman" panose="02020603050405020304" pitchFamily="18" charset="0"/>
              </a:rPr>
              <a:t>The patients mostly have a range of about 70 to 80 mmHg, and the median of the blood pressure is 75. Some outliers depicting significantly higher blood pressures even to above 150 indicate that there are patients whose blood pressure is extremely unstable.</a:t>
            </a:r>
          </a:p>
        </p:txBody>
      </p:sp>
      <p:pic>
        <p:nvPicPr>
          <p:cNvPr id="6" name="Content Placeholder 5" descr="A diagram of a box plot&#10;&#10;AI-generated content may be incorrect.">
            <a:extLst>
              <a:ext uri="{FF2B5EF4-FFF2-40B4-BE49-F238E27FC236}">
                <a16:creationId xmlns:a16="http://schemas.microsoft.com/office/drawing/2014/main" id="{66EA759C-5538-18DB-FF3F-69F3C8B16A2C}"/>
              </a:ext>
            </a:extLst>
          </p:cNvPr>
          <p:cNvPicPr>
            <a:picLocks noGrp="1" noChangeAspect="1"/>
          </p:cNvPicPr>
          <p:nvPr>
            <p:ph idx="1"/>
          </p:nvPr>
        </p:nvPicPr>
        <p:blipFill>
          <a:blip r:embed="rId2"/>
          <a:stretch>
            <a:fillRect/>
          </a:stretch>
        </p:blipFill>
        <p:spPr>
          <a:xfrm>
            <a:off x="5445457" y="1148081"/>
            <a:ext cx="6155141" cy="4585579"/>
          </a:xfrm>
          <a:prstGeom prst="rect">
            <a:avLst/>
          </a:prstGeom>
        </p:spPr>
      </p:pic>
    </p:spTree>
    <p:extLst>
      <p:ext uri="{BB962C8B-B14F-4D97-AF65-F5344CB8AC3E}">
        <p14:creationId xmlns:p14="http://schemas.microsoft.com/office/powerpoint/2010/main" val="3916579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387BAB-5A4B-4CBB-52C7-86FFBF758005}"/>
              </a:ext>
            </a:extLst>
          </p:cNvPr>
          <p:cNvSpPr>
            <a:spLocks noGrp="1"/>
          </p:cNvSpPr>
          <p:nvPr>
            <p:ph type="title"/>
          </p:nvPr>
        </p:nvSpPr>
        <p:spPr>
          <a:xfrm>
            <a:off x="589560" y="856180"/>
            <a:ext cx="4560584" cy="1128068"/>
          </a:xfrm>
        </p:spPr>
        <p:txBody>
          <a:bodyPr vert="horz" lIns="91440" tIns="45720" rIns="91440" bIns="45720" rtlCol="0" anchor="ctr">
            <a:normAutofit/>
          </a:bodyPr>
          <a:lstStyle/>
          <a:p>
            <a:r>
              <a:rPr lang="en-US" sz="2000" b="1" dirty="0">
                <a:latin typeface="Times New Roman" panose="02020603050405020304" pitchFamily="18" charset="0"/>
                <a:cs typeface="Times New Roman" panose="02020603050405020304" pitchFamily="18" charset="0"/>
              </a:rPr>
              <a:t>Scatter plot (relationship: </a:t>
            </a:r>
            <a:r>
              <a:rPr lang="en-US" sz="2000" b="1" dirty="0" err="1">
                <a:latin typeface="Times New Roman" panose="02020603050405020304" pitchFamily="18" charset="0"/>
                <a:cs typeface="Times New Roman" panose="02020603050405020304" pitchFamily="18" charset="0"/>
              </a:rPr>
              <a:t>sc</a:t>
            </a:r>
            <a:r>
              <a:rPr lang="en-US" sz="2000" b="1" dirty="0">
                <a:latin typeface="Times New Roman" panose="02020603050405020304" pitchFamily="18" charset="0"/>
                <a:cs typeface="Times New Roman" panose="02020603050405020304" pitchFamily="18" charset="0"/>
              </a:rPr>
              <a:t> vs bp)</a:t>
            </a:r>
            <a:br>
              <a:rPr lang="en-US" sz="2500" dirty="0"/>
            </a:br>
            <a:endParaRPr lang="en-US" sz="2500" dirty="0"/>
          </a:p>
        </p:txBody>
      </p:sp>
      <p:grpSp>
        <p:nvGrpSpPr>
          <p:cNvPr id="23" name="Group 2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E9F591D6-2210-F56E-6873-7F49E815C63E}"/>
              </a:ext>
            </a:extLst>
          </p:cNvPr>
          <p:cNvSpPr>
            <a:spLocks noGrp="1"/>
          </p:cNvSpPr>
          <p:nvPr>
            <p:ph type="body" sz="half" idx="2"/>
          </p:nvPr>
        </p:nvSpPr>
        <p:spPr>
          <a:xfrm>
            <a:off x="590719" y="2330505"/>
            <a:ext cx="4559425" cy="3979585"/>
          </a:xfrm>
        </p:spPr>
        <p:txBody>
          <a:bodyPr vert="horz" lIns="91440" tIns="45720" rIns="91440" bIns="45720" rtlCol="0" anchor="ctr">
            <a:normAutofit/>
          </a:bodyPr>
          <a:lstStyle/>
          <a:p>
            <a:r>
              <a:rPr lang="en-US" sz="2000" dirty="0">
                <a:latin typeface="Times New Roman" panose="02020603050405020304" pitchFamily="18" charset="0"/>
                <a:cs typeface="Times New Roman" panose="02020603050405020304" pitchFamily="18" charset="0"/>
              </a:rPr>
              <a:t>No definite straight-line correlation exists between blood pressure and serum creatinine. Majority of the patients falls around the normal blood pressure and lower creatinine levels. Some of the patients have extremely high creatinine levels that can present more serious kidney issues, and this is not directly correlated with elevated blood pressure.</a:t>
            </a:r>
          </a:p>
        </p:txBody>
      </p:sp>
      <p:sp>
        <p:nvSpPr>
          <p:cNvPr id="26" name="Rectangle 2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graph of blood pressure&#10;&#10;AI-generated content may be incorrect.">
            <a:extLst>
              <a:ext uri="{FF2B5EF4-FFF2-40B4-BE49-F238E27FC236}">
                <a16:creationId xmlns:a16="http://schemas.microsoft.com/office/drawing/2014/main" id="{A447D9B5-CE2B-B86E-BB7B-0A7365582417}"/>
              </a:ext>
            </a:extLst>
          </p:cNvPr>
          <p:cNvPicPr>
            <a:picLocks noGrp="1" noChangeAspect="1"/>
          </p:cNvPicPr>
          <p:nvPr>
            <p:ph idx="1"/>
          </p:nvPr>
        </p:nvPicPr>
        <p:blipFill>
          <a:blip r:embed="rId2"/>
          <a:srcRect l="14708" r="8440" b="2"/>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2136490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897DEB4-4A88-4293-A935-9B25506C1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2">
            <a:extLst>
              <a:ext uri="{FF2B5EF4-FFF2-40B4-BE49-F238E27FC236}">
                <a16:creationId xmlns:a16="http://schemas.microsoft.com/office/drawing/2014/main" id="{FBE42BC3-6707-4CBF-9386-048B994A4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886" y="0"/>
            <a:ext cx="7538114" cy="6858000"/>
          </a:xfrm>
          <a:custGeom>
            <a:avLst/>
            <a:gdLst>
              <a:gd name="connsiteX0" fmla="*/ 366246 w 7538114"/>
              <a:gd name="connsiteY0" fmla="*/ 0 h 6858000"/>
              <a:gd name="connsiteX1" fmla="*/ 2830292 w 7538114"/>
              <a:gd name="connsiteY1" fmla="*/ 0 h 6858000"/>
              <a:gd name="connsiteX2" fmla="*/ 3903260 w 7538114"/>
              <a:gd name="connsiteY2" fmla="*/ 0 h 6858000"/>
              <a:gd name="connsiteX3" fmla="*/ 4597266 w 7538114"/>
              <a:gd name="connsiteY3" fmla="*/ 0 h 6858000"/>
              <a:gd name="connsiteX4" fmla="*/ 7192370 w 7538114"/>
              <a:gd name="connsiteY4" fmla="*/ 0 h 6858000"/>
              <a:gd name="connsiteX5" fmla="*/ 7538114 w 7538114"/>
              <a:gd name="connsiteY5" fmla="*/ 0 h 6858000"/>
              <a:gd name="connsiteX6" fmla="*/ 7538114 w 7538114"/>
              <a:gd name="connsiteY6" fmla="*/ 6858000 h 6858000"/>
              <a:gd name="connsiteX7" fmla="*/ 7192370 w 7538114"/>
              <a:gd name="connsiteY7" fmla="*/ 6858000 h 6858000"/>
              <a:gd name="connsiteX8" fmla="*/ 4597266 w 7538114"/>
              <a:gd name="connsiteY8" fmla="*/ 6858000 h 6858000"/>
              <a:gd name="connsiteX9" fmla="*/ 3903260 w 7538114"/>
              <a:gd name="connsiteY9" fmla="*/ 6858000 h 6858000"/>
              <a:gd name="connsiteX10" fmla="*/ 2830292 w 7538114"/>
              <a:gd name="connsiteY10" fmla="*/ 6858000 h 6858000"/>
              <a:gd name="connsiteX11" fmla="*/ 170314 w 7538114"/>
              <a:gd name="connsiteY11" fmla="*/ 6858000 h 6858000"/>
              <a:gd name="connsiteX12" fmla="*/ 170341 w 7538114"/>
              <a:gd name="connsiteY12" fmla="*/ 6857759 h 6858000"/>
              <a:gd name="connsiteX13" fmla="*/ 173485 w 7538114"/>
              <a:gd name="connsiteY13" fmla="*/ 6852129 h 6858000"/>
              <a:gd name="connsiteX14" fmla="*/ 167544 w 7538114"/>
              <a:gd name="connsiteY14" fmla="*/ 6830335 h 6858000"/>
              <a:gd name="connsiteX15" fmla="*/ 163472 w 7538114"/>
              <a:gd name="connsiteY15" fmla="*/ 6796707 h 6858000"/>
              <a:gd name="connsiteX16" fmla="*/ 160535 w 7538114"/>
              <a:gd name="connsiteY16" fmla="*/ 6780725 h 6858000"/>
              <a:gd name="connsiteX17" fmla="*/ 162318 w 7538114"/>
              <a:gd name="connsiteY17" fmla="*/ 6767829 h 6858000"/>
              <a:gd name="connsiteX18" fmla="*/ 162771 w 7538114"/>
              <a:gd name="connsiteY18" fmla="*/ 6694444 h 6858000"/>
              <a:gd name="connsiteX19" fmla="*/ 165604 w 7538114"/>
              <a:gd name="connsiteY19" fmla="*/ 6677569 h 6858000"/>
              <a:gd name="connsiteX20" fmla="*/ 171255 w 7538114"/>
              <a:gd name="connsiteY20" fmla="*/ 6669571 h 6858000"/>
              <a:gd name="connsiteX21" fmla="*/ 169240 w 7538114"/>
              <a:gd name="connsiteY21" fmla="*/ 6663304 h 6858000"/>
              <a:gd name="connsiteX22" fmla="*/ 169039 w 7538114"/>
              <a:gd name="connsiteY22" fmla="*/ 6618916 h 6858000"/>
              <a:gd name="connsiteX23" fmla="*/ 168392 w 7538114"/>
              <a:gd name="connsiteY23" fmla="*/ 6589960 h 6858000"/>
              <a:gd name="connsiteX24" fmla="*/ 160636 w 7538114"/>
              <a:gd name="connsiteY24" fmla="*/ 6588200 h 6858000"/>
              <a:gd name="connsiteX25" fmla="*/ 157872 w 7538114"/>
              <a:gd name="connsiteY25" fmla="*/ 6562416 h 6858000"/>
              <a:gd name="connsiteX26" fmla="*/ 162851 w 7538114"/>
              <a:gd name="connsiteY26" fmla="*/ 6534939 h 6858000"/>
              <a:gd name="connsiteX27" fmla="*/ 162153 w 7538114"/>
              <a:gd name="connsiteY27" fmla="*/ 6502552 h 6858000"/>
              <a:gd name="connsiteX28" fmla="*/ 161821 w 7538114"/>
              <a:gd name="connsiteY28" fmla="*/ 6483172 h 6858000"/>
              <a:gd name="connsiteX29" fmla="*/ 154586 w 7538114"/>
              <a:gd name="connsiteY29" fmla="*/ 6432309 h 6858000"/>
              <a:gd name="connsiteX30" fmla="*/ 127078 w 7538114"/>
              <a:gd name="connsiteY30" fmla="*/ 6349783 h 6858000"/>
              <a:gd name="connsiteX31" fmla="*/ 123181 w 7538114"/>
              <a:gd name="connsiteY31" fmla="*/ 6323872 h 6858000"/>
              <a:gd name="connsiteX32" fmla="*/ 124767 w 7538114"/>
              <a:gd name="connsiteY32" fmla="*/ 6319343 h 6858000"/>
              <a:gd name="connsiteX33" fmla="*/ 108246 w 7538114"/>
              <a:gd name="connsiteY33" fmla="*/ 6190348 h 6858000"/>
              <a:gd name="connsiteX34" fmla="*/ 107279 w 7538114"/>
              <a:gd name="connsiteY34" fmla="*/ 6167269 h 6858000"/>
              <a:gd name="connsiteX35" fmla="*/ 107883 w 7538114"/>
              <a:gd name="connsiteY35" fmla="*/ 6149986 h 6858000"/>
              <a:gd name="connsiteX36" fmla="*/ 102380 w 7538114"/>
              <a:gd name="connsiteY36" fmla="*/ 6108622 h 6858000"/>
              <a:gd name="connsiteX37" fmla="*/ 90314 w 7538114"/>
              <a:gd name="connsiteY37" fmla="*/ 6041155 h 6858000"/>
              <a:gd name="connsiteX38" fmla="*/ 88409 w 7538114"/>
              <a:gd name="connsiteY38" fmla="*/ 6026587 h 6858000"/>
              <a:gd name="connsiteX39" fmla="*/ 89403 w 7538114"/>
              <a:gd name="connsiteY39" fmla="*/ 6013265 h 6858000"/>
              <a:gd name="connsiteX40" fmla="*/ 91927 w 7538114"/>
              <a:gd name="connsiteY40" fmla="*/ 6009478 h 6858000"/>
              <a:gd name="connsiteX41" fmla="*/ 91302 w 7538114"/>
              <a:gd name="connsiteY41" fmla="*/ 6001336 h 6858000"/>
              <a:gd name="connsiteX42" fmla="*/ 91687 w 7538114"/>
              <a:gd name="connsiteY42" fmla="*/ 5999003 h 6858000"/>
              <a:gd name="connsiteX43" fmla="*/ 93336 w 7538114"/>
              <a:gd name="connsiteY43" fmla="*/ 5985795 h 6858000"/>
              <a:gd name="connsiteX44" fmla="*/ 83190 w 7538114"/>
              <a:gd name="connsiteY44" fmla="*/ 5961758 h 6858000"/>
              <a:gd name="connsiteX45" fmla="*/ 81952 w 7538114"/>
              <a:gd name="connsiteY45" fmla="*/ 5928761 h 6858000"/>
              <a:gd name="connsiteX46" fmla="*/ 67420 w 7538114"/>
              <a:gd name="connsiteY46" fmla="*/ 5787247 h 6858000"/>
              <a:gd name="connsiteX47" fmla="*/ 50760 w 7538114"/>
              <a:gd name="connsiteY47" fmla="*/ 5710700 h 6858000"/>
              <a:gd name="connsiteX48" fmla="*/ 42956 w 7538114"/>
              <a:gd name="connsiteY48" fmla="*/ 5641754 h 6858000"/>
              <a:gd name="connsiteX49" fmla="*/ 29695 w 7538114"/>
              <a:gd name="connsiteY49" fmla="*/ 5602326 h 6858000"/>
              <a:gd name="connsiteX50" fmla="*/ 18841 w 7538114"/>
              <a:gd name="connsiteY50" fmla="*/ 5570885 h 6858000"/>
              <a:gd name="connsiteX51" fmla="*/ 9977 w 7538114"/>
              <a:gd name="connsiteY51" fmla="*/ 5543492 h 6858000"/>
              <a:gd name="connsiteX52" fmla="*/ 5255 w 7538114"/>
              <a:gd name="connsiteY52" fmla="*/ 5531024 h 6858000"/>
              <a:gd name="connsiteX53" fmla="*/ 5447 w 7538114"/>
              <a:gd name="connsiteY53" fmla="*/ 5527845 h 6858000"/>
              <a:gd name="connsiteX54" fmla="*/ 0 w 7538114"/>
              <a:gd name="connsiteY54" fmla="*/ 5507724 h 6858000"/>
              <a:gd name="connsiteX55" fmla="*/ 435 w 7538114"/>
              <a:gd name="connsiteY55" fmla="*/ 5507045 h 6858000"/>
              <a:gd name="connsiteX56" fmla="*/ 1128 w 7538114"/>
              <a:gd name="connsiteY56" fmla="*/ 5499619 h 6858000"/>
              <a:gd name="connsiteX57" fmla="*/ 1291 w 7538114"/>
              <a:gd name="connsiteY57" fmla="*/ 5486342 h 6858000"/>
              <a:gd name="connsiteX58" fmla="*/ 7976 w 7538114"/>
              <a:gd name="connsiteY58" fmla="*/ 5450755 h 6858000"/>
              <a:gd name="connsiteX59" fmla="*/ 2355 w 7538114"/>
              <a:gd name="connsiteY59" fmla="*/ 5429732 h 6858000"/>
              <a:gd name="connsiteX60" fmla="*/ 1499 w 7538114"/>
              <a:gd name="connsiteY60" fmla="*/ 5370432 h 6858000"/>
              <a:gd name="connsiteX61" fmla="*/ 11483 w 7538114"/>
              <a:gd name="connsiteY61" fmla="*/ 5308330 h 6858000"/>
              <a:gd name="connsiteX62" fmla="*/ 12793 w 7538114"/>
              <a:gd name="connsiteY62" fmla="*/ 5246026 h 6858000"/>
              <a:gd name="connsiteX63" fmla="*/ 12525 w 7538114"/>
              <a:gd name="connsiteY63" fmla="*/ 5223468 h 6858000"/>
              <a:gd name="connsiteX64" fmla="*/ 15322 w 7538114"/>
              <a:gd name="connsiteY64" fmla="*/ 5183258 h 6858000"/>
              <a:gd name="connsiteX65" fmla="*/ 18633 w 7538114"/>
              <a:gd name="connsiteY65" fmla="*/ 5164842 h 6858000"/>
              <a:gd name="connsiteX66" fmla="*/ 18428 w 7538114"/>
              <a:gd name="connsiteY66" fmla="*/ 5164034 h 6858000"/>
              <a:gd name="connsiteX67" fmla="*/ 19854 w 7538114"/>
              <a:gd name="connsiteY67" fmla="*/ 5162388 h 6858000"/>
              <a:gd name="connsiteX68" fmla="*/ 20514 w 7538114"/>
              <a:gd name="connsiteY68" fmla="*/ 5158981 h 6858000"/>
              <a:gd name="connsiteX69" fmla="*/ 20089 w 7538114"/>
              <a:gd name="connsiteY69" fmla="*/ 5149681 h 6858000"/>
              <a:gd name="connsiteX70" fmla="*/ 19561 w 7538114"/>
              <a:gd name="connsiteY70" fmla="*/ 5146183 h 6858000"/>
              <a:gd name="connsiteX71" fmla="*/ 19571 w 7538114"/>
              <a:gd name="connsiteY71" fmla="*/ 5141065 h 6858000"/>
              <a:gd name="connsiteX72" fmla="*/ 19690 w 7538114"/>
              <a:gd name="connsiteY72" fmla="*/ 5140937 h 6858000"/>
              <a:gd name="connsiteX73" fmla="*/ 19471 w 7538114"/>
              <a:gd name="connsiteY73" fmla="*/ 5136144 h 6858000"/>
              <a:gd name="connsiteX74" fmla="*/ 16918 w 7538114"/>
              <a:gd name="connsiteY74" fmla="*/ 5112689 h 6858000"/>
              <a:gd name="connsiteX75" fmla="*/ 28071 w 7538114"/>
              <a:gd name="connsiteY75" fmla="*/ 5081696 h 6858000"/>
              <a:gd name="connsiteX76" fmla="*/ 30005 w 7538114"/>
              <a:gd name="connsiteY76" fmla="*/ 5068879 h 6858000"/>
              <a:gd name="connsiteX77" fmla="*/ 31661 w 7538114"/>
              <a:gd name="connsiteY77" fmla="*/ 5062033 h 6858000"/>
              <a:gd name="connsiteX78" fmla="*/ 32169 w 7538114"/>
              <a:gd name="connsiteY78" fmla="*/ 5061608 h 6858000"/>
              <a:gd name="connsiteX79" fmla="*/ 27436 w 7538114"/>
              <a:gd name="connsiteY79" fmla="*/ 5021480 h 6858000"/>
              <a:gd name="connsiteX80" fmla="*/ 26614 w 7538114"/>
              <a:gd name="connsiteY80" fmla="*/ 5013906 h 6858000"/>
              <a:gd name="connsiteX81" fmla="*/ 25056 w 7538114"/>
              <a:gd name="connsiteY81" fmla="*/ 5011767 h 6858000"/>
              <a:gd name="connsiteX82" fmla="*/ 24513 w 7538114"/>
              <a:gd name="connsiteY82" fmla="*/ 5000592 h 6858000"/>
              <a:gd name="connsiteX83" fmla="*/ 24951 w 7538114"/>
              <a:gd name="connsiteY83" fmla="*/ 4999307 h 6858000"/>
              <a:gd name="connsiteX84" fmla="*/ 22644 w 7538114"/>
              <a:gd name="connsiteY84" fmla="*/ 4990090 h 6858000"/>
              <a:gd name="connsiteX85" fmla="*/ 18465 w 7538114"/>
              <a:gd name="connsiteY85" fmla="*/ 4982366 h 6858000"/>
              <a:gd name="connsiteX86" fmla="*/ 20888 w 7538114"/>
              <a:gd name="connsiteY86" fmla="*/ 4887310 h 6858000"/>
              <a:gd name="connsiteX87" fmla="*/ 15781 w 7538114"/>
              <a:gd name="connsiteY87" fmla="*/ 4807298 h 6858000"/>
              <a:gd name="connsiteX88" fmla="*/ 19649 w 7538114"/>
              <a:gd name="connsiteY88" fmla="*/ 4779990 h 6858000"/>
              <a:gd name="connsiteX89" fmla="*/ 21858 w 7538114"/>
              <a:gd name="connsiteY89" fmla="*/ 4664237 h 6858000"/>
              <a:gd name="connsiteX90" fmla="*/ 13583 w 7538114"/>
              <a:gd name="connsiteY90" fmla="*/ 4598607 h 6858000"/>
              <a:gd name="connsiteX91" fmla="*/ 7118 w 7538114"/>
              <a:gd name="connsiteY91" fmla="*/ 4546768 h 6858000"/>
              <a:gd name="connsiteX92" fmla="*/ 14555 w 7538114"/>
              <a:gd name="connsiteY92" fmla="*/ 4522182 h 6858000"/>
              <a:gd name="connsiteX93" fmla="*/ 17290 w 7538114"/>
              <a:gd name="connsiteY93" fmla="*/ 4509768 h 6858000"/>
              <a:gd name="connsiteX94" fmla="*/ 17421 w 7538114"/>
              <a:gd name="connsiteY94" fmla="*/ 4494586 h 6858000"/>
              <a:gd name="connsiteX95" fmla="*/ 18193 w 7538114"/>
              <a:gd name="connsiteY95" fmla="*/ 4440649 h 6858000"/>
              <a:gd name="connsiteX96" fmla="*/ 16616 w 7538114"/>
              <a:gd name="connsiteY96" fmla="*/ 4431853 h 6858000"/>
              <a:gd name="connsiteX97" fmla="*/ 19246 w 7538114"/>
              <a:gd name="connsiteY97" fmla="*/ 4403141 h 6858000"/>
              <a:gd name="connsiteX98" fmla="*/ 19623 w 7538114"/>
              <a:gd name="connsiteY98" fmla="*/ 4356631 h 6858000"/>
              <a:gd name="connsiteX99" fmla="*/ 20293 w 7538114"/>
              <a:gd name="connsiteY99" fmla="*/ 4339937 h 6858000"/>
              <a:gd name="connsiteX100" fmla="*/ 18752 w 7538114"/>
              <a:gd name="connsiteY100" fmla="*/ 4331435 h 6858000"/>
              <a:gd name="connsiteX101" fmla="*/ 24901 w 7538114"/>
              <a:gd name="connsiteY101" fmla="*/ 4320990 h 6858000"/>
              <a:gd name="connsiteX102" fmla="*/ 23734 w 7538114"/>
              <a:gd name="connsiteY102" fmla="*/ 4309111 h 6858000"/>
              <a:gd name="connsiteX103" fmla="*/ 29040 w 7538114"/>
              <a:gd name="connsiteY103" fmla="*/ 4263489 h 6858000"/>
              <a:gd name="connsiteX104" fmla="*/ 29429 w 7538114"/>
              <a:gd name="connsiteY104" fmla="*/ 4258775 h 6858000"/>
              <a:gd name="connsiteX105" fmla="*/ 33702 w 7538114"/>
              <a:gd name="connsiteY105" fmla="*/ 4248512 h 6858000"/>
              <a:gd name="connsiteX106" fmla="*/ 37356 w 7538114"/>
              <a:gd name="connsiteY106" fmla="*/ 4228644 h 6858000"/>
              <a:gd name="connsiteX107" fmla="*/ 50107 w 7538114"/>
              <a:gd name="connsiteY107" fmla="*/ 4193665 h 6858000"/>
              <a:gd name="connsiteX108" fmla="*/ 56192 w 7538114"/>
              <a:gd name="connsiteY108" fmla="*/ 4173105 h 6858000"/>
              <a:gd name="connsiteX109" fmla="*/ 61800 w 7538114"/>
              <a:gd name="connsiteY109" fmla="*/ 4159194 h 6858000"/>
              <a:gd name="connsiteX110" fmla="*/ 69720 w 7538114"/>
              <a:gd name="connsiteY110" fmla="*/ 4118135 h 6858000"/>
              <a:gd name="connsiteX111" fmla="*/ 80190 w 7538114"/>
              <a:gd name="connsiteY111" fmla="*/ 4047713 h 6858000"/>
              <a:gd name="connsiteX112" fmla="*/ 96666 w 7538114"/>
              <a:gd name="connsiteY112" fmla="*/ 3980780 h 6858000"/>
              <a:gd name="connsiteX113" fmla="*/ 107651 w 7538114"/>
              <a:gd name="connsiteY113" fmla="*/ 3941872 h 6858000"/>
              <a:gd name="connsiteX114" fmla="*/ 118444 w 7538114"/>
              <a:gd name="connsiteY114" fmla="*/ 3897465 h 6858000"/>
              <a:gd name="connsiteX115" fmla="*/ 134545 w 7538114"/>
              <a:gd name="connsiteY115" fmla="*/ 3811132 h 6858000"/>
              <a:gd name="connsiteX116" fmla="*/ 145381 w 7538114"/>
              <a:gd name="connsiteY116" fmla="*/ 3746540 h 6858000"/>
              <a:gd name="connsiteX117" fmla="*/ 146587 w 7538114"/>
              <a:gd name="connsiteY117" fmla="*/ 3670275 h 6858000"/>
              <a:gd name="connsiteX118" fmla="*/ 165690 w 7538114"/>
              <a:gd name="connsiteY118" fmla="*/ 3580981 h 6858000"/>
              <a:gd name="connsiteX119" fmla="*/ 163175 w 7538114"/>
              <a:gd name="connsiteY119" fmla="*/ 3570960 h 6858000"/>
              <a:gd name="connsiteX120" fmla="*/ 162665 w 7538114"/>
              <a:gd name="connsiteY120" fmla="*/ 3560693 h 6858000"/>
              <a:gd name="connsiteX121" fmla="*/ 163299 w 7538114"/>
              <a:gd name="connsiteY121" fmla="*/ 3559743 h 6858000"/>
              <a:gd name="connsiteX122" fmla="*/ 164777 w 7538114"/>
              <a:gd name="connsiteY122" fmla="*/ 3548721 h 6858000"/>
              <a:gd name="connsiteX123" fmla="*/ 163708 w 7538114"/>
              <a:gd name="connsiteY123" fmla="*/ 3545693 h 6858000"/>
              <a:gd name="connsiteX124" fmla="*/ 164286 w 7538114"/>
              <a:gd name="connsiteY124" fmla="*/ 3537938 h 6858000"/>
              <a:gd name="connsiteX125" fmla="*/ 164247 w 7538114"/>
              <a:gd name="connsiteY125" fmla="*/ 3522141 h 6858000"/>
              <a:gd name="connsiteX126" fmla="*/ 165343 w 7538114"/>
              <a:gd name="connsiteY126" fmla="*/ 3519672 h 6858000"/>
              <a:gd name="connsiteX127" fmla="*/ 167001 w 7538114"/>
              <a:gd name="connsiteY127" fmla="*/ 3496604 h 6858000"/>
              <a:gd name="connsiteX128" fmla="*/ 167547 w 7538114"/>
              <a:gd name="connsiteY128" fmla="*/ 3496517 h 6858000"/>
              <a:gd name="connsiteX129" fmla="*/ 170301 w 7538114"/>
              <a:gd name="connsiteY129" fmla="*/ 3491023 h 6858000"/>
              <a:gd name="connsiteX130" fmla="*/ 174371 w 7538114"/>
              <a:gd name="connsiteY130" fmla="*/ 3479998 h 6858000"/>
              <a:gd name="connsiteX131" fmla="*/ 190228 w 7538114"/>
              <a:gd name="connsiteY131" fmla="*/ 3457434 h 6858000"/>
              <a:gd name="connsiteX132" fmla="*/ 192016 w 7538114"/>
              <a:gd name="connsiteY132" fmla="*/ 3433411 h 6858000"/>
              <a:gd name="connsiteX133" fmla="*/ 192663 w 7538114"/>
              <a:gd name="connsiteY133" fmla="*/ 3428691 h 6858000"/>
              <a:gd name="connsiteX134" fmla="*/ 192793 w 7538114"/>
              <a:gd name="connsiteY134" fmla="*/ 3428643 h 6858000"/>
              <a:gd name="connsiteX135" fmla="*/ 193710 w 7538114"/>
              <a:gd name="connsiteY135" fmla="*/ 3423760 h 6858000"/>
              <a:gd name="connsiteX136" fmla="*/ 193839 w 7538114"/>
              <a:gd name="connsiteY136" fmla="*/ 3420085 h 6858000"/>
              <a:gd name="connsiteX137" fmla="*/ 195094 w 7538114"/>
              <a:gd name="connsiteY137" fmla="*/ 3410930 h 6858000"/>
              <a:gd name="connsiteX138" fmla="*/ 196311 w 7538114"/>
              <a:gd name="connsiteY138" fmla="*/ 3408092 h 6858000"/>
              <a:gd name="connsiteX139" fmla="*/ 197928 w 7538114"/>
              <a:gd name="connsiteY139" fmla="*/ 3407419 h 6858000"/>
              <a:gd name="connsiteX140" fmla="*/ 197881 w 7538114"/>
              <a:gd name="connsiteY140" fmla="*/ 3406520 h 6858000"/>
              <a:gd name="connsiteX141" fmla="*/ 204222 w 7538114"/>
              <a:gd name="connsiteY141" fmla="*/ 3391015 h 6858000"/>
              <a:gd name="connsiteX142" fmla="*/ 213950 w 7538114"/>
              <a:gd name="connsiteY142" fmla="*/ 3354361 h 6858000"/>
              <a:gd name="connsiteX143" fmla="*/ 217699 w 7538114"/>
              <a:gd name="connsiteY143" fmla="*/ 3332639 h 6858000"/>
              <a:gd name="connsiteX144" fmla="*/ 229963 w 7538114"/>
              <a:gd name="connsiteY144" fmla="*/ 3273935 h 6858000"/>
              <a:gd name="connsiteX145" fmla="*/ 243785 w 7538114"/>
              <a:gd name="connsiteY145" fmla="*/ 3215621 h 6858000"/>
              <a:gd name="connsiteX146" fmla="*/ 259175 w 7538114"/>
              <a:gd name="connsiteY146" fmla="*/ 3189909 h 6858000"/>
              <a:gd name="connsiteX147" fmla="*/ 259988 w 7538114"/>
              <a:gd name="connsiteY147" fmla="*/ 3186579 h 6858000"/>
              <a:gd name="connsiteX148" fmla="*/ 259980 w 7538114"/>
              <a:gd name="connsiteY148" fmla="*/ 3177264 h 6858000"/>
              <a:gd name="connsiteX149" fmla="*/ 259609 w 7538114"/>
              <a:gd name="connsiteY149" fmla="*/ 3173723 h 6858000"/>
              <a:gd name="connsiteX150" fmla="*/ 259848 w 7538114"/>
              <a:gd name="connsiteY150" fmla="*/ 3168622 h 6858000"/>
              <a:gd name="connsiteX151" fmla="*/ 259971 w 7538114"/>
              <a:gd name="connsiteY151" fmla="*/ 3168508 h 6858000"/>
              <a:gd name="connsiteX152" fmla="*/ 259966 w 7538114"/>
              <a:gd name="connsiteY152" fmla="*/ 3163706 h 6858000"/>
              <a:gd name="connsiteX153" fmla="*/ 258467 w 7538114"/>
              <a:gd name="connsiteY153" fmla="*/ 3140064 h 6858000"/>
              <a:gd name="connsiteX154" fmla="*/ 270990 w 7538114"/>
              <a:gd name="connsiteY154" fmla="*/ 3110288 h 6858000"/>
              <a:gd name="connsiteX155" fmla="*/ 273494 w 7538114"/>
              <a:gd name="connsiteY155" fmla="*/ 3097704 h 6858000"/>
              <a:gd name="connsiteX156" fmla="*/ 275456 w 7538114"/>
              <a:gd name="connsiteY156" fmla="*/ 3091047 h 6858000"/>
              <a:gd name="connsiteX157" fmla="*/ 275980 w 7538114"/>
              <a:gd name="connsiteY157" fmla="*/ 3090672 h 6858000"/>
              <a:gd name="connsiteX158" fmla="*/ 274486 w 7538114"/>
              <a:gd name="connsiteY158" fmla="*/ 3068004 h 6858000"/>
              <a:gd name="connsiteX159" fmla="*/ 275226 w 7538114"/>
              <a:gd name="connsiteY159" fmla="*/ 3065087 h 6858000"/>
              <a:gd name="connsiteX160" fmla="*/ 273050 w 7538114"/>
              <a:gd name="connsiteY160" fmla="*/ 3050191 h 6858000"/>
              <a:gd name="connsiteX161" fmla="*/ 272566 w 7538114"/>
              <a:gd name="connsiteY161" fmla="*/ 3042559 h 6858000"/>
              <a:gd name="connsiteX162" fmla="*/ 271107 w 7538114"/>
              <a:gd name="connsiteY162" fmla="*/ 3040271 h 6858000"/>
              <a:gd name="connsiteX163" fmla="*/ 271065 w 7538114"/>
              <a:gd name="connsiteY163" fmla="*/ 3029072 h 6858000"/>
              <a:gd name="connsiteX164" fmla="*/ 271558 w 7538114"/>
              <a:gd name="connsiteY164" fmla="*/ 3027835 h 6858000"/>
              <a:gd name="connsiteX165" fmla="*/ 268717 w 7538114"/>
              <a:gd name="connsiteY165" fmla="*/ 2964245 h 6858000"/>
              <a:gd name="connsiteX166" fmla="*/ 272511 w 7538114"/>
              <a:gd name="connsiteY166" fmla="*/ 2915772 h 6858000"/>
              <a:gd name="connsiteX167" fmla="*/ 270356 w 7538114"/>
              <a:gd name="connsiteY167" fmla="*/ 2825842 h 6858000"/>
              <a:gd name="connsiteX168" fmla="*/ 273897 w 7538114"/>
              <a:gd name="connsiteY168" fmla="*/ 2734957 h 6858000"/>
              <a:gd name="connsiteX169" fmla="*/ 274458 w 7538114"/>
              <a:gd name="connsiteY169" fmla="*/ 2636572 h 6858000"/>
              <a:gd name="connsiteX170" fmla="*/ 279157 w 7538114"/>
              <a:gd name="connsiteY170" fmla="*/ 2604260 h 6858000"/>
              <a:gd name="connsiteX171" fmla="*/ 288131 w 7538114"/>
              <a:gd name="connsiteY171" fmla="*/ 2582747 h 6858000"/>
              <a:gd name="connsiteX172" fmla="*/ 282516 w 7538114"/>
              <a:gd name="connsiteY172" fmla="*/ 2478755 h 6858000"/>
              <a:gd name="connsiteX173" fmla="*/ 287359 w 7538114"/>
              <a:gd name="connsiteY173" fmla="*/ 2451804 h 6858000"/>
              <a:gd name="connsiteX174" fmla="*/ 289577 w 7538114"/>
              <a:gd name="connsiteY174" fmla="*/ 2408801 h 6858000"/>
              <a:gd name="connsiteX175" fmla="*/ 293203 w 7538114"/>
              <a:gd name="connsiteY175" fmla="*/ 2392670 h 6858000"/>
              <a:gd name="connsiteX176" fmla="*/ 304183 w 7538114"/>
              <a:gd name="connsiteY176" fmla="*/ 2330165 h 6858000"/>
              <a:gd name="connsiteX177" fmla="*/ 310900 w 7538114"/>
              <a:gd name="connsiteY177" fmla="*/ 2276363 h 6858000"/>
              <a:gd name="connsiteX178" fmla="*/ 303909 w 7538114"/>
              <a:gd name="connsiteY178" fmla="*/ 2236310 h 6858000"/>
              <a:gd name="connsiteX179" fmla="*/ 306187 w 7538114"/>
              <a:gd name="connsiteY179" fmla="*/ 2232984 h 6858000"/>
              <a:gd name="connsiteX180" fmla="*/ 307158 w 7538114"/>
              <a:gd name="connsiteY180" fmla="*/ 2205763 h 6858000"/>
              <a:gd name="connsiteX181" fmla="*/ 304860 w 7538114"/>
              <a:gd name="connsiteY181" fmla="*/ 2145703 h 6858000"/>
              <a:gd name="connsiteX182" fmla="*/ 304273 w 7538114"/>
              <a:gd name="connsiteY182" fmla="*/ 2092533 h 6858000"/>
              <a:gd name="connsiteX183" fmla="*/ 301642 w 7538114"/>
              <a:gd name="connsiteY183" fmla="*/ 2057359 h 6858000"/>
              <a:gd name="connsiteX184" fmla="*/ 306736 w 7538114"/>
              <a:gd name="connsiteY184" fmla="*/ 2016105 h 6858000"/>
              <a:gd name="connsiteX185" fmla="*/ 316234 w 7538114"/>
              <a:gd name="connsiteY185" fmla="*/ 1983129 h 6858000"/>
              <a:gd name="connsiteX186" fmla="*/ 318238 w 7538114"/>
              <a:gd name="connsiteY186" fmla="*/ 1956745 h 6858000"/>
              <a:gd name="connsiteX187" fmla="*/ 311341 w 7538114"/>
              <a:gd name="connsiteY187" fmla="*/ 1950160 h 6858000"/>
              <a:gd name="connsiteX188" fmla="*/ 323556 w 7538114"/>
              <a:gd name="connsiteY188" fmla="*/ 1879546 h 6858000"/>
              <a:gd name="connsiteX189" fmla="*/ 326085 w 7538114"/>
              <a:gd name="connsiteY189" fmla="*/ 1854893 h 6858000"/>
              <a:gd name="connsiteX190" fmla="*/ 335058 w 7538114"/>
              <a:gd name="connsiteY190" fmla="*/ 1787684 h 6858000"/>
              <a:gd name="connsiteX191" fmla="*/ 345620 w 7538114"/>
              <a:gd name="connsiteY191" fmla="*/ 1720464 h 6858000"/>
              <a:gd name="connsiteX192" fmla="*/ 360760 w 7538114"/>
              <a:gd name="connsiteY192" fmla="*/ 1681196 h 6858000"/>
              <a:gd name="connsiteX193" fmla="*/ 368483 w 7538114"/>
              <a:gd name="connsiteY193" fmla="*/ 1625881 h 6858000"/>
              <a:gd name="connsiteX194" fmla="*/ 371077 w 7538114"/>
              <a:gd name="connsiteY194" fmla="*/ 1616704 h 6858000"/>
              <a:gd name="connsiteX195" fmla="*/ 383008 w 7538114"/>
              <a:gd name="connsiteY195" fmla="*/ 1551493 h 6858000"/>
              <a:gd name="connsiteX196" fmla="*/ 384834 w 7538114"/>
              <a:gd name="connsiteY196" fmla="*/ 1475233 h 6858000"/>
              <a:gd name="connsiteX197" fmla="*/ 418371 w 7538114"/>
              <a:gd name="connsiteY197" fmla="*/ 1380155 h 6858000"/>
              <a:gd name="connsiteX198" fmla="*/ 469641 w 7538114"/>
              <a:gd name="connsiteY198" fmla="*/ 1210871 h 6858000"/>
              <a:gd name="connsiteX199" fmla="*/ 489701 w 7538114"/>
              <a:gd name="connsiteY199" fmla="*/ 1028427 h 6858000"/>
              <a:gd name="connsiteX200" fmla="*/ 486354 w 7538114"/>
              <a:gd name="connsiteY200" fmla="*/ 980383 h 6858000"/>
              <a:gd name="connsiteX201" fmla="*/ 479762 w 7538114"/>
              <a:gd name="connsiteY201" fmla="*/ 839699 h 6858000"/>
              <a:gd name="connsiteX202" fmla="*/ 445664 w 7538114"/>
              <a:gd name="connsiteY202" fmla="*/ 696545 h 6858000"/>
              <a:gd name="connsiteX203" fmla="*/ 440047 w 7538114"/>
              <a:gd name="connsiteY203" fmla="*/ 606615 h 6858000"/>
              <a:gd name="connsiteX204" fmla="*/ 431225 w 7538114"/>
              <a:gd name="connsiteY204" fmla="*/ 563889 h 6858000"/>
              <a:gd name="connsiteX205" fmla="*/ 430803 w 7538114"/>
              <a:gd name="connsiteY205" fmla="*/ 534294 h 6858000"/>
              <a:gd name="connsiteX206" fmla="*/ 429777 w 7538114"/>
              <a:gd name="connsiteY206" fmla="*/ 516548 h 6858000"/>
              <a:gd name="connsiteX207" fmla="*/ 415090 w 7538114"/>
              <a:gd name="connsiteY207" fmla="*/ 485808 h 6858000"/>
              <a:gd name="connsiteX208" fmla="*/ 410499 w 7538114"/>
              <a:gd name="connsiteY208" fmla="*/ 369873 h 6858000"/>
              <a:gd name="connsiteX209" fmla="*/ 425314 w 7538114"/>
              <a:gd name="connsiteY209" fmla="*/ 259180 h 6858000"/>
              <a:gd name="connsiteX210" fmla="*/ 383240 w 7538114"/>
              <a:gd name="connsiteY210" fmla="*/ 94173 h 6858000"/>
              <a:gd name="connsiteX211" fmla="*/ 379938 w 7538114"/>
              <a:gd name="connsiteY211" fmla="*/ 77267 h 6858000"/>
              <a:gd name="connsiteX212" fmla="*/ 373430 w 7538114"/>
              <a:gd name="connsiteY212" fmla="*/ 388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Lst>
            <a:rect l="l" t="t" r="r" b="b"/>
            <a:pathLst>
              <a:path w="7538114" h="6858000">
                <a:moveTo>
                  <a:pt x="366246" y="0"/>
                </a:moveTo>
                <a:lnTo>
                  <a:pt x="2830292" y="0"/>
                </a:lnTo>
                <a:lnTo>
                  <a:pt x="3903260" y="0"/>
                </a:lnTo>
                <a:lnTo>
                  <a:pt x="4597266" y="0"/>
                </a:lnTo>
                <a:lnTo>
                  <a:pt x="7192370" y="0"/>
                </a:lnTo>
                <a:lnTo>
                  <a:pt x="7538114" y="0"/>
                </a:lnTo>
                <a:lnTo>
                  <a:pt x="7538114" y="6858000"/>
                </a:lnTo>
                <a:lnTo>
                  <a:pt x="7192370" y="6858000"/>
                </a:lnTo>
                <a:lnTo>
                  <a:pt x="4597266" y="6858000"/>
                </a:lnTo>
                <a:lnTo>
                  <a:pt x="3903260" y="6858000"/>
                </a:lnTo>
                <a:lnTo>
                  <a:pt x="2830292" y="6858000"/>
                </a:lnTo>
                <a:lnTo>
                  <a:pt x="170314" y="6858000"/>
                </a:lnTo>
                <a:cubicBezTo>
                  <a:pt x="170323" y="6857920"/>
                  <a:pt x="170332" y="6857839"/>
                  <a:pt x="170341" y="6857759"/>
                </a:cubicBezTo>
                <a:lnTo>
                  <a:pt x="173485" y="6852129"/>
                </a:lnTo>
                <a:lnTo>
                  <a:pt x="167544" y="6830335"/>
                </a:lnTo>
                <a:cubicBezTo>
                  <a:pt x="165474" y="6819600"/>
                  <a:pt x="164100" y="6808301"/>
                  <a:pt x="163472" y="6796707"/>
                </a:cubicBezTo>
                <a:cubicBezTo>
                  <a:pt x="167658" y="6794106"/>
                  <a:pt x="161711" y="6785006"/>
                  <a:pt x="160535" y="6780725"/>
                </a:cubicBezTo>
                <a:cubicBezTo>
                  <a:pt x="163268" y="6780680"/>
                  <a:pt x="164578" y="6771195"/>
                  <a:pt x="162318" y="6767829"/>
                </a:cubicBezTo>
                <a:cubicBezTo>
                  <a:pt x="152545" y="6697090"/>
                  <a:pt x="178083" y="6736894"/>
                  <a:pt x="162771" y="6694444"/>
                </a:cubicBezTo>
                <a:cubicBezTo>
                  <a:pt x="161971" y="6687342"/>
                  <a:pt x="163342" y="6682014"/>
                  <a:pt x="165604" y="6677569"/>
                </a:cubicBezTo>
                <a:lnTo>
                  <a:pt x="171255" y="6669571"/>
                </a:lnTo>
                <a:lnTo>
                  <a:pt x="169240" y="6663304"/>
                </a:lnTo>
                <a:cubicBezTo>
                  <a:pt x="169082" y="6639651"/>
                  <a:pt x="174873" y="6632678"/>
                  <a:pt x="169039" y="6618916"/>
                </a:cubicBezTo>
                <a:cubicBezTo>
                  <a:pt x="181164" y="6598580"/>
                  <a:pt x="170248" y="6605428"/>
                  <a:pt x="168392" y="6589960"/>
                </a:cubicBezTo>
                <a:cubicBezTo>
                  <a:pt x="165975" y="6577758"/>
                  <a:pt x="161323" y="6600160"/>
                  <a:pt x="160636" y="6588200"/>
                </a:cubicBezTo>
                <a:cubicBezTo>
                  <a:pt x="163766" y="6575263"/>
                  <a:pt x="154044" y="6575871"/>
                  <a:pt x="157872" y="6562416"/>
                </a:cubicBezTo>
                <a:cubicBezTo>
                  <a:pt x="165196" y="6565685"/>
                  <a:pt x="156453" y="6535866"/>
                  <a:pt x="162851" y="6534939"/>
                </a:cubicBezTo>
                <a:cubicBezTo>
                  <a:pt x="153702" y="6523511"/>
                  <a:pt x="164973" y="6517769"/>
                  <a:pt x="162153" y="6502552"/>
                </a:cubicBezTo>
                <a:cubicBezTo>
                  <a:pt x="158692" y="6495386"/>
                  <a:pt x="158098" y="6490216"/>
                  <a:pt x="161821" y="6483172"/>
                </a:cubicBezTo>
                <a:cubicBezTo>
                  <a:pt x="144969" y="6450162"/>
                  <a:pt x="161066" y="6463202"/>
                  <a:pt x="154586" y="6432309"/>
                </a:cubicBezTo>
                <a:cubicBezTo>
                  <a:pt x="147771" y="6405695"/>
                  <a:pt x="143349" y="6375524"/>
                  <a:pt x="127078" y="6349783"/>
                </a:cubicBezTo>
                <a:cubicBezTo>
                  <a:pt x="122468" y="6345058"/>
                  <a:pt x="120723" y="6333456"/>
                  <a:pt x="123181" y="6323872"/>
                </a:cubicBezTo>
                <a:cubicBezTo>
                  <a:pt x="123604" y="6322225"/>
                  <a:pt x="124138" y="6320698"/>
                  <a:pt x="124767" y="6319343"/>
                </a:cubicBezTo>
                <a:cubicBezTo>
                  <a:pt x="122278" y="6297089"/>
                  <a:pt x="111161" y="6215694"/>
                  <a:pt x="108246" y="6190348"/>
                </a:cubicBezTo>
                <a:cubicBezTo>
                  <a:pt x="114169" y="6188296"/>
                  <a:pt x="103482" y="6175479"/>
                  <a:pt x="107279" y="6167269"/>
                </a:cubicBezTo>
                <a:cubicBezTo>
                  <a:pt x="110610" y="6161389"/>
                  <a:pt x="108145" y="6156128"/>
                  <a:pt x="107883" y="6149986"/>
                </a:cubicBezTo>
                <a:cubicBezTo>
                  <a:pt x="110502" y="6141894"/>
                  <a:pt x="105773" y="6115502"/>
                  <a:pt x="102380" y="6108622"/>
                </a:cubicBezTo>
                <a:cubicBezTo>
                  <a:pt x="90593" y="6092179"/>
                  <a:pt x="99346" y="6054816"/>
                  <a:pt x="90314" y="6041155"/>
                </a:cubicBezTo>
                <a:cubicBezTo>
                  <a:pt x="88990" y="6036198"/>
                  <a:pt x="88454" y="6031348"/>
                  <a:pt x="88409" y="6026587"/>
                </a:cubicBezTo>
                <a:lnTo>
                  <a:pt x="89403" y="6013265"/>
                </a:lnTo>
                <a:lnTo>
                  <a:pt x="91927" y="6009478"/>
                </a:lnTo>
                <a:lnTo>
                  <a:pt x="91302" y="6001336"/>
                </a:lnTo>
                <a:cubicBezTo>
                  <a:pt x="91431" y="6000558"/>
                  <a:pt x="91559" y="5999781"/>
                  <a:pt x="91687" y="5999003"/>
                </a:cubicBezTo>
                <a:cubicBezTo>
                  <a:pt x="92431" y="5994547"/>
                  <a:pt x="93080" y="5990148"/>
                  <a:pt x="93336" y="5985795"/>
                </a:cubicBezTo>
                <a:cubicBezTo>
                  <a:pt x="80676" y="5991520"/>
                  <a:pt x="93430" y="5949705"/>
                  <a:pt x="83190" y="5961758"/>
                </a:cubicBezTo>
                <a:cubicBezTo>
                  <a:pt x="82399" y="5938832"/>
                  <a:pt x="72862" y="5956319"/>
                  <a:pt x="81952" y="5928761"/>
                </a:cubicBezTo>
                <a:cubicBezTo>
                  <a:pt x="79324" y="5899676"/>
                  <a:pt x="72619" y="5823590"/>
                  <a:pt x="67420" y="5787247"/>
                </a:cubicBezTo>
                <a:cubicBezTo>
                  <a:pt x="53530" y="5750058"/>
                  <a:pt x="57730" y="5736292"/>
                  <a:pt x="50760" y="5710700"/>
                </a:cubicBezTo>
                <a:cubicBezTo>
                  <a:pt x="47368" y="5660911"/>
                  <a:pt x="30723" y="5663675"/>
                  <a:pt x="42956" y="5641754"/>
                </a:cubicBezTo>
                <a:cubicBezTo>
                  <a:pt x="39970" y="5608358"/>
                  <a:pt x="24769" y="5637338"/>
                  <a:pt x="29695" y="5602326"/>
                </a:cubicBezTo>
                <a:cubicBezTo>
                  <a:pt x="27700" y="5601239"/>
                  <a:pt x="20274" y="5573144"/>
                  <a:pt x="18841" y="5570885"/>
                </a:cubicBezTo>
                <a:lnTo>
                  <a:pt x="9977" y="5543492"/>
                </a:lnTo>
                <a:lnTo>
                  <a:pt x="5255" y="5531024"/>
                </a:lnTo>
                <a:lnTo>
                  <a:pt x="5447" y="5527845"/>
                </a:lnTo>
                <a:lnTo>
                  <a:pt x="0" y="5507724"/>
                </a:lnTo>
                <a:lnTo>
                  <a:pt x="435" y="5507045"/>
                </a:lnTo>
                <a:cubicBezTo>
                  <a:pt x="1286" y="5505065"/>
                  <a:pt x="1681" y="5502734"/>
                  <a:pt x="1128" y="5499619"/>
                </a:cubicBezTo>
                <a:cubicBezTo>
                  <a:pt x="9450" y="5498516"/>
                  <a:pt x="3652" y="5495435"/>
                  <a:pt x="1291" y="5486342"/>
                </a:cubicBezTo>
                <a:cubicBezTo>
                  <a:pt x="13688" y="5482600"/>
                  <a:pt x="2464" y="5460320"/>
                  <a:pt x="7976" y="5450755"/>
                </a:cubicBezTo>
                <a:cubicBezTo>
                  <a:pt x="5962" y="5444157"/>
                  <a:pt x="4058" y="5437113"/>
                  <a:pt x="2355" y="5429732"/>
                </a:cubicBezTo>
                <a:lnTo>
                  <a:pt x="1499" y="5370432"/>
                </a:lnTo>
                <a:lnTo>
                  <a:pt x="11483" y="5308330"/>
                </a:lnTo>
                <a:cubicBezTo>
                  <a:pt x="11701" y="5285359"/>
                  <a:pt x="15408" y="5265468"/>
                  <a:pt x="12793" y="5246026"/>
                </a:cubicBezTo>
                <a:cubicBezTo>
                  <a:pt x="15678" y="5238129"/>
                  <a:pt x="16842" y="5230685"/>
                  <a:pt x="12525" y="5223468"/>
                </a:cubicBezTo>
                <a:cubicBezTo>
                  <a:pt x="13966" y="5202031"/>
                  <a:pt x="20131" y="5196842"/>
                  <a:pt x="15322" y="5183258"/>
                </a:cubicBezTo>
                <a:cubicBezTo>
                  <a:pt x="25294" y="5171214"/>
                  <a:pt x="21488" y="5170502"/>
                  <a:pt x="18633" y="5164842"/>
                </a:cubicBezTo>
                <a:cubicBezTo>
                  <a:pt x="18565" y="5164573"/>
                  <a:pt x="18496" y="5164303"/>
                  <a:pt x="18428" y="5164034"/>
                </a:cubicBezTo>
                <a:lnTo>
                  <a:pt x="19854" y="5162388"/>
                </a:lnTo>
                <a:lnTo>
                  <a:pt x="20514" y="5158981"/>
                </a:lnTo>
                <a:lnTo>
                  <a:pt x="20089" y="5149681"/>
                </a:lnTo>
                <a:lnTo>
                  <a:pt x="19561" y="5146183"/>
                </a:lnTo>
                <a:cubicBezTo>
                  <a:pt x="19336" y="5143774"/>
                  <a:pt x="19361" y="5142173"/>
                  <a:pt x="19571" y="5141065"/>
                </a:cubicBezTo>
                <a:lnTo>
                  <a:pt x="19690" y="5140937"/>
                </a:lnTo>
                <a:cubicBezTo>
                  <a:pt x="19617" y="5139339"/>
                  <a:pt x="19544" y="5137742"/>
                  <a:pt x="19471" y="5136144"/>
                </a:cubicBezTo>
                <a:cubicBezTo>
                  <a:pt x="18832" y="5128055"/>
                  <a:pt x="17958" y="5120182"/>
                  <a:pt x="16918" y="5112689"/>
                </a:cubicBezTo>
                <a:cubicBezTo>
                  <a:pt x="23464" y="5106353"/>
                  <a:pt x="15733" y="5078666"/>
                  <a:pt x="28071" y="5081696"/>
                </a:cubicBezTo>
                <a:cubicBezTo>
                  <a:pt x="27036" y="5071588"/>
                  <a:pt x="21912" y="5065475"/>
                  <a:pt x="30005" y="5068879"/>
                </a:cubicBezTo>
                <a:cubicBezTo>
                  <a:pt x="29897" y="5065551"/>
                  <a:pt x="30585" y="5063501"/>
                  <a:pt x="31661" y="5062033"/>
                </a:cubicBezTo>
                <a:lnTo>
                  <a:pt x="32169" y="5061608"/>
                </a:lnTo>
                <a:lnTo>
                  <a:pt x="27436" y="5021480"/>
                </a:lnTo>
                <a:lnTo>
                  <a:pt x="26614" y="5013906"/>
                </a:lnTo>
                <a:lnTo>
                  <a:pt x="25056" y="5011767"/>
                </a:lnTo>
                <a:cubicBezTo>
                  <a:pt x="24110" y="5009457"/>
                  <a:pt x="23701" y="5006147"/>
                  <a:pt x="24513" y="5000592"/>
                </a:cubicBezTo>
                <a:lnTo>
                  <a:pt x="24951" y="4999307"/>
                </a:lnTo>
                <a:lnTo>
                  <a:pt x="22644" y="4990090"/>
                </a:lnTo>
                <a:cubicBezTo>
                  <a:pt x="21579" y="4987122"/>
                  <a:pt x="20222" y="4984494"/>
                  <a:pt x="18465" y="4982366"/>
                </a:cubicBezTo>
                <a:cubicBezTo>
                  <a:pt x="27858" y="4950984"/>
                  <a:pt x="19264" y="4921373"/>
                  <a:pt x="20888" y="4887310"/>
                </a:cubicBezTo>
                <a:cubicBezTo>
                  <a:pt x="17563" y="4848813"/>
                  <a:pt x="18386" y="4829570"/>
                  <a:pt x="15781" y="4807298"/>
                </a:cubicBezTo>
                <a:cubicBezTo>
                  <a:pt x="15634" y="4803627"/>
                  <a:pt x="14440" y="4773874"/>
                  <a:pt x="19649" y="4779990"/>
                </a:cubicBezTo>
                <a:cubicBezTo>
                  <a:pt x="18744" y="4746827"/>
                  <a:pt x="22869" y="4698305"/>
                  <a:pt x="21858" y="4664237"/>
                </a:cubicBezTo>
                <a:cubicBezTo>
                  <a:pt x="34232" y="4642340"/>
                  <a:pt x="11268" y="4621318"/>
                  <a:pt x="13583" y="4598607"/>
                </a:cubicBezTo>
                <a:cubicBezTo>
                  <a:pt x="2193" y="4604819"/>
                  <a:pt x="19974" y="4548010"/>
                  <a:pt x="7118" y="4546768"/>
                </a:cubicBezTo>
                <a:lnTo>
                  <a:pt x="14555" y="4522182"/>
                </a:lnTo>
                <a:lnTo>
                  <a:pt x="17290" y="4509768"/>
                </a:lnTo>
                <a:cubicBezTo>
                  <a:pt x="17884" y="4505118"/>
                  <a:pt x="18021" y="4500115"/>
                  <a:pt x="17421" y="4494586"/>
                </a:cubicBezTo>
                <a:cubicBezTo>
                  <a:pt x="12327" y="4480984"/>
                  <a:pt x="18571" y="4459805"/>
                  <a:pt x="18193" y="4440649"/>
                </a:cubicBezTo>
                <a:lnTo>
                  <a:pt x="16616" y="4431853"/>
                </a:lnTo>
                <a:lnTo>
                  <a:pt x="19246" y="4403141"/>
                </a:lnTo>
                <a:cubicBezTo>
                  <a:pt x="19372" y="4387638"/>
                  <a:pt x="19497" y="4372134"/>
                  <a:pt x="19623" y="4356631"/>
                </a:cubicBezTo>
                <a:cubicBezTo>
                  <a:pt x="19508" y="4349062"/>
                  <a:pt x="15847" y="4339045"/>
                  <a:pt x="20293" y="4339937"/>
                </a:cubicBezTo>
                <a:lnTo>
                  <a:pt x="18752" y="4331435"/>
                </a:lnTo>
                <a:cubicBezTo>
                  <a:pt x="19520" y="4328277"/>
                  <a:pt x="24070" y="4324711"/>
                  <a:pt x="24901" y="4320990"/>
                </a:cubicBezTo>
                <a:lnTo>
                  <a:pt x="23734" y="4309111"/>
                </a:lnTo>
                <a:cubicBezTo>
                  <a:pt x="24423" y="4299527"/>
                  <a:pt x="28090" y="4271878"/>
                  <a:pt x="29040" y="4263489"/>
                </a:cubicBezTo>
                <a:cubicBezTo>
                  <a:pt x="29169" y="4261918"/>
                  <a:pt x="29300" y="4260346"/>
                  <a:pt x="29429" y="4258775"/>
                </a:cubicBezTo>
                <a:lnTo>
                  <a:pt x="33702" y="4248512"/>
                </a:lnTo>
                <a:cubicBezTo>
                  <a:pt x="36933" y="4241044"/>
                  <a:pt x="39109" y="4235167"/>
                  <a:pt x="37356" y="4228644"/>
                </a:cubicBezTo>
                <a:cubicBezTo>
                  <a:pt x="41530" y="4217526"/>
                  <a:pt x="53227" y="4209759"/>
                  <a:pt x="50107" y="4193665"/>
                </a:cubicBezTo>
                <a:cubicBezTo>
                  <a:pt x="55406" y="4198550"/>
                  <a:pt x="50749" y="4175793"/>
                  <a:pt x="56192" y="4173105"/>
                </a:cubicBezTo>
                <a:cubicBezTo>
                  <a:pt x="60575" y="4171863"/>
                  <a:pt x="60184" y="4164671"/>
                  <a:pt x="61800" y="4159194"/>
                </a:cubicBezTo>
                <a:cubicBezTo>
                  <a:pt x="66276" y="4155290"/>
                  <a:pt x="70363" y="4127730"/>
                  <a:pt x="69720" y="4118135"/>
                </a:cubicBezTo>
                <a:cubicBezTo>
                  <a:pt x="65265" y="4091091"/>
                  <a:pt x="83289" y="4069336"/>
                  <a:pt x="80190" y="4047713"/>
                </a:cubicBezTo>
                <a:cubicBezTo>
                  <a:pt x="84682" y="4020435"/>
                  <a:pt x="92089" y="3998420"/>
                  <a:pt x="96666" y="3980780"/>
                </a:cubicBezTo>
                <a:cubicBezTo>
                  <a:pt x="98580" y="3977851"/>
                  <a:pt x="106155" y="3945259"/>
                  <a:pt x="107651" y="3941872"/>
                </a:cubicBezTo>
                <a:cubicBezTo>
                  <a:pt x="111761" y="3922504"/>
                  <a:pt x="112043" y="3930219"/>
                  <a:pt x="118444" y="3897465"/>
                </a:cubicBezTo>
                <a:cubicBezTo>
                  <a:pt x="124996" y="3869981"/>
                  <a:pt x="127657" y="3841768"/>
                  <a:pt x="134545" y="3811132"/>
                </a:cubicBezTo>
                <a:cubicBezTo>
                  <a:pt x="143817" y="3778601"/>
                  <a:pt x="141464" y="3759343"/>
                  <a:pt x="145381" y="3746540"/>
                </a:cubicBezTo>
                <a:cubicBezTo>
                  <a:pt x="156739" y="3719637"/>
                  <a:pt x="147664" y="3711291"/>
                  <a:pt x="146587" y="3670275"/>
                </a:cubicBezTo>
                <a:cubicBezTo>
                  <a:pt x="154134" y="3638754"/>
                  <a:pt x="151397" y="3605028"/>
                  <a:pt x="165690" y="3580981"/>
                </a:cubicBezTo>
                <a:cubicBezTo>
                  <a:pt x="164433" y="3577837"/>
                  <a:pt x="163639" y="3574469"/>
                  <a:pt x="163175" y="3570960"/>
                </a:cubicBezTo>
                <a:lnTo>
                  <a:pt x="162665" y="3560693"/>
                </a:lnTo>
                <a:lnTo>
                  <a:pt x="163299" y="3559743"/>
                </a:lnTo>
                <a:cubicBezTo>
                  <a:pt x="165039" y="3554949"/>
                  <a:pt x="165246" y="3551528"/>
                  <a:pt x="164777" y="3548721"/>
                </a:cubicBezTo>
                <a:lnTo>
                  <a:pt x="163708" y="3545693"/>
                </a:lnTo>
                <a:lnTo>
                  <a:pt x="164286" y="3537938"/>
                </a:lnTo>
                <a:cubicBezTo>
                  <a:pt x="164273" y="3532672"/>
                  <a:pt x="164261" y="3527407"/>
                  <a:pt x="164247" y="3522141"/>
                </a:cubicBezTo>
                <a:lnTo>
                  <a:pt x="165343" y="3519672"/>
                </a:lnTo>
                <a:lnTo>
                  <a:pt x="167001" y="3496604"/>
                </a:lnTo>
                <a:lnTo>
                  <a:pt x="167547" y="3496517"/>
                </a:lnTo>
                <a:cubicBezTo>
                  <a:pt x="168811" y="3495796"/>
                  <a:pt x="169814" y="3494272"/>
                  <a:pt x="170301" y="3491023"/>
                </a:cubicBezTo>
                <a:cubicBezTo>
                  <a:pt x="177219" y="3499391"/>
                  <a:pt x="173541" y="3490314"/>
                  <a:pt x="174371" y="3479998"/>
                </a:cubicBezTo>
                <a:cubicBezTo>
                  <a:pt x="185299" y="3490692"/>
                  <a:pt x="183023" y="3459350"/>
                  <a:pt x="190228" y="3457434"/>
                </a:cubicBezTo>
                <a:cubicBezTo>
                  <a:pt x="190591" y="3449617"/>
                  <a:pt x="191174" y="3441542"/>
                  <a:pt x="192016" y="3433411"/>
                </a:cubicBezTo>
                <a:lnTo>
                  <a:pt x="192663" y="3428691"/>
                </a:lnTo>
                <a:cubicBezTo>
                  <a:pt x="192706" y="3428676"/>
                  <a:pt x="192750" y="3428659"/>
                  <a:pt x="192793" y="3428643"/>
                </a:cubicBezTo>
                <a:cubicBezTo>
                  <a:pt x="193186" y="3427720"/>
                  <a:pt x="193494" y="3426206"/>
                  <a:pt x="193710" y="3423760"/>
                </a:cubicBezTo>
                <a:cubicBezTo>
                  <a:pt x="193753" y="3422535"/>
                  <a:pt x="193797" y="3421310"/>
                  <a:pt x="193839" y="3420085"/>
                </a:cubicBezTo>
                <a:lnTo>
                  <a:pt x="195094" y="3410930"/>
                </a:lnTo>
                <a:lnTo>
                  <a:pt x="196311" y="3408092"/>
                </a:lnTo>
                <a:lnTo>
                  <a:pt x="197928" y="3407419"/>
                </a:lnTo>
                <a:cubicBezTo>
                  <a:pt x="197912" y="3407119"/>
                  <a:pt x="197897" y="3406820"/>
                  <a:pt x="197881" y="3406520"/>
                </a:cubicBezTo>
                <a:cubicBezTo>
                  <a:pt x="196231" y="3399306"/>
                  <a:pt x="192821" y="3396220"/>
                  <a:pt x="204222" y="3391015"/>
                </a:cubicBezTo>
                <a:cubicBezTo>
                  <a:pt x="202162" y="3374996"/>
                  <a:pt x="208811" y="3373934"/>
                  <a:pt x="213950" y="3354361"/>
                </a:cubicBezTo>
                <a:cubicBezTo>
                  <a:pt x="211218" y="3344737"/>
                  <a:pt x="213619" y="3338360"/>
                  <a:pt x="217699" y="3332639"/>
                </a:cubicBezTo>
                <a:cubicBezTo>
                  <a:pt x="218717" y="3312409"/>
                  <a:pt x="225688" y="3295747"/>
                  <a:pt x="229963" y="3273935"/>
                </a:cubicBezTo>
                <a:cubicBezTo>
                  <a:pt x="228293" y="3248488"/>
                  <a:pt x="239257" y="3238943"/>
                  <a:pt x="243785" y="3215621"/>
                </a:cubicBezTo>
                <a:cubicBezTo>
                  <a:pt x="237893" y="3192522"/>
                  <a:pt x="253940" y="3201000"/>
                  <a:pt x="259175" y="3189909"/>
                </a:cubicBezTo>
                <a:lnTo>
                  <a:pt x="259988" y="3186579"/>
                </a:lnTo>
                <a:lnTo>
                  <a:pt x="259980" y="3177264"/>
                </a:lnTo>
                <a:lnTo>
                  <a:pt x="259609" y="3173723"/>
                </a:lnTo>
                <a:cubicBezTo>
                  <a:pt x="259490" y="3171299"/>
                  <a:pt x="259588" y="3169704"/>
                  <a:pt x="259848" y="3168622"/>
                </a:cubicBezTo>
                <a:lnTo>
                  <a:pt x="259971" y="3168508"/>
                </a:lnTo>
                <a:cubicBezTo>
                  <a:pt x="259969" y="3166907"/>
                  <a:pt x="259968" y="3165307"/>
                  <a:pt x="259966" y="3163706"/>
                </a:cubicBezTo>
                <a:cubicBezTo>
                  <a:pt x="259691" y="3155577"/>
                  <a:pt x="259171" y="3147642"/>
                  <a:pt x="258467" y="3140064"/>
                </a:cubicBezTo>
                <a:cubicBezTo>
                  <a:pt x="265286" y="3134408"/>
                  <a:pt x="258805" y="3106027"/>
                  <a:pt x="270990" y="3110288"/>
                </a:cubicBezTo>
                <a:cubicBezTo>
                  <a:pt x="270407" y="3100106"/>
                  <a:pt x="265565" y="3093497"/>
                  <a:pt x="273494" y="3097704"/>
                </a:cubicBezTo>
                <a:cubicBezTo>
                  <a:pt x="273534" y="3094376"/>
                  <a:pt x="274313" y="3092401"/>
                  <a:pt x="275456" y="3091047"/>
                </a:cubicBezTo>
                <a:lnTo>
                  <a:pt x="275980" y="3090672"/>
                </a:lnTo>
                <a:lnTo>
                  <a:pt x="274486" y="3068004"/>
                </a:lnTo>
                <a:lnTo>
                  <a:pt x="275226" y="3065087"/>
                </a:lnTo>
                <a:lnTo>
                  <a:pt x="273050" y="3050191"/>
                </a:lnTo>
                <a:cubicBezTo>
                  <a:pt x="272889" y="3047647"/>
                  <a:pt x="272728" y="3045103"/>
                  <a:pt x="272566" y="3042559"/>
                </a:cubicBezTo>
                <a:lnTo>
                  <a:pt x="271107" y="3040271"/>
                </a:lnTo>
                <a:cubicBezTo>
                  <a:pt x="270265" y="3037872"/>
                  <a:pt x="270006" y="3034528"/>
                  <a:pt x="271065" y="3029072"/>
                </a:cubicBezTo>
                <a:lnTo>
                  <a:pt x="271558" y="3027835"/>
                </a:lnTo>
                <a:cubicBezTo>
                  <a:pt x="270688" y="3024705"/>
                  <a:pt x="268559" y="2982922"/>
                  <a:pt x="268717" y="2964245"/>
                </a:cubicBezTo>
                <a:cubicBezTo>
                  <a:pt x="279502" y="2933904"/>
                  <a:pt x="269365" y="2949568"/>
                  <a:pt x="272511" y="2915772"/>
                </a:cubicBezTo>
                <a:cubicBezTo>
                  <a:pt x="272017" y="2877552"/>
                  <a:pt x="270125" y="2850992"/>
                  <a:pt x="270356" y="2825842"/>
                </a:cubicBezTo>
                <a:cubicBezTo>
                  <a:pt x="269433" y="2814032"/>
                  <a:pt x="268938" y="2727859"/>
                  <a:pt x="273897" y="2734957"/>
                </a:cubicBezTo>
                <a:cubicBezTo>
                  <a:pt x="264242" y="2698391"/>
                  <a:pt x="277769" y="2677127"/>
                  <a:pt x="274458" y="2636572"/>
                </a:cubicBezTo>
                <a:cubicBezTo>
                  <a:pt x="287792" y="2615986"/>
                  <a:pt x="275829" y="2626668"/>
                  <a:pt x="279157" y="2604260"/>
                </a:cubicBezTo>
                <a:cubicBezTo>
                  <a:pt x="279270" y="2587221"/>
                  <a:pt x="288019" y="2599786"/>
                  <a:pt x="288131" y="2582747"/>
                </a:cubicBezTo>
                <a:cubicBezTo>
                  <a:pt x="260352" y="2545890"/>
                  <a:pt x="290145" y="2525479"/>
                  <a:pt x="282516" y="2478755"/>
                </a:cubicBezTo>
                <a:lnTo>
                  <a:pt x="287359" y="2451804"/>
                </a:lnTo>
                <a:cubicBezTo>
                  <a:pt x="285426" y="2443087"/>
                  <a:pt x="285710" y="2414879"/>
                  <a:pt x="289577" y="2408801"/>
                </a:cubicBezTo>
                <a:cubicBezTo>
                  <a:pt x="290424" y="2402768"/>
                  <a:pt x="289064" y="2396183"/>
                  <a:pt x="293203" y="2392670"/>
                </a:cubicBezTo>
                <a:cubicBezTo>
                  <a:pt x="295637" y="2379564"/>
                  <a:pt x="301233" y="2349549"/>
                  <a:pt x="304183" y="2330165"/>
                </a:cubicBezTo>
                <a:cubicBezTo>
                  <a:pt x="298973" y="2319718"/>
                  <a:pt x="309550" y="2303314"/>
                  <a:pt x="310900" y="2276363"/>
                </a:cubicBezTo>
                <a:cubicBezTo>
                  <a:pt x="304874" y="2264930"/>
                  <a:pt x="311891" y="2258198"/>
                  <a:pt x="303909" y="2236310"/>
                </a:cubicBezTo>
                <a:cubicBezTo>
                  <a:pt x="304734" y="2235412"/>
                  <a:pt x="305502" y="2234293"/>
                  <a:pt x="306187" y="2232984"/>
                </a:cubicBezTo>
                <a:cubicBezTo>
                  <a:pt x="310170" y="2225381"/>
                  <a:pt x="310605" y="2213194"/>
                  <a:pt x="307158" y="2205763"/>
                </a:cubicBezTo>
                <a:cubicBezTo>
                  <a:pt x="296601" y="2170883"/>
                  <a:pt x="306474" y="2175442"/>
                  <a:pt x="304860" y="2145703"/>
                </a:cubicBezTo>
                <a:cubicBezTo>
                  <a:pt x="304314" y="2112090"/>
                  <a:pt x="314083" y="2134724"/>
                  <a:pt x="304273" y="2092533"/>
                </a:cubicBezTo>
                <a:cubicBezTo>
                  <a:pt x="308983" y="2088154"/>
                  <a:pt x="303590" y="2066396"/>
                  <a:pt x="301642" y="2057359"/>
                </a:cubicBezTo>
                <a:cubicBezTo>
                  <a:pt x="301720" y="2041038"/>
                  <a:pt x="313213" y="2032807"/>
                  <a:pt x="306736" y="2016105"/>
                </a:cubicBezTo>
                <a:cubicBezTo>
                  <a:pt x="312847" y="2019262"/>
                  <a:pt x="310007" y="1975377"/>
                  <a:pt x="316234" y="1983129"/>
                </a:cubicBezTo>
                <a:cubicBezTo>
                  <a:pt x="322177" y="1972692"/>
                  <a:pt x="313034" y="1967129"/>
                  <a:pt x="318238" y="1956745"/>
                </a:cubicBezTo>
                <a:cubicBezTo>
                  <a:pt x="319718" y="1944884"/>
                  <a:pt x="311423" y="1963350"/>
                  <a:pt x="311341" y="1950160"/>
                </a:cubicBezTo>
                <a:lnTo>
                  <a:pt x="323556" y="1879546"/>
                </a:lnTo>
                <a:cubicBezTo>
                  <a:pt x="320263" y="1869846"/>
                  <a:pt x="322312" y="1862247"/>
                  <a:pt x="326085" y="1854893"/>
                </a:cubicBezTo>
                <a:cubicBezTo>
                  <a:pt x="325955" y="1832625"/>
                  <a:pt x="332007" y="1812578"/>
                  <a:pt x="335058" y="1787684"/>
                </a:cubicBezTo>
                <a:cubicBezTo>
                  <a:pt x="331933" y="1760490"/>
                  <a:pt x="342400" y="1747069"/>
                  <a:pt x="345620" y="1720464"/>
                </a:cubicBezTo>
                <a:cubicBezTo>
                  <a:pt x="337355" y="1693643"/>
                  <a:pt x="360215" y="1703686"/>
                  <a:pt x="360760" y="1681196"/>
                </a:cubicBezTo>
                <a:cubicBezTo>
                  <a:pt x="353923" y="1644243"/>
                  <a:pt x="368449" y="1682451"/>
                  <a:pt x="368483" y="1625881"/>
                </a:cubicBezTo>
                <a:cubicBezTo>
                  <a:pt x="367181" y="1622619"/>
                  <a:pt x="369088" y="1615868"/>
                  <a:pt x="371077" y="1616704"/>
                </a:cubicBezTo>
                <a:cubicBezTo>
                  <a:pt x="371005" y="1604306"/>
                  <a:pt x="384453" y="1569256"/>
                  <a:pt x="383008" y="1551493"/>
                </a:cubicBezTo>
                <a:cubicBezTo>
                  <a:pt x="390598" y="1517303"/>
                  <a:pt x="381821" y="1500132"/>
                  <a:pt x="384834" y="1475233"/>
                </a:cubicBezTo>
                <a:cubicBezTo>
                  <a:pt x="393221" y="1446677"/>
                  <a:pt x="400498" y="1430031"/>
                  <a:pt x="418371" y="1380155"/>
                </a:cubicBezTo>
                <a:lnTo>
                  <a:pt x="469641" y="1210871"/>
                </a:lnTo>
                <a:cubicBezTo>
                  <a:pt x="507460" y="1148093"/>
                  <a:pt x="486915" y="1066841"/>
                  <a:pt x="489701" y="1028427"/>
                </a:cubicBezTo>
                <a:cubicBezTo>
                  <a:pt x="478454" y="1012506"/>
                  <a:pt x="490925" y="999600"/>
                  <a:pt x="486354" y="980383"/>
                </a:cubicBezTo>
                <a:cubicBezTo>
                  <a:pt x="483880" y="937629"/>
                  <a:pt x="471099" y="895192"/>
                  <a:pt x="479762" y="839699"/>
                </a:cubicBezTo>
                <a:cubicBezTo>
                  <a:pt x="444550" y="814685"/>
                  <a:pt x="465776" y="749644"/>
                  <a:pt x="445664" y="696545"/>
                </a:cubicBezTo>
                <a:cubicBezTo>
                  <a:pt x="441558" y="665722"/>
                  <a:pt x="459046" y="617297"/>
                  <a:pt x="440047" y="606615"/>
                </a:cubicBezTo>
                <a:cubicBezTo>
                  <a:pt x="451675" y="592509"/>
                  <a:pt x="432892" y="579307"/>
                  <a:pt x="431225" y="563889"/>
                </a:cubicBezTo>
                <a:cubicBezTo>
                  <a:pt x="438618" y="551582"/>
                  <a:pt x="432225" y="545475"/>
                  <a:pt x="430803" y="534294"/>
                </a:cubicBezTo>
                <a:cubicBezTo>
                  <a:pt x="435364" y="529230"/>
                  <a:pt x="435126" y="519767"/>
                  <a:pt x="429777" y="516548"/>
                </a:cubicBezTo>
                <a:cubicBezTo>
                  <a:pt x="417444" y="521116"/>
                  <a:pt x="423596" y="488251"/>
                  <a:pt x="415090" y="485808"/>
                </a:cubicBezTo>
                <a:cubicBezTo>
                  <a:pt x="413316" y="466733"/>
                  <a:pt x="424116" y="383903"/>
                  <a:pt x="410499" y="369873"/>
                </a:cubicBezTo>
                <a:cubicBezTo>
                  <a:pt x="404034" y="331308"/>
                  <a:pt x="425696" y="275570"/>
                  <a:pt x="425314" y="259180"/>
                </a:cubicBezTo>
                <a:cubicBezTo>
                  <a:pt x="450188" y="242918"/>
                  <a:pt x="384634" y="163766"/>
                  <a:pt x="383240" y="94173"/>
                </a:cubicBezTo>
                <a:cubicBezTo>
                  <a:pt x="385641" y="84795"/>
                  <a:pt x="385609" y="79782"/>
                  <a:pt x="379938" y="77267"/>
                </a:cubicBezTo>
                <a:cubicBezTo>
                  <a:pt x="378301" y="68220"/>
                  <a:pt x="376144" y="54774"/>
                  <a:pt x="373430" y="38856"/>
                </a:cubicBez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1806244-E5F4-A8F4-F100-74106335F83E}"/>
              </a:ext>
            </a:extLst>
          </p:cNvPr>
          <p:cNvSpPr>
            <a:spLocks noGrp="1"/>
          </p:cNvSpPr>
          <p:nvPr>
            <p:ph type="title"/>
          </p:nvPr>
        </p:nvSpPr>
        <p:spPr>
          <a:xfrm>
            <a:off x="5867400" y="609600"/>
            <a:ext cx="5310116" cy="1322887"/>
          </a:xfrm>
        </p:spPr>
        <p:txBody>
          <a:bodyPr vert="horz" lIns="91440" tIns="45720" rIns="91440" bIns="45720" rtlCol="0" anchor="ctr">
            <a:normAutofit/>
          </a:bodyPr>
          <a:lstStyle/>
          <a:p>
            <a:r>
              <a:rPr lang="en-US" sz="2800" b="1" kern="1200" dirty="0">
                <a:solidFill>
                  <a:schemeClr val="tx1"/>
                </a:solidFill>
                <a:latin typeface="Times New Roman" panose="02020603050405020304" pitchFamily="18" charset="0"/>
                <a:cs typeface="Times New Roman" panose="02020603050405020304" pitchFamily="18" charset="0"/>
              </a:rPr>
              <a:t>Scatter matrix (bonus overview)</a:t>
            </a:r>
          </a:p>
        </p:txBody>
      </p:sp>
      <p:pic>
        <p:nvPicPr>
          <p:cNvPr id="6" name="Content Placeholder 5" descr="A screenshot of a graph&#10;&#10;AI-generated content may be incorrect.">
            <a:extLst>
              <a:ext uri="{FF2B5EF4-FFF2-40B4-BE49-F238E27FC236}">
                <a16:creationId xmlns:a16="http://schemas.microsoft.com/office/drawing/2014/main" id="{D40C745F-3572-B213-998F-E3C42671DE56}"/>
              </a:ext>
            </a:extLst>
          </p:cNvPr>
          <p:cNvPicPr>
            <a:picLocks noGrp="1" noChangeAspect="1"/>
          </p:cNvPicPr>
          <p:nvPr>
            <p:ph idx="1"/>
          </p:nvPr>
        </p:nvPicPr>
        <p:blipFill>
          <a:blip r:embed="rId2"/>
          <a:stretch>
            <a:fillRect/>
          </a:stretch>
        </p:blipFill>
        <p:spPr>
          <a:xfrm>
            <a:off x="674427" y="1378715"/>
            <a:ext cx="3720152" cy="4110664"/>
          </a:xfrm>
          <a:prstGeom prst="rect">
            <a:avLst/>
          </a:prstGeom>
        </p:spPr>
      </p:pic>
      <p:sp>
        <p:nvSpPr>
          <p:cNvPr id="4" name="Text Placeholder 3">
            <a:extLst>
              <a:ext uri="{FF2B5EF4-FFF2-40B4-BE49-F238E27FC236}">
                <a16:creationId xmlns:a16="http://schemas.microsoft.com/office/drawing/2014/main" id="{5E02A5E5-BDC6-CE1D-9ED1-C2618BF531E8}"/>
              </a:ext>
            </a:extLst>
          </p:cNvPr>
          <p:cNvSpPr>
            <a:spLocks noGrp="1"/>
          </p:cNvSpPr>
          <p:nvPr>
            <p:ph type="body" sz="half" idx="2"/>
          </p:nvPr>
        </p:nvSpPr>
        <p:spPr>
          <a:xfrm>
            <a:off x="5867400" y="2194102"/>
            <a:ext cx="5310116" cy="3908585"/>
          </a:xfrm>
        </p:spPr>
        <p:txBody>
          <a:bodyPr vert="horz" lIns="91440" tIns="45720" rIns="91440" bIns="45720" rtlCol="0">
            <a:normAutofit/>
          </a:bodyPr>
          <a:lstStyle/>
          <a:p>
            <a:r>
              <a:rPr lang="en-US" sz="2000" dirty="0">
                <a:latin typeface="Times New Roman" panose="02020603050405020304" pitchFamily="18" charset="0"/>
                <a:cs typeface="Times New Roman" panose="02020603050405020304" pitchFamily="18" charset="0"/>
              </a:rPr>
              <a:t>The scatter diagram represents the trends between blood pressure (bp), serum creatinine (</a:t>
            </a:r>
            <a:r>
              <a:rPr lang="en-US" sz="2000" dirty="0" err="1">
                <a:latin typeface="Times New Roman" panose="02020603050405020304" pitchFamily="18" charset="0"/>
                <a:cs typeface="Times New Roman" panose="02020603050405020304" pitchFamily="18" charset="0"/>
              </a:rPr>
              <a:t>sc</a:t>
            </a:r>
            <a:r>
              <a:rPr lang="en-US" sz="2000" dirty="0">
                <a:latin typeface="Times New Roman" panose="02020603050405020304" pitchFamily="18" charset="0"/>
                <a:cs typeface="Times New Roman" panose="02020603050405020304" pitchFamily="18" charset="0"/>
              </a:rPr>
              <a:t>) and hemoglobin (</a:t>
            </a:r>
            <a:r>
              <a:rPr lang="en-US" sz="2000" dirty="0" err="1">
                <a:latin typeface="Times New Roman" panose="02020603050405020304" pitchFamily="18" charset="0"/>
                <a:cs typeface="Times New Roman" panose="02020603050405020304" pitchFamily="18" charset="0"/>
              </a:rPr>
              <a:t>hemo</a:t>
            </a:r>
            <a:r>
              <a:rPr lang="en-US" sz="2000" dirty="0">
                <a:latin typeface="Times New Roman" panose="02020603050405020304" pitchFamily="18" charset="0"/>
                <a:cs typeface="Times New Roman" panose="02020603050405020304" pitchFamily="18" charset="0"/>
              </a:rPr>
              <a:t>). The bp of most patients is in normal-to-high range, </a:t>
            </a:r>
            <a:r>
              <a:rPr lang="en-US" sz="2000" dirty="0" err="1">
                <a:latin typeface="Times New Roman" panose="02020603050405020304" pitchFamily="18" charset="0"/>
                <a:cs typeface="Times New Roman" panose="02020603050405020304" pitchFamily="18" charset="0"/>
              </a:rPr>
              <a:t>sc</a:t>
            </a:r>
            <a:r>
              <a:rPr lang="en-US" sz="2000" dirty="0">
                <a:latin typeface="Times New Roman" panose="02020603050405020304" pitchFamily="18" charset="0"/>
                <a:cs typeface="Times New Roman" panose="02020603050405020304" pitchFamily="18" charset="0"/>
              </a:rPr>
              <a:t> is skewed with several very high values and the </a:t>
            </a:r>
            <a:r>
              <a:rPr lang="en-US" sz="2000" dirty="0" err="1">
                <a:latin typeface="Times New Roman" panose="02020603050405020304" pitchFamily="18" charset="0"/>
                <a:cs typeface="Times New Roman" panose="02020603050405020304" pitchFamily="18" charset="0"/>
              </a:rPr>
              <a:t>hemo</a:t>
            </a:r>
            <a:r>
              <a:rPr lang="en-US" sz="2000" dirty="0">
                <a:latin typeface="Times New Roman" panose="02020603050405020304" pitchFamily="18" charset="0"/>
                <a:cs typeface="Times New Roman" panose="02020603050405020304" pitchFamily="18" charset="0"/>
              </a:rPr>
              <a:t> is either10-15. The plots also reveal that patients with high creatinine tend to possess low hemoglobin which may be a sign that they have a more serious kidney disease.</a:t>
            </a:r>
          </a:p>
        </p:txBody>
      </p:sp>
    </p:spTree>
    <p:extLst>
      <p:ext uri="{BB962C8B-B14F-4D97-AF65-F5344CB8AC3E}">
        <p14:creationId xmlns:p14="http://schemas.microsoft.com/office/powerpoint/2010/main" val="277496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F0C1325-71CD-7DF8-445B-D1215EEFFDF3}"/>
              </a:ext>
            </a:extLst>
          </p:cNvPr>
          <p:cNvSpPr>
            <a:spLocks noGrp="1"/>
          </p:cNvSpPr>
          <p:nvPr>
            <p:ph type="title"/>
          </p:nvPr>
        </p:nvSpPr>
        <p:spPr>
          <a:xfrm>
            <a:off x="1137036" y="548640"/>
            <a:ext cx="9543405" cy="1188720"/>
          </a:xfrm>
        </p:spPr>
        <p:txBody>
          <a:bodyPr>
            <a:normAutofit/>
          </a:bodyPr>
          <a:lstStyle/>
          <a:p>
            <a:r>
              <a:rPr lang="en-US" b="1">
                <a:solidFill>
                  <a:schemeClr val="tx1">
                    <a:lumMod val="85000"/>
                    <a:lumOff val="15000"/>
                  </a:schemeClr>
                </a:solidFill>
                <a:latin typeface="Times New Roman" panose="02020603050405020304" pitchFamily="18" charset="0"/>
                <a:cs typeface="Times New Roman" panose="02020603050405020304" pitchFamily="18" charset="0"/>
              </a:rPr>
              <a:t>Final output</a:t>
            </a:r>
          </a:p>
        </p:txBody>
      </p:sp>
      <p:sp>
        <p:nvSpPr>
          <p:cNvPr id="3" name="Content Placeholder 2">
            <a:extLst>
              <a:ext uri="{FF2B5EF4-FFF2-40B4-BE49-F238E27FC236}">
                <a16:creationId xmlns:a16="http://schemas.microsoft.com/office/drawing/2014/main" id="{B6D9F89C-D9B5-0A8E-FD33-EB565261A5EE}"/>
              </a:ext>
            </a:extLst>
          </p:cNvPr>
          <p:cNvSpPr>
            <a:spLocks noGrp="1"/>
          </p:cNvSpPr>
          <p:nvPr>
            <p:ph idx="1"/>
          </p:nvPr>
        </p:nvSpPr>
        <p:spPr>
          <a:xfrm>
            <a:off x="1957987" y="2431765"/>
            <a:ext cx="8276026" cy="3320031"/>
          </a:xfrm>
        </p:spPr>
        <p:txBody>
          <a:bodyPr anchor="ctr">
            <a:normAutofit/>
          </a:bodyPr>
          <a:lstStyle/>
          <a:p>
            <a:pPr marL="0" indent="0">
              <a:buNone/>
            </a:pPr>
            <a:r>
              <a:rPr lang="en-US" sz="1700">
                <a:solidFill>
                  <a:schemeClr val="tx1">
                    <a:lumMod val="85000"/>
                    <a:lumOff val="15000"/>
                  </a:schemeClr>
                </a:solidFill>
                <a:latin typeface="Times New Roman" panose="02020603050405020304" pitchFamily="18" charset="0"/>
                <a:cs typeface="Times New Roman" panose="02020603050405020304" pitchFamily="18" charset="0"/>
              </a:rPr>
              <a:t>When presenting the data in our data visualization, we discovered that the majority of patients (177) do not have hypertension, and 102 (have) hypertension, so hypertension is a significant risk factor of CKD. Diabetes is another important variable that will be studied with a 36 percent and 64 percent proportion of patients having and not having diabetes respectively. The creatinine levels of serum are highly skewed with majority of patients recording low levels with some having very high levels and this implies that they may have a lot of significant kidney damage. The median of blood pressure is approximately 75 mmHg, and the distribution is broad with some outliers as high as 150 mmHg which point to uncontrolled hypertension. The scatter plot of the serum creatinine and blood pressure exhibit no linear tendencies, but high creatinine serum values are the markers of severe cases. Lastly, the scatter plot of blood pressure, serum creatinine, and hemoglobin demonstrates the skewed distribution of creatinine, dominance of hemoglobin between 10 -15, and a tendency of high creatinine to be accompanied by low hemoglobin, which indicates severe CKD.</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7551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 name="!!Rectangle">
            <a:extLst>
              <a:ext uri="{FF2B5EF4-FFF2-40B4-BE49-F238E27FC236}">
                <a16:creationId xmlns:a16="http://schemas.microsoft.com/office/drawing/2014/main" id="{21ED5FCA-9564-42B4-9F52-2CCED8ED6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Arc 4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26" name="Content Placeholder 2">
            <a:extLst>
              <a:ext uri="{FF2B5EF4-FFF2-40B4-BE49-F238E27FC236}">
                <a16:creationId xmlns:a16="http://schemas.microsoft.com/office/drawing/2014/main" id="{B7949D61-1B80-3951-B30B-F3B475CDC625}"/>
              </a:ext>
            </a:extLst>
          </p:cNvPr>
          <p:cNvGraphicFramePr>
            <a:graphicFrameLocks noGrp="1"/>
          </p:cNvGraphicFramePr>
          <p:nvPr>
            <p:ph idx="1"/>
            <p:extLst>
              <p:ext uri="{D42A27DB-BD31-4B8C-83A1-F6EECF244321}">
                <p14:modId xmlns:p14="http://schemas.microsoft.com/office/powerpoint/2010/main" val="3041445314"/>
              </p:ext>
            </p:extLst>
          </p:nvPr>
        </p:nvGraphicFramePr>
        <p:xfrm>
          <a:off x="555710" y="62666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92256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E90EB45-EEE9-4563-8179-65EF62AE09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E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3D0EF74-AD1E-4FD9-914D-8EC9058EBB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no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program">
            <a:extLst>
              <a:ext uri="{FF2B5EF4-FFF2-40B4-BE49-F238E27FC236}">
                <a16:creationId xmlns:a16="http://schemas.microsoft.com/office/drawing/2014/main" id="{E0A80863-2C33-AFD8-5E87-1E0B8B782EC4}"/>
              </a:ext>
            </a:extLst>
          </p:cNvPr>
          <p:cNvPicPr>
            <a:picLocks noChangeAspect="1"/>
          </p:cNvPicPr>
          <p:nvPr/>
        </p:nvPicPr>
        <p:blipFill>
          <a:blip r:embed="rId2"/>
          <a:stretch>
            <a:fillRect/>
          </a:stretch>
        </p:blipFill>
        <p:spPr>
          <a:xfrm>
            <a:off x="477012" y="480060"/>
            <a:ext cx="5852874" cy="5897880"/>
          </a:xfrm>
          <a:prstGeom prst="rect">
            <a:avLst/>
          </a:prstGeom>
        </p:spPr>
      </p:pic>
      <p:pic>
        <p:nvPicPr>
          <p:cNvPr id="7" name="Picture 6" descr="A screenshot of a computer program">
            <a:extLst>
              <a:ext uri="{FF2B5EF4-FFF2-40B4-BE49-F238E27FC236}">
                <a16:creationId xmlns:a16="http://schemas.microsoft.com/office/drawing/2014/main" id="{634EE814-4F5C-D7EA-C08C-484AEA2D55F4}"/>
              </a:ext>
            </a:extLst>
          </p:cNvPr>
          <p:cNvPicPr>
            <a:picLocks noChangeAspect="1"/>
          </p:cNvPicPr>
          <p:nvPr/>
        </p:nvPicPr>
        <p:blipFill>
          <a:blip r:embed="rId3"/>
          <a:stretch>
            <a:fillRect/>
          </a:stretch>
        </p:blipFill>
        <p:spPr>
          <a:xfrm>
            <a:off x="6329886" y="524150"/>
            <a:ext cx="5385102" cy="5853789"/>
          </a:xfrm>
          <a:prstGeom prst="rect">
            <a:avLst/>
          </a:prstGeom>
        </p:spPr>
      </p:pic>
    </p:spTree>
    <p:extLst>
      <p:ext uri="{BB962C8B-B14F-4D97-AF65-F5344CB8AC3E}">
        <p14:creationId xmlns:p14="http://schemas.microsoft.com/office/powerpoint/2010/main" val="3933891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F9CFCE6-877F-4858-B8BD-2C52CA8AF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673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213F8A0-12AE-4514-8372-0DD766EC2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56866" y="480060"/>
            <a:ext cx="545812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 shot of a graph">
            <a:extLst>
              <a:ext uri="{FF2B5EF4-FFF2-40B4-BE49-F238E27FC236}">
                <a16:creationId xmlns:a16="http://schemas.microsoft.com/office/drawing/2014/main" id="{0DE3D6AE-BA8F-27BD-FA81-47D13939690E}"/>
              </a:ext>
            </a:extLst>
          </p:cNvPr>
          <p:cNvPicPr>
            <a:picLocks noChangeAspect="1"/>
          </p:cNvPicPr>
          <p:nvPr/>
        </p:nvPicPr>
        <p:blipFill>
          <a:blip r:embed="rId2"/>
          <a:stretch>
            <a:fillRect/>
          </a:stretch>
        </p:blipFill>
        <p:spPr>
          <a:xfrm>
            <a:off x="6256864" y="480059"/>
            <a:ext cx="5458121" cy="5897880"/>
          </a:xfrm>
          <a:prstGeom prst="rect">
            <a:avLst/>
          </a:prstGeom>
        </p:spPr>
      </p:pic>
      <p:sp>
        <p:nvSpPr>
          <p:cNvPr id="20" name="Rectangle 19">
            <a:extLst>
              <a:ext uri="{FF2B5EF4-FFF2-40B4-BE49-F238E27FC236}">
                <a16:creationId xmlns:a16="http://schemas.microsoft.com/office/drawing/2014/main" id="{9EFF17D4-9A8C-4CE5-B096-D8CCD44004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5458121"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a:extLst>
              <a:ext uri="{FF2B5EF4-FFF2-40B4-BE49-F238E27FC236}">
                <a16:creationId xmlns:a16="http://schemas.microsoft.com/office/drawing/2014/main" id="{220A2180-BAC2-B62D-CA11-63E93744C31E}"/>
              </a:ext>
            </a:extLst>
          </p:cNvPr>
          <p:cNvPicPr>
            <a:picLocks noChangeAspect="1"/>
          </p:cNvPicPr>
          <p:nvPr/>
        </p:nvPicPr>
        <p:blipFill>
          <a:blip r:embed="rId3"/>
          <a:stretch>
            <a:fillRect/>
          </a:stretch>
        </p:blipFill>
        <p:spPr>
          <a:xfrm>
            <a:off x="477011" y="480060"/>
            <a:ext cx="5458121" cy="5897880"/>
          </a:xfrm>
          <a:prstGeom prst="rect">
            <a:avLst/>
          </a:prstGeom>
        </p:spPr>
      </p:pic>
    </p:spTree>
    <p:extLst>
      <p:ext uri="{BB962C8B-B14F-4D97-AF65-F5344CB8AC3E}">
        <p14:creationId xmlns:p14="http://schemas.microsoft.com/office/powerpoint/2010/main" val="229302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7562F02-DCD3-C336-E06E-23FDFA1A615A}"/>
              </a:ext>
            </a:extLst>
          </p:cNvPr>
          <p:cNvGraphicFramePr>
            <a:graphicFrameLocks noGrp="1"/>
          </p:cNvGraphicFramePr>
          <p:nvPr>
            <p:ph idx="1"/>
            <p:extLst>
              <p:ext uri="{D42A27DB-BD31-4B8C-83A1-F6EECF244321}">
                <p14:modId xmlns:p14="http://schemas.microsoft.com/office/powerpoint/2010/main" val="656247138"/>
              </p:ext>
            </p:extLst>
          </p:nvPr>
        </p:nvGraphicFramePr>
        <p:xfrm>
          <a:off x="294968" y="275302"/>
          <a:ext cx="11670890" cy="65826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0650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screenshot of a computer screen">
            <a:extLst>
              <a:ext uri="{FF2B5EF4-FFF2-40B4-BE49-F238E27FC236}">
                <a16:creationId xmlns:a16="http://schemas.microsoft.com/office/drawing/2014/main" id="{02B4E36D-7AA5-EDF3-0E44-D101EB0EB33D}"/>
              </a:ext>
            </a:extLst>
          </p:cNvPr>
          <p:cNvPicPr>
            <a:picLocks noChangeAspect="1"/>
          </p:cNvPicPr>
          <p:nvPr/>
        </p:nvPicPr>
        <p:blipFill>
          <a:blip r:embed="rId2"/>
          <a:stretch>
            <a:fillRect/>
          </a:stretch>
        </p:blipFill>
        <p:spPr>
          <a:xfrm>
            <a:off x="98009" y="369332"/>
            <a:ext cx="5557546" cy="6090462"/>
          </a:xfrm>
          <a:prstGeom prst="rect">
            <a:avLst/>
          </a:prstGeom>
        </p:spPr>
      </p:pic>
      <p:sp>
        <p:nvSpPr>
          <p:cNvPr id="3" name="Content Placeholder 2">
            <a:extLst>
              <a:ext uri="{FF2B5EF4-FFF2-40B4-BE49-F238E27FC236}">
                <a16:creationId xmlns:a16="http://schemas.microsoft.com/office/drawing/2014/main" id="{B8C8042E-2B19-ACD2-521A-3CBA94376CAA}"/>
              </a:ext>
            </a:extLst>
          </p:cNvPr>
          <p:cNvSpPr>
            <a:spLocks noGrp="1"/>
          </p:cNvSpPr>
          <p:nvPr>
            <p:ph idx="1"/>
          </p:nvPr>
        </p:nvSpPr>
        <p:spPr>
          <a:xfrm>
            <a:off x="6059061" y="873640"/>
            <a:ext cx="5527101" cy="5724939"/>
          </a:xfrm>
        </p:spPr>
        <p:txBody>
          <a:bodyPr anchor="t">
            <a:normAutofit/>
          </a:bodyPr>
          <a:lstStyle/>
          <a:p>
            <a:pPr eaLnBrk="0" fontAlgn="base" hangingPunct="0">
              <a:spcBef>
                <a:spcPct val="0"/>
              </a:spcBef>
              <a:spcAft>
                <a:spcPct val="0"/>
              </a:spcAft>
            </a:pPr>
            <a:r>
              <a:rPr lang="en-US" altLang="en-US" sz="2400" dirty="0">
                <a:solidFill>
                  <a:schemeClr val="tx1">
                    <a:alpha val="80000"/>
                  </a:schemeClr>
                </a:solidFill>
                <a:latin typeface="Times New Roman" panose="02020603050405020304" pitchFamily="18" charset="0"/>
                <a:cs typeface="Times New Roman" panose="02020603050405020304" pitchFamily="18" charset="0"/>
              </a:rPr>
              <a:t>The regression equation is:</a:t>
            </a:r>
          </a:p>
          <a:p>
            <a:pPr eaLnBrk="0" fontAlgn="base" hangingPunct="0">
              <a:spcBef>
                <a:spcPct val="0"/>
              </a:spcBef>
              <a:spcAft>
                <a:spcPct val="0"/>
              </a:spcAft>
            </a:pPr>
            <a:endParaRPr lang="en-US" altLang="en-US" sz="2400" dirty="0">
              <a:solidFill>
                <a:schemeClr val="tx1">
                  <a:alpha val="80000"/>
                </a:schemeClr>
              </a:solidFill>
              <a:latin typeface="Times New Roman" panose="02020603050405020304" pitchFamily="18" charset="0"/>
              <a:cs typeface="Times New Roman" panose="02020603050405020304" pitchFamily="18" charset="0"/>
            </a:endParaRPr>
          </a:p>
          <a:p>
            <a:pPr marL="0" lvl="0" indent="0" algn="ctr" eaLnBrk="0" fontAlgn="base" hangingPunct="0">
              <a:spcBef>
                <a:spcPct val="0"/>
              </a:spcBef>
              <a:spcAft>
                <a:spcPct val="0"/>
              </a:spcAft>
              <a:buNone/>
            </a:pPr>
            <a:r>
              <a:rPr lang="en-US" altLang="en-US" sz="2400" dirty="0" err="1">
                <a:solidFill>
                  <a:schemeClr val="tx1">
                    <a:alpha val="80000"/>
                  </a:schemeClr>
                </a:solidFill>
                <a:latin typeface="Times New Roman" panose="02020603050405020304" pitchFamily="18" charset="0"/>
                <a:cs typeface="Times New Roman" panose="02020603050405020304" pitchFamily="18" charset="0"/>
              </a:rPr>
              <a:t>sc</a:t>
            </a:r>
            <a:r>
              <a:rPr lang="en-US" altLang="en-US" sz="2400" dirty="0">
                <a:solidFill>
                  <a:schemeClr val="tx1">
                    <a:alpha val="80000"/>
                  </a:schemeClr>
                </a:solidFill>
                <a:latin typeface="Times New Roman" panose="02020603050405020304" pitchFamily="18" charset="0"/>
                <a:cs typeface="Times New Roman" panose="02020603050405020304" pitchFamily="18" charset="0"/>
              </a:rPr>
              <a:t>=0.0677×bp + −2.0970</a:t>
            </a:r>
          </a:p>
          <a:p>
            <a:pPr marL="0" lvl="0" indent="0" algn="ctr" eaLnBrk="0" fontAlgn="base" hangingPunct="0">
              <a:spcBef>
                <a:spcPct val="0"/>
              </a:spcBef>
              <a:spcAft>
                <a:spcPct val="0"/>
              </a:spcAft>
              <a:buNone/>
            </a:pPr>
            <a:endParaRPr lang="en-US" altLang="en-US" sz="2400" dirty="0">
              <a:solidFill>
                <a:schemeClr val="tx1">
                  <a:alpha val="80000"/>
                </a:schemeClr>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altLang="en-US" sz="2400" dirty="0">
                <a:solidFill>
                  <a:schemeClr val="tx1">
                    <a:alpha val="80000"/>
                  </a:schemeClr>
                </a:solidFill>
                <a:latin typeface="Times New Roman" panose="02020603050405020304" pitchFamily="18" charset="0"/>
                <a:cs typeface="Times New Roman" panose="02020603050405020304" pitchFamily="18" charset="0"/>
              </a:rPr>
              <a:t>This suggests a </a:t>
            </a:r>
            <a:r>
              <a:rPr lang="en-US" altLang="en-US" sz="2400" b="1" dirty="0">
                <a:solidFill>
                  <a:schemeClr val="tx1">
                    <a:alpha val="80000"/>
                  </a:schemeClr>
                </a:solidFill>
                <a:latin typeface="Times New Roman" panose="02020603050405020304" pitchFamily="18" charset="0"/>
                <a:cs typeface="Times New Roman" panose="02020603050405020304" pitchFamily="18" charset="0"/>
              </a:rPr>
              <a:t>weak positive relationship</a:t>
            </a:r>
            <a:r>
              <a:rPr lang="en-US" altLang="en-US" sz="2400" dirty="0">
                <a:solidFill>
                  <a:schemeClr val="tx1">
                    <a:alpha val="80000"/>
                  </a:schemeClr>
                </a:solidFill>
                <a:latin typeface="Times New Roman" panose="02020603050405020304" pitchFamily="18" charset="0"/>
                <a:cs typeface="Times New Roman" panose="02020603050405020304" pitchFamily="18" charset="0"/>
              </a:rPr>
              <a:t>: as blood pressure increases, serum creatinine also tends to increase slightly.</a:t>
            </a:r>
          </a:p>
          <a:p>
            <a:pPr eaLnBrk="0" fontAlgn="base" hangingPunct="0">
              <a:spcBef>
                <a:spcPct val="0"/>
              </a:spcBef>
              <a:spcAft>
                <a:spcPct val="0"/>
              </a:spcAft>
            </a:pPr>
            <a:endParaRPr lang="en-US" altLang="en-US" sz="2400" dirty="0">
              <a:solidFill>
                <a:schemeClr val="tx1">
                  <a:alpha val="80000"/>
                </a:schemeClr>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FontTx/>
              <a:buChar char="•"/>
            </a:pPr>
            <a:r>
              <a:rPr lang="en-US" altLang="en-US" sz="2400" dirty="0">
                <a:solidFill>
                  <a:schemeClr val="tx1">
                    <a:alpha val="80000"/>
                  </a:schemeClr>
                </a:solidFill>
                <a:latin typeface="Times New Roman" panose="02020603050405020304" pitchFamily="18" charset="0"/>
                <a:cs typeface="Times New Roman" panose="02020603050405020304" pitchFamily="18" charset="0"/>
              </a:rPr>
              <a:t>However, the scatter plot shows wide variability, meaning </a:t>
            </a:r>
            <a:r>
              <a:rPr lang="en-US" altLang="en-US" sz="2400" b="1" dirty="0">
                <a:solidFill>
                  <a:schemeClr val="tx1">
                    <a:alpha val="80000"/>
                  </a:schemeClr>
                </a:solidFill>
                <a:latin typeface="Times New Roman" panose="02020603050405020304" pitchFamily="18" charset="0"/>
                <a:cs typeface="Times New Roman" panose="02020603050405020304" pitchFamily="18" charset="0"/>
              </a:rPr>
              <a:t>blood pressure alone is not a strong predictor</a:t>
            </a:r>
            <a:r>
              <a:rPr lang="en-US" altLang="en-US" sz="2400" dirty="0">
                <a:solidFill>
                  <a:schemeClr val="tx1">
                    <a:alpha val="80000"/>
                  </a:schemeClr>
                </a:solidFill>
                <a:latin typeface="Times New Roman" panose="02020603050405020304" pitchFamily="18" charset="0"/>
                <a:cs typeface="Times New Roman" panose="02020603050405020304" pitchFamily="18" charset="0"/>
              </a:rPr>
              <a:t> of serum creatinine levels or CKD status.</a:t>
            </a:r>
          </a:p>
          <a:p>
            <a:endParaRPr lang="en-IN" sz="1700" dirty="0">
              <a:solidFill>
                <a:schemeClr val="tx1">
                  <a:alpha val="80000"/>
                </a:schemeClr>
              </a:solidFill>
            </a:endParaRPr>
          </a:p>
        </p:txBody>
      </p:sp>
      <p:cxnSp>
        <p:nvCxnSpPr>
          <p:cNvPr id="22" name="Straight Connector 2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4" name="Rectangle 1">
            <a:extLst>
              <a:ext uri="{FF2B5EF4-FFF2-40B4-BE49-F238E27FC236}">
                <a16:creationId xmlns:a16="http://schemas.microsoft.com/office/drawing/2014/main" id="{54BECC61-1DE3-3FD4-6B72-688237FC9974}"/>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5187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eriodic table of elements">
            <a:extLst>
              <a:ext uri="{FF2B5EF4-FFF2-40B4-BE49-F238E27FC236}">
                <a16:creationId xmlns:a16="http://schemas.microsoft.com/office/drawing/2014/main" id="{9D22E7B1-BBAE-20F6-A24F-CA466D6E2253}"/>
              </a:ext>
            </a:extLst>
          </p:cNvPr>
          <p:cNvPicPr>
            <a:picLocks noChangeAspect="1"/>
          </p:cNvPicPr>
          <p:nvPr/>
        </p:nvPicPr>
        <p:blipFill>
          <a:blip r:embed="rId2"/>
          <a:srcRect l="24859" r="22680"/>
          <a:stretch>
            <a:fillRect/>
          </a:stretch>
        </p:blipFill>
        <p:spPr>
          <a:xfrm>
            <a:off x="-1" y="-2"/>
            <a:ext cx="5410198" cy="6858002"/>
          </a:xfrm>
          <a:prstGeom prst="rect">
            <a:avLst/>
          </a:prstGeom>
        </p:spPr>
      </p:pic>
      <p:sp useBgFill="1">
        <p:nvSpPr>
          <p:cNvPr id="12" name="Rectangle 11">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2D5AD3-5FF2-35C3-B9B4-333785975A97}"/>
              </a:ext>
            </a:extLst>
          </p:cNvPr>
          <p:cNvSpPr>
            <a:spLocks noGrp="1"/>
          </p:cNvSpPr>
          <p:nvPr>
            <p:ph type="title"/>
          </p:nvPr>
        </p:nvSpPr>
        <p:spPr>
          <a:xfrm>
            <a:off x="6115317" y="405685"/>
            <a:ext cx="5464968" cy="1559301"/>
          </a:xfrm>
        </p:spPr>
        <p:txBody>
          <a:bodyPr>
            <a:normAutofit/>
          </a:bodyPr>
          <a:lstStyle/>
          <a:p>
            <a:r>
              <a:rPr lang="en-IN" sz="4000">
                <a:latin typeface="Times New Roman" panose="02020603050405020304" pitchFamily="18" charset="0"/>
                <a:cs typeface="Times New Roman" panose="02020603050405020304" pitchFamily="18" charset="0"/>
              </a:rPr>
              <a:t>Interpretation of Results</a:t>
            </a:r>
          </a:p>
        </p:txBody>
      </p:sp>
      <p:sp>
        <p:nvSpPr>
          <p:cNvPr id="4" name="Rectangle 1">
            <a:extLst>
              <a:ext uri="{FF2B5EF4-FFF2-40B4-BE49-F238E27FC236}">
                <a16:creationId xmlns:a16="http://schemas.microsoft.com/office/drawing/2014/main" id="{B46C5B89-E4AC-4A18-C0CA-087DAD3C354B}"/>
              </a:ext>
            </a:extLst>
          </p:cNvPr>
          <p:cNvSpPr>
            <a:spLocks noGrp="1" noChangeArrowheads="1"/>
          </p:cNvSpPr>
          <p:nvPr>
            <p:ph idx="1"/>
          </p:nvPr>
        </p:nvSpPr>
        <p:spPr bwMode="auto">
          <a:xfrm>
            <a:off x="5868237" y="1728316"/>
            <a:ext cx="5888334" cy="50040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Logistic Regression (age, bp, </a:t>
            </a: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sc</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83% accuracy.</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CKD detection (Class 1):</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Precision 0.86, Recall 0.83 → strong performance, few false negatives.</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Non-CKD detection (Class 0):</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Precision 0.78, Recall 0.82 → good results, some false positives.</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Linear Regression (bp → </a:t>
            </a:r>
            <a:r>
              <a:rPr kumimoji="0" lang="en-US" altLang="en-US" sz="2000" b="1" i="0" u="none" strike="noStrike" cap="none" normalizeH="0" baseline="0" dirty="0" err="1">
                <a:ln>
                  <a:noFill/>
                </a:ln>
                <a:effectLst/>
                <a:latin typeface="Times New Roman" panose="02020603050405020304" pitchFamily="18" charset="0"/>
                <a:cs typeface="Times New Roman" panose="02020603050405020304" pitchFamily="18" charset="0"/>
              </a:rPr>
              <a:t>sc</a:t>
            </a: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Weak positive trend (</a:t>
            </a:r>
            <a:r>
              <a:rPr kumimoji="0" lang="en-US" altLang="en-US" sz="2000" b="0" i="0" u="none" strike="noStrike" cap="none" normalizeH="0" baseline="0" dirty="0" err="1">
                <a:ln>
                  <a:noFill/>
                </a:ln>
                <a:effectLst/>
                <a:latin typeface="Times New Roman" panose="02020603050405020304" pitchFamily="18" charset="0"/>
                <a:cs typeface="Times New Roman" panose="02020603050405020304" pitchFamily="18" charset="0"/>
              </a:rPr>
              <a:t>sc</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 0.0677 × bp – 2.097), but wide scatter.</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Key Insight:</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CKD prediction needs multiple features; blood pressure alone is not reliable.</a:t>
            </a:r>
          </a:p>
          <a:p>
            <a:pPr marL="0" marR="0" lvl="0" indent="0" defTabSz="914400" rtl="0" eaLnBrk="0" fontAlgn="base" latinLnBrk="0" hangingPunct="0">
              <a:spcBef>
                <a:spcPct val="0"/>
              </a:spcBef>
              <a:spcAft>
                <a:spcPts val="600"/>
              </a:spcAft>
              <a:buClrTx/>
              <a:buSzTx/>
              <a:buFontTx/>
              <a:buChar char="•"/>
              <a:tabLst/>
            </a:pPr>
            <a:r>
              <a:rPr kumimoji="0" lang="en-US" altLang="en-US" sz="2000" b="1" i="0" u="none" strike="noStrike" cap="none" normalizeH="0" baseline="0" dirty="0">
                <a:ln>
                  <a:noFill/>
                </a:ln>
                <a:effectLst/>
                <a:latin typeface="Times New Roman" panose="02020603050405020304" pitchFamily="18" charset="0"/>
                <a:cs typeface="Times New Roman" panose="02020603050405020304" pitchFamily="18" charset="0"/>
              </a:rPr>
              <a:t>Overall:</a:t>
            </a:r>
            <a:r>
              <a:rPr kumimoji="0"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rPr>
              <a:t> Model is effective at early CKD detection, valuable for clinical risk stratification.</a:t>
            </a:r>
          </a:p>
        </p:txBody>
      </p:sp>
    </p:spTree>
    <p:extLst>
      <p:ext uri="{BB962C8B-B14F-4D97-AF65-F5344CB8AC3E}">
        <p14:creationId xmlns:p14="http://schemas.microsoft.com/office/powerpoint/2010/main" val="3059159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F574-6266-7B9E-B124-B268E1E3EB1B}"/>
              </a:ext>
            </a:extLst>
          </p:cNvPr>
          <p:cNvSpPr>
            <a:spLocks noGrp="1"/>
          </p:cNvSpPr>
          <p:nvPr>
            <p:ph type="title"/>
          </p:nvPr>
        </p:nvSpPr>
        <p:spPr>
          <a:xfrm>
            <a:off x="513735" y="312993"/>
            <a:ext cx="5582265" cy="736088"/>
          </a:xfrm>
        </p:spPr>
        <p:txBody>
          <a:bodyPr/>
          <a:lstStyle/>
          <a:p>
            <a:r>
              <a:rPr lang="en-US" dirty="0">
                <a:latin typeface="Times New Roman" panose="02020603050405020304" pitchFamily="18" charset="0"/>
                <a:cs typeface="Times New Roman" panose="02020603050405020304" pitchFamily="18" charset="0"/>
              </a:rPr>
              <a:t>Features selected</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CCFFA1C-9307-1B66-360A-AE5B152D9FD4}"/>
              </a:ext>
            </a:extLst>
          </p:cNvPr>
          <p:cNvSpPr>
            <a:spLocks noGrp="1"/>
          </p:cNvSpPr>
          <p:nvPr>
            <p:ph idx="1"/>
          </p:nvPr>
        </p:nvSpPr>
        <p:spPr>
          <a:xfrm>
            <a:off x="334298" y="1246909"/>
            <a:ext cx="6086168" cy="4930054"/>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We selected </a:t>
            </a:r>
            <a:r>
              <a:rPr lang="en-US" b="1" dirty="0">
                <a:latin typeface="Times New Roman" panose="02020603050405020304" pitchFamily="18" charset="0"/>
                <a:cs typeface="Times New Roman" panose="02020603050405020304" pitchFamily="18" charset="0"/>
              </a:rPr>
              <a:t>Blood Pressure (bp)</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Serum Creatinine (</a:t>
            </a:r>
            <a:r>
              <a:rPr lang="en-US" b="1" dirty="0" err="1">
                <a:latin typeface="Times New Roman" panose="02020603050405020304" pitchFamily="18" charset="0"/>
                <a:cs typeface="Times New Roman" panose="02020603050405020304" pitchFamily="18" charset="0"/>
              </a:rPr>
              <a:t>sc</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as the key predictors for chronic kidney disease (CKD).</a:t>
            </a:r>
          </a:p>
          <a:p>
            <a:r>
              <a:rPr lang="en-US" b="1" dirty="0">
                <a:latin typeface="Times New Roman" panose="02020603050405020304" pitchFamily="18" charset="0"/>
                <a:cs typeface="Times New Roman" panose="02020603050405020304" pitchFamily="18" charset="0"/>
              </a:rPr>
              <a:t>Blood Pressure (bp):</a:t>
            </a:r>
            <a:r>
              <a:rPr lang="en-US" dirty="0">
                <a:latin typeface="Times New Roman" panose="02020603050405020304" pitchFamily="18" charset="0"/>
                <a:cs typeface="Times New Roman" panose="02020603050405020304" pitchFamily="18" charset="0"/>
              </a:rPr>
              <a:t> Hypertension is a major clinical risk factor for CKD. Higher blood pressure levels can damage kidney filtration over time.</a:t>
            </a:r>
          </a:p>
          <a:p>
            <a:r>
              <a:rPr lang="en-US" b="1" dirty="0">
                <a:latin typeface="Times New Roman" panose="02020603050405020304" pitchFamily="18" charset="0"/>
                <a:cs typeface="Times New Roman" panose="02020603050405020304" pitchFamily="18" charset="0"/>
              </a:rPr>
              <a:t>Serum Creatinine (</a:t>
            </a:r>
            <a:r>
              <a:rPr lang="en-US" b="1" dirty="0" err="1">
                <a:latin typeface="Times New Roman" panose="02020603050405020304" pitchFamily="18" charset="0"/>
                <a:cs typeface="Times New Roman" panose="02020603050405020304" pitchFamily="18" charset="0"/>
              </a:rPr>
              <a:t>sc</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This is a direct indicator of kidney function; elevated creatinine levels signal reduced glomerular filtration and kidney impairment.</a:t>
            </a:r>
          </a:p>
          <a:p>
            <a:r>
              <a:rPr lang="en-US" dirty="0">
                <a:latin typeface="Times New Roman" panose="02020603050405020304" pitchFamily="18" charset="0"/>
                <a:cs typeface="Times New Roman" panose="02020603050405020304" pitchFamily="18" charset="0"/>
              </a:rPr>
              <a:t>By combining these two variables, the model can effectively differentiate between normal and impaired kidney function.</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8632D8D-ABBC-D349-9A43-309039CC007A}"/>
              </a:ext>
            </a:extLst>
          </p:cNvPr>
          <p:cNvPicPr>
            <a:picLocks noChangeAspect="1"/>
          </p:cNvPicPr>
          <p:nvPr/>
        </p:nvPicPr>
        <p:blipFill>
          <a:blip r:embed="rId2"/>
          <a:stretch>
            <a:fillRect/>
          </a:stretch>
        </p:blipFill>
        <p:spPr>
          <a:xfrm>
            <a:off x="6420466" y="161332"/>
            <a:ext cx="5605296" cy="6499241"/>
          </a:xfrm>
          <a:prstGeom prst="rect">
            <a:avLst/>
          </a:prstGeom>
        </p:spPr>
      </p:pic>
    </p:spTree>
    <p:extLst>
      <p:ext uri="{BB962C8B-B14F-4D97-AF65-F5344CB8AC3E}">
        <p14:creationId xmlns:p14="http://schemas.microsoft.com/office/powerpoint/2010/main" val="19292357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689B38B-5778-74BF-A2BF-8270B47F0737}"/>
              </a:ext>
            </a:extLst>
          </p:cNvPr>
          <p:cNvPicPr>
            <a:picLocks noChangeAspect="1"/>
          </p:cNvPicPr>
          <p:nvPr/>
        </p:nvPicPr>
        <p:blipFill>
          <a:blip r:embed="rId2"/>
          <a:stretch>
            <a:fillRect/>
          </a:stretch>
        </p:blipFill>
        <p:spPr>
          <a:xfrm>
            <a:off x="-15240" y="3474720"/>
            <a:ext cx="6141720" cy="3401624"/>
          </a:xfrm>
          <a:prstGeom prst="rect">
            <a:avLst/>
          </a:prstGeom>
        </p:spPr>
      </p:pic>
      <p:pic>
        <p:nvPicPr>
          <p:cNvPr id="7" name="Picture 6">
            <a:extLst>
              <a:ext uri="{FF2B5EF4-FFF2-40B4-BE49-F238E27FC236}">
                <a16:creationId xmlns:a16="http://schemas.microsoft.com/office/drawing/2014/main" id="{63A2D6BB-1017-82D6-0143-FB0FDD618360}"/>
              </a:ext>
            </a:extLst>
          </p:cNvPr>
          <p:cNvPicPr>
            <a:picLocks noChangeAspect="1"/>
          </p:cNvPicPr>
          <p:nvPr/>
        </p:nvPicPr>
        <p:blipFill>
          <a:blip r:embed="rId3"/>
          <a:stretch>
            <a:fillRect/>
          </a:stretch>
        </p:blipFill>
        <p:spPr>
          <a:xfrm>
            <a:off x="-15240" y="-1"/>
            <a:ext cx="6065520" cy="3383281"/>
          </a:xfrm>
          <a:prstGeom prst="rect">
            <a:avLst/>
          </a:prstGeom>
        </p:spPr>
      </p:pic>
      <p:sp>
        <p:nvSpPr>
          <p:cNvPr id="33" name="Rectangle 32">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
            <a:extLst>
              <a:ext uri="{FF2B5EF4-FFF2-40B4-BE49-F238E27FC236}">
                <a16:creationId xmlns:a16="http://schemas.microsoft.com/office/drawing/2014/main" id="{7EB725AC-6D20-C15A-62A2-ED6AE001A226}"/>
              </a:ext>
            </a:extLst>
          </p:cNvPr>
          <p:cNvPicPr>
            <a:picLocks noChangeAspect="1"/>
          </p:cNvPicPr>
          <p:nvPr/>
        </p:nvPicPr>
        <p:blipFill>
          <a:blip r:embed="rId4"/>
          <a:stretch>
            <a:fillRect/>
          </a:stretch>
        </p:blipFill>
        <p:spPr>
          <a:xfrm>
            <a:off x="6126480" y="0"/>
            <a:ext cx="6050280" cy="6859292"/>
          </a:xfrm>
          <a:prstGeom prst="rect">
            <a:avLst/>
          </a:prstGeom>
        </p:spPr>
      </p:pic>
    </p:spTree>
    <p:extLst>
      <p:ext uri="{BB962C8B-B14F-4D97-AF65-F5344CB8AC3E}">
        <p14:creationId xmlns:p14="http://schemas.microsoft.com/office/powerpoint/2010/main" val="799402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B819E5-E6BF-ABD3-817D-9CB4AAD39D97}"/>
              </a:ext>
            </a:extLst>
          </p:cNvPr>
          <p:cNvSpPr>
            <a:spLocks noGrp="1"/>
          </p:cNvSpPr>
          <p:nvPr>
            <p:ph type="title"/>
          </p:nvPr>
        </p:nvSpPr>
        <p:spPr>
          <a:xfrm>
            <a:off x="686834" y="1153572"/>
            <a:ext cx="3200400" cy="4461163"/>
          </a:xfrm>
        </p:spPr>
        <p:txBody>
          <a:bodyPr>
            <a:normAutofit/>
          </a:bodyPr>
          <a:lstStyle/>
          <a:p>
            <a:r>
              <a:rPr lang="en-US" sz="4100" b="1">
                <a:solidFill>
                  <a:srgbClr val="FFFFFF"/>
                </a:solidFill>
                <a:latin typeface="Times New Roman" panose="02020603050405020304" pitchFamily="18" charset="0"/>
                <a:cs typeface="Times New Roman" panose="02020603050405020304" pitchFamily="18" charset="0"/>
              </a:rPr>
              <a:t>Model Performance Comparison – KNN vs Naïve Bayes</a:t>
            </a:r>
            <a:endParaRPr lang="en-IN" sz="4100">
              <a:solidFill>
                <a:srgbClr val="FFFFFF"/>
              </a:solidFill>
            </a:endParaRPr>
          </a:p>
        </p:txBody>
      </p:sp>
      <p:sp>
        <p:nvSpPr>
          <p:cNvPr id="52" name="Arc 5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4" name="Content Placeholder 2">
            <a:extLst>
              <a:ext uri="{FF2B5EF4-FFF2-40B4-BE49-F238E27FC236}">
                <a16:creationId xmlns:a16="http://schemas.microsoft.com/office/drawing/2014/main" id="{8C41FBF0-AFBF-C693-03B7-0C57D8A46760}"/>
              </a:ext>
            </a:extLst>
          </p:cNvPr>
          <p:cNvSpPr>
            <a:spLocks noGrp="1"/>
          </p:cNvSpPr>
          <p:nvPr>
            <p:ph idx="1"/>
          </p:nvPr>
        </p:nvSpPr>
        <p:spPr>
          <a:xfrm>
            <a:off x="4167272" y="487018"/>
            <a:ext cx="7466563" cy="5689946"/>
          </a:xfrm>
        </p:spPr>
        <p:txBody>
          <a:bodyPr anchor="ctr">
            <a:normAutofit/>
          </a:bodyPr>
          <a:lstStyle/>
          <a:p>
            <a:r>
              <a:rPr lang="en-US" sz="1400" b="1" dirty="0">
                <a:latin typeface="Times New Roman" panose="02020603050405020304" pitchFamily="18" charset="0"/>
                <a:cs typeface="Times New Roman" panose="02020603050405020304" pitchFamily="18" charset="0"/>
              </a:rPr>
              <a:t>K-Nearest Neighbors (KNN)</a:t>
            </a:r>
            <a:r>
              <a:rPr lang="en-US" sz="1400" dirty="0">
                <a:latin typeface="Times New Roman" panose="02020603050405020304" pitchFamily="18" charset="0"/>
                <a:cs typeface="Times New Roman" panose="02020603050405020304" pitchFamily="18" charset="0"/>
              </a:rPr>
              <a:t> achieved an accuracy of </a:t>
            </a:r>
            <a:r>
              <a:rPr lang="en-US" sz="1400" b="1" dirty="0">
                <a:latin typeface="Times New Roman" panose="02020603050405020304" pitchFamily="18" charset="0"/>
                <a:cs typeface="Times New Roman" panose="02020603050405020304" pitchFamily="18" charset="0"/>
              </a:rPr>
              <a:t>92.5%</a:t>
            </a:r>
            <a:r>
              <a:rPr lang="en-US" sz="1400" dirty="0">
                <a:latin typeface="Times New Roman" panose="02020603050405020304" pitchFamily="18" charset="0"/>
                <a:cs typeface="Times New Roman" panose="02020603050405020304" pitchFamily="18" charset="0"/>
              </a:rPr>
              <a:t>, indicating it classifies CKD and non-CKD patients very effectively.</a:t>
            </a:r>
          </a:p>
          <a:p>
            <a:pPr lvl="1"/>
            <a:r>
              <a:rPr lang="en-US" sz="1400" dirty="0">
                <a:latin typeface="Times New Roman" panose="02020603050405020304" pitchFamily="18" charset="0"/>
                <a:cs typeface="Times New Roman" panose="02020603050405020304" pitchFamily="18" charset="0"/>
              </a:rPr>
              <a:t>KNN performs well because it captures </a:t>
            </a:r>
            <a:r>
              <a:rPr lang="en-US" sz="1400" b="1" dirty="0">
                <a:latin typeface="Times New Roman" panose="02020603050405020304" pitchFamily="18" charset="0"/>
                <a:cs typeface="Times New Roman" panose="02020603050405020304" pitchFamily="18" charset="0"/>
              </a:rPr>
              <a:t>nonlinear patterns</a:t>
            </a:r>
            <a:r>
              <a:rPr lang="en-US" sz="1400" dirty="0">
                <a:latin typeface="Times New Roman" panose="02020603050405020304" pitchFamily="18" charset="0"/>
                <a:cs typeface="Times New Roman" panose="02020603050405020304" pitchFamily="18" charset="0"/>
              </a:rPr>
              <a:t> in the dataset and relies on </a:t>
            </a:r>
            <a:r>
              <a:rPr lang="en-US" sz="1400" b="1" dirty="0">
                <a:latin typeface="Times New Roman" panose="02020603050405020304" pitchFamily="18" charset="0"/>
                <a:cs typeface="Times New Roman" panose="02020603050405020304" pitchFamily="18" charset="0"/>
              </a:rPr>
              <a:t>proximity-based similarity</a:t>
            </a:r>
            <a:r>
              <a:rPr lang="en-US" sz="1400" dirty="0">
                <a:latin typeface="Times New Roman" panose="02020603050405020304" pitchFamily="18" charset="0"/>
                <a:cs typeface="Times New Roman" panose="02020603050405020304" pitchFamily="18" charset="0"/>
              </a:rPr>
              <a:t> between patients’ clinical features.</a:t>
            </a:r>
          </a:p>
          <a:p>
            <a:pPr lvl="1"/>
            <a:r>
              <a:rPr lang="en-US" sz="1400" dirty="0">
                <a:latin typeface="Times New Roman" panose="02020603050405020304" pitchFamily="18" charset="0"/>
                <a:cs typeface="Times New Roman" panose="02020603050405020304" pitchFamily="18" charset="0"/>
              </a:rPr>
              <a:t>This suggests that patients with similar lab values (e.g., serum creatinine, blood pressure) tend to share similar CKD outcomes.</a:t>
            </a:r>
          </a:p>
          <a:p>
            <a:r>
              <a:rPr lang="en-US" sz="1400" b="1" dirty="0">
                <a:latin typeface="Times New Roman" panose="02020603050405020304" pitchFamily="18" charset="0"/>
                <a:cs typeface="Times New Roman" panose="02020603050405020304" pitchFamily="18" charset="0"/>
              </a:rPr>
              <a:t>Naïve Bayes</a:t>
            </a:r>
            <a:r>
              <a:rPr lang="en-US" sz="1400" dirty="0">
                <a:latin typeface="Times New Roman" panose="02020603050405020304" pitchFamily="18" charset="0"/>
                <a:cs typeface="Times New Roman" panose="02020603050405020304" pitchFamily="18" charset="0"/>
              </a:rPr>
              <a:t> achieved an accuracy of </a:t>
            </a:r>
            <a:r>
              <a:rPr lang="en-US" sz="1400" b="1" dirty="0">
                <a:latin typeface="Times New Roman" panose="02020603050405020304" pitchFamily="18" charset="0"/>
                <a:cs typeface="Times New Roman" panose="02020603050405020304" pitchFamily="18" charset="0"/>
              </a:rPr>
              <a:t>86.8%</a:t>
            </a:r>
            <a:r>
              <a:rPr lang="en-US" sz="1400" dirty="0">
                <a:latin typeface="Times New Roman" panose="02020603050405020304" pitchFamily="18" charset="0"/>
                <a:cs typeface="Times New Roman" panose="02020603050405020304" pitchFamily="18" charset="0"/>
              </a:rPr>
              <a:t>, slightly lower but still strong.</a:t>
            </a:r>
          </a:p>
          <a:p>
            <a:pPr lvl="1"/>
            <a:r>
              <a:rPr lang="en-US" sz="1400" dirty="0">
                <a:latin typeface="Times New Roman" panose="02020603050405020304" pitchFamily="18" charset="0"/>
                <a:cs typeface="Times New Roman" panose="02020603050405020304" pitchFamily="18" charset="0"/>
              </a:rPr>
              <a:t>Its performance may be limited by the </a:t>
            </a:r>
            <a:r>
              <a:rPr lang="en-US" sz="1400" b="1" dirty="0">
                <a:latin typeface="Times New Roman" panose="02020603050405020304" pitchFamily="18" charset="0"/>
                <a:cs typeface="Times New Roman" panose="02020603050405020304" pitchFamily="18" charset="0"/>
              </a:rPr>
              <a:t>independence assumption</a:t>
            </a:r>
            <a:r>
              <a:rPr lang="en-US" sz="1400" dirty="0">
                <a:latin typeface="Times New Roman" panose="02020603050405020304" pitchFamily="18" charset="0"/>
                <a:cs typeface="Times New Roman" panose="02020603050405020304" pitchFamily="18" charset="0"/>
              </a:rPr>
              <a:t> between features, which is not always true for medical variables.</a:t>
            </a:r>
          </a:p>
          <a:p>
            <a:pPr marL="0"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Interpretation:</a:t>
            </a:r>
          </a:p>
          <a:p>
            <a:r>
              <a:rPr lang="en-US" sz="1400" dirty="0">
                <a:latin typeface="Times New Roman" panose="02020603050405020304" pitchFamily="18" charset="0"/>
                <a:cs typeface="Times New Roman" panose="02020603050405020304" pitchFamily="18" charset="0"/>
              </a:rPr>
              <a:t>Since KNN has higher accuracy, it classifies the patients better using these two features.</a:t>
            </a:r>
          </a:p>
          <a:p>
            <a:r>
              <a:rPr lang="en-US" sz="1400" dirty="0">
                <a:latin typeface="Times New Roman" panose="02020603050405020304" pitchFamily="18" charset="0"/>
                <a:cs typeface="Times New Roman" panose="02020603050405020304" pitchFamily="18" charset="0"/>
              </a:rPr>
              <a:t>Serum creatinine is a strong predictor of CKD, which fits well with KNN’s neighbor-based learning.</a:t>
            </a:r>
          </a:p>
          <a:p>
            <a:pPr marL="0" indent="0">
              <a:buNone/>
            </a:pPr>
            <a:endParaRPr lang="en-US" sz="1000" dirty="0">
              <a:latin typeface="Times New Roman" panose="02020603050405020304" pitchFamily="18" charset="0"/>
              <a:cs typeface="Times New Roman" panose="02020603050405020304" pitchFamily="18" charset="0"/>
            </a:endParaRPr>
          </a:p>
          <a:p>
            <a:pPr marL="0" indent="0">
              <a:buNone/>
            </a:pPr>
            <a:endParaRPr lang="en-US" sz="1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KNN outperforms Naïve Bayes, making it more suitable for CKD prediction in this dataset where feature interactions are important.</a:t>
            </a:r>
          </a:p>
          <a:p>
            <a:pPr marL="0" indent="0">
              <a:buNone/>
            </a:pPr>
            <a:endParaRPr lang="en-IN" sz="1000" dirty="0"/>
          </a:p>
        </p:txBody>
      </p:sp>
    </p:spTree>
    <p:extLst>
      <p:ext uri="{BB962C8B-B14F-4D97-AF65-F5344CB8AC3E}">
        <p14:creationId xmlns:p14="http://schemas.microsoft.com/office/powerpoint/2010/main" val="598327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4C7D6B-C82E-04AC-6B66-47C6543E5744}"/>
              </a:ext>
            </a:extLst>
          </p:cNvPr>
          <p:cNvSpPr>
            <a:spLocks noGrp="1"/>
          </p:cNvSpPr>
          <p:nvPr>
            <p:ph type="title"/>
          </p:nvPr>
        </p:nvSpPr>
        <p:spPr>
          <a:xfrm>
            <a:off x="1043631" y="809898"/>
            <a:ext cx="10173010" cy="1554480"/>
          </a:xfrm>
        </p:spPr>
        <p:txBody>
          <a:bodyPr anchor="ctr">
            <a:normAutofit/>
          </a:bodyPr>
          <a:lstStyle/>
          <a:p>
            <a:r>
              <a:rPr lang="en-US" sz="4800" b="1">
                <a:latin typeface="Times New Roman" panose="02020603050405020304" pitchFamily="18" charset="0"/>
                <a:cs typeface="Times New Roman" panose="02020603050405020304" pitchFamily="18" charset="0"/>
              </a:rPr>
              <a:t>SVM Model Comparison for CKD Prediction</a:t>
            </a:r>
            <a:endParaRPr lang="en-IN" sz="480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A3D3F7E-13DA-78C4-E6B2-FED65F4F1F92}"/>
              </a:ext>
            </a:extLst>
          </p:cNvPr>
          <p:cNvGraphicFramePr>
            <a:graphicFrameLocks noGrp="1"/>
          </p:cNvGraphicFramePr>
          <p:nvPr>
            <p:ph idx="1"/>
            <p:extLst>
              <p:ext uri="{D42A27DB-BD31-4B8C-83A1-F6EECF244321}">
                <p14:modId xmlns:p14="http://schemas.microsoft.com/office/powerpoint/2010/main" val="2513945137"/>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332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BFDC535F-AC0A-417D-96AB-6706BECACD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000"/>
          </a:xfrm>
          <a:prstGeom prst="rect">
            <a:avLst/>
          </a:prstGeom>
          <a:solidFill>
            <a:srgbClr val="4058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7AAAF8E-31DB-4148-8FCA-4D8233D69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5953" y="484068"/>
            <a:ext cx="6898027" cy="58893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
            <a:extLst>
              <a:ext uri="{FF2B5EF4-FFF2-40B4-BE49-F238E27FC236}">
                <a16:creationId xmlns:a16="http://schemas.microsoft.com/office/drawing/2014/main" id="{9C574ADA-4F4D-90A2-1FBB-334A8758AB0F}"/>
              </a:ext>
            </a:extLst>
          </p:cNvPr>
          <p:cNvPicPr>
            <a:picLocks noChangeAspect="1"/>
          </p:cNvPicPr>
          <p:nvPr/>
        </p:nvPicPr>
        <p:blipFill>
          <a:blip r:embed="rId2"/>
          <a:stretch>
            <a:fillRect/>
          </a:stretch>
        </p:blipFill>
        <p:spPr>
          <a:xfrm>
            <a:off x="495952" y="484068"/>
            <a:ext cx="6898027" cy="5872283"/>
          </a:xfrm>
          <a:prstGeom prst="rect">
            <a:avLst/>
          </a:prstGeom>
        </p:spPr>
      </p:pic>
      <p:sp>
        <p:nvSpPr>
          <p:cNvPr id="30" name="Rectangle 29">
            <a:extLst>
              <a:ext uri="{FF2B5EF4-FFF2-40B4-BE49-F238E27FC236}">
                <a16:creationId xmlns:a16="http://schemas.microsoft.com/office/drawing/2014/main" id="{AA274328-4774-4DF9-BA53-452565122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1393" y="484069"/>
            <a:ext cx="4145975" cy="349989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 program&#10;&#10;AI-generated content may be incorrect.">
            <a:extLst>
              <a:ext uri="{FF2B5EF4-FFF2-40B4-BE49-F238E27FC236}">
                <a16:creationId xmlns:a16="http://schemas.microsoft.com/office/drawing/2014/main" id="{B87FF452-19C0-651D-985A-51F7C1FC5F08}"/>
              </a:ext>
            </a:extLst>
          </p:cNvPr>
          <p:cNvPicPr>
            <a:picLocks noChangeAspect="1"/>
          </p:cNvPicPr>
          <p:nvPr/>
        </p:nvPicPr>
        <p:blipFill>
          <a:blip r:embed="rId3"/>
          <a:stretch>
            <a:fillRect/>
          </a:stretch>
        </p:blipFill>
        <p:spPr>
          <a:xfrm>
            <a:off x="7561391" y="459012"/>
            <a:ext cx="4145976" cy="3535110"/>
          </a:xfrm>
          <a:prstGeom prst="rect">
            <a:avLst/>
          </a:prstGeom>
        </p:spPr>
      </p:pic>
      <p:sp>
        <p:nvSpPr>
          <p:cNvPr id="32" name="Rectangle 31">
            <a:extLst>
              <a:ext uri="{FF2B5EF4-FFF2-40B4-BE49-F238E27FC236}">
                <a16:creationId xmlns:a16="http://schemas.microsoft.com/office/drawing/2014/main" id="{01C7B46D-2FEF-4FAA-915B-8B21A66BB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61393" y="4144834"/>
            <a:ext cx="4145975" cy="2211517"/>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creen shot of a computer program">
            <a:extLst>
              <a:ext uri="{FF2B5EF4-FFF2-40B4-BE49-F238E27FC236}">
                <a16:creationId xmlns:a16="http://schemas.microsoft.com/office/drawing/2014/main" id="{83C4E078-BCE0-E7D4-6BFC-88DFBE5CB4B0}"/>
              </a:ext>
            </a:extLst>
          </p:cNvPr>
          <p:cNvPicPr>
            <a:picLocks noChangeAspect="1"/>
          </p:cNvPicPr>
          <p:nvPr/>
        </p:nvPicPr>
        <p:blipFill>
          <a:blip r:embed="rId4"/>
          <a:stretch>
            <a:fillRect/>
          </a:stretch>
        </p:blipFill>
        <p:spPr>
          <a:xfrm>
            <a:off x="7561392" y="4134679"/>
            <a:ext cx="4145975" cy="2231713"/>
          </a:xfrm>
          <a:prstGeom prst="rect">
            <a:avLst/>
          </a:prstGeom>
        </p:spPr>
      </p:pic>
    </p:spTree>
    <p:extLst>
      <p:ext uri="{BB962C8B-B14F-4D97-AF65-F5344CB8AC3E}">
        <p14:creationId xmlns:p14="http://schemas.microsoft.com/office/powerpoint/2010/main" val="1644320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649C91A9-84E7-4BF0-9026-62F01380D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E3610243-D615-F122-FF45-EAC3F3F2E626}"/>
              </a:ext>
            </a:extLst>
          </p:cNvPr>
          <p:cNvSpPr>
            <a:spLocks noGrp="1"/>
          </p:cNvSpPr>
          <p:nvPr>
            <p:ph type="title"/>
          </p:nvPr>
        </p:nvSpPr>
        <p:spPr>
          <a:xfrm>
            <a:off x="173835" y="144080"/>
            <a:ext cx="5332662" cy="1604333"/>
          </a:xfrm>
        </p:spPr>
        <p:txBody>
          <a:bodyPr anchor="ctr">
            <a:normAutofit/>
          </a:bodyPr>
          <a:lstStyle/>
          <a:p>
            <a:r>
              <a:rPr lang="en-IN" b="1" dirty="0">
                <a:latin typeface="Times New Roman" panose="02020603050405020304" pitchFamily="18" charset="0"/>
                <a:cs typeface="Times New Roman" panose="02020603050405020304" pitchFamily="18" charset="0"/>
              </a:rPr>
              <a:t>Linear Kernel SVM Model</a:t>
            </a:r>
          </a:p>
        </p:txBody>
      </p:sp>
      <p:sp>
        <p:nvSpPr>
          <p:cNvPr id="3" name="Content Placeholder 2">
            <a:extLst>
              <a:ext uri="{FF2B5EF4-FFF2-40B4-BE49-F238E27FC236}">
                <a16:creationId xmlns:a16="http://schemas.microsoft.com/office/drawing/2014/main" id="{40F1BD2A-B5CB-935C-E00E-0DB4E191AF97}"/>
              </a:ext>
            </a:extLst>
          </p:cNvPr>
          <p:cNvSpPr>
            <a:spLocks noGrp="1"/>
          </p:cNvSpPr>
          <p:nvPr>
            <p:ph idx="1"/>
          </p:nvPr>
        </p:nvSpPr>
        <p:spPr>
          <a:xfrm>
            <a:off x="173835" y="1668025"/>
            <a:ext cx="5062532" cy="5008061"/>
          </a:xfrm>
        </p:spPr>
        <p:txBody>
          <a:bodyPr anchor="ctr">
            <a:norm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SVM Linear Kernel Decision Boundary</a:t>
            </a:r>
            <a:r>
              <a:rPr lang="en-US" sz="1800" dirty="0">
                <a:latin typeface="Times New Roman" panose="02020603050405020304" pitchFamily="18" charset="0"/>
                <a:cs typeface="Times New Roman" panose="02020603050405020304" pitchFamily="18" charset="0"/>
              </a:rPr>
              <a:t> shows how the model separates Chronic Kidney Disease (CKD) and non-CKD patients based on </a:t>
            </a:r>
            <a:r>
              <a:rPr lang="en-US" sz="1800" b="1" dirty="0">
                <a:latin typeface="Times New Roman" panose="02020603050405020304" pitchFamily="18" charset="0"/>
                <a:cs typeface="Times New Roman" panose="02020603050405020304" pitchFamily="18" charset="0"/>
              </a:rPr>
              <a:t>blood pressure (bp)</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serum creatinine (</a:t>
            </a:r>
            <a:r>
              <a:rPr lang="en-US" sz="1800" b="1" dirty="0" err="1">
                <a:latin typeface="Times New Roman" panose="02020603050405020304" pitchFamily="18" charset="0"/>
                <a:cs typeface="Times New Roman" panose="02020603050405020304" pitchFamily="18" charset="0"/>
              </a:rPr>
              <a:t>sc</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a:t>
            </a:r>
          </a:p>
          <a:p>
            <a:r>
              <a:rPr lang="en-US" sz="1800" dirty="0">
                <a:latin typeface="Times New Roman" panose="02020603050405020304" pitchFamily="18" charset="0"/>
                <a:cs typeface="Times New Roman" panose="02020603050405020304" pitchFamily="18" charset="0"/>
              </a:rPr>
              <a:t>The model achieved an </a:t>
            </a:r>
            <a:r>
              <a:rPr lang="en-US" sz="1800" b="1" dirty="0">
                <a:latin typeface="Times New Roman" panose="02020603050405020304" pitchFamily="18" charset="0"/>
                <a:cs typeface="Times New Roman" panose="02020603050405020304" pitchFamily="18" charset="0"/>
              </a:rPr>
              <a:t>accuracy of 79.7%</a:t>
            </a:r>
            <a:r>
              <a:rPr lang="en-US" sz="1800" dirty="0">
                <a:latin typeface="Times New Roman" panose="02020603050405020304" pitchFamily="18" charset="0"/>
                <a:cs typeface="Times New Roman" panose="02020603050405020304" pitchFamily="18" charset="0"/>
              </a:rPr>
              <a:t>, indicating that these two features provide a reasonably strong linear separation between CKD and non-CKD groups.</a:t>
            </a:r>
          </a:p>
          <a:p>
            <a:r>
              <a:rPr lang="en-US" sz="1800" dirty="0">
                <a:latin typeface="Times New Roman" panose="02020603050405020304" pitchFamily="18" charset="0"/>
                <a:cs typeface="Times New Roman" panose="02020603050405020304" pitchFamily="18" charset="0"/>
              </a:rPr>
              <a:t>The decision boundary (green line) divides the space into two zones: one primarily for CKD cases and the other for non-CKD.</a:t>
            </a:r>
          </a:p>
          <a:p>
            <a:r>
              <a:rPr lang="en-US" sz="1800" dirty="0">
                <a:latin typeface="Times New Roman" panose="02020603050405020304" pitchFamily="18" charset="0"/>
                <a:cs typeface="Times New Roman" panose="02020603050405020304" pitchFamily="18" charset="0"/>
              </a:rPr>
              <a:t>Most data points are correctly classified, though a few overlap near the boundary — reflecting some patients with borderline or overlapping lab values.</a:t>
            </a:r>
          </a:p>
          <a:p>
            <a:r>
              <a:rPr lang="en-US" sz="1800" dirty="0">
                <a:latin typeface="Times New Roman" panose="02020603050405020304" pitchFamily="18" charset="0"/>
                <a:cs typeface="Times New Roman" panose="02020603050405020304" pitchFamily="18" charset="0"/>
              </a:rPr>
              <a:t>Overall, the </a:t>
            </a:r>
            <a:r>
              <a:rPr lang="en-US" sz="1800" b="1" dirty="0">
                <a:latin typeface="Times New Roman" panose="02020603050405020304" pitchFamily="18" charset="0"/>
                <a:cs typeface="Times New Roman" panose="02020603050405020304" pitchFamily="18" charset="0"/>
              </a:rPr>
              <a:t>linear SVM</a:t>
            </a:r>
            <a:r>
              <a:rPr lang="en-US" sz="1800" dirty="0">
                <a:latin typeface="Times New Roman" panose="02020603050405020304" pitchFamily="18" charset="0"/>
                <a:cs typeface="Times New Roman" panose="02020603050405020304" pitchFamily="18" charset="0"/>
              </a:rPr>
              <a:t> performs well, suggesting that </a:t>
            </a:r>
            <a:r>
              <a:rPr lang="en-US" sz="1800" b="1" dirty="0">
                <a:latin typeface="Times New Roman" panose="02020603050405020304" pitchFamily="18" charset="0"/>
                <a:cs typeface="Times New Roman" panose="02020603050405020304" pitchFamily="18" charset="0"/>
              </a:rPr>
              <a:t>CKD risk increases linearly</a:t>
            </a:r>
            <a:r>
              <a:rPr lang="en-US" sz="1800" dirty="0">
                <a:latin typeface="Times New Roman" panose="02020603050405020304" pitchFamily="18" charset="0"/>
                <a:cs typeface="Times New Roman" panose="02020603050405020304" pitchFamily="18" charset="0"/>
              </a:rPr>
              <a:t> with rising serum creatinine and blood pressure levels.</a:t>
            </a:r>
          </a:p>
        </p:txBody>
      </p:sp>
      <p:sp>
        <p:nvSpPr>
          <p:cNvPr id="15" name="Rectangle 14">
            <a:extLst>
              <a:ext uri="{FF2B5EF4-FFF2-40B4-BE49-F238E27FC236}">
                <a16:creationId xmlns:a16="http://schemas.microsoft.com/office/drawing/2014/main" id="{9B47378D-AD27-45D0-8C1C-5B1098DCC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799" cy="6858000"/>
          </a:xfrm>
          <a:prstGeom prst="rect">
            <a:avLst/>
          </a:prstGeom>
          <a:solidFill>
            <a:srgbClr val="FFFFFF"/>
          </a:solidFill>
          <a:ln>
            <a:noFill/>
          </a:ln>
          <a:effectLst>
            <a:outerShdw blurRad="177800" dist="215900" dir="8520000" sx="94000" sy="94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 shot of a computer">
            <a:extLst>
              <a:ext uri="{FF2B5EF4-FFF2-40B4-BE49-F238E27FC236}">
                <a16:creationId xmlns:a16="http://schemas.microsoft.com/office/drawing/2014/main" id="{2694617E-7C75-8E39-100E-9705B7BAED89}"/>
              </a:ext>
            </a:extLst>
          </p:cNvPr>
          <p:cNvPicPr>
            <a:picLocks noChangeAspect="1"/>
          </p:cNvPicPr>
          <p:nvPr/>
        </p:nvPicPr>
        <p:blipFill>
          <a:blip r:embed="rId2"/>
          <a:stretch>
            <a:fillRect/>
          </a:stretch>
        </p:blipFill>
        <p:spPr>
          <a:xfrm>
            <a:off x="5603967" y="181913"/>
            <a:ext cx="6414198" cy="6494174"/>
          </a:xfrm>
          <a:prstGeom prst="rect">
            <a:avLst/>
          </a:prstGeom>
        </p:spPr>
      </p:pic>
    </p:spTree>
    <p:extLst>
      <p:ext uri="{BB962C8B-B14F-4D97-AF65-F5344CB8AC3E}">
        <p14:creationId xmlns:p14="http://schemas.microsoft.com/office/powerpoint/2010/main" val="2744972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9E9E-7497-AD5D-B146-065567464A49}"/>
              </a:ext>
            </a:extLst>
          </p:cNvPr>
          <p:cNvSpPr>
            <a:spLocks noGrp="1"/>
          </p:cNvSpPr>
          <p:nvPr>
            <p:ph type="title"/>
          </p:nvPr>
        </p:nvSpPr>
        <p:spPr>
          <a:xfrm>
            <a:off x="285540" y="365125"/>
            <a:ext cx="5505660" cy="1325563"/>
          </a:xfrm>
        </p:spPr>
        <p:txBody>
          <a:bodyPr>
            <a:normAutofit/>
          </a:bodyPr>
          <a:lstStyle/>
          <a:p>
            <a:r>
              <a:rPr lang="en-IN" sz="3600" dirty="0">
                <a:latin typeface="Times New Roman" panose="02020603050405020304" pitchFamily="18" charset="0"/>
                <a:cs typeface="Times New Roman" panose="02020603050405020304" pitchFamily="18" charset="0"/>
              </a:rPr>
              <a:t>Polynomial SVM (Accuracy = 70.9%)</a:t>
            </a:r>
          </a:p>
        </p:txBody>
      </p:sp>
      <p:sp>
        <p:nvSpPr>
          <p:cNvPr id="3" name="Content Placeholder 2">
            <a:extLst>
              <a:ext uri="{FF2B5EF4-FFF2-40B4-BE49-F238E27FC236}">
                <a16:creationId xmlns:a16="http://schemas.microsoft.com/office/drawing/2014/main" id="{55FB0B44-7DDB-D137-0EE8-13ED134C0D7F}"/>
              </a:ext>
            </a:extLst>
          </p:cNvPr>
          <p:cNvSpPr>
            <a:spLocks noGrp="1"/>
          </p:cNvSpPr>
          <p:nvPr>
            <p:ph idx="1"/>
          </p:nvPr>
        </p:nvSpPr>
        <p:spPr>
          <a:xfrm>
            <a:off x="285540" y="1690687"/>
            <a:ext cx="5505660" cy="4802187"/>
          </a:xfrm>
        </p:spPr>
        <p:txBody>
          <a:bodyPr>
            <a:noAutofit/>
          </a:bodyPr>
          <a:lstStyle/>
          <a:p>
            <a:r>
              <a:rPr lang="en-US" sz="1800" dirty="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polynomial kernel</a:t>
            </a:r>
            <a:r>
              <a:rPr lang="en-US" sz="1800" dirty="0">
                <a:latin typeface="Times New Roman" panose="02020603050405020304" pitchFamily="18" charset="0"/>
                <a:cs typeface="Times New Roman" panose="02020603050405020304" pitchFamily="18" charset="0"/>
              </a:rPr>
              <a:t> attempts to model nonlinear relationships between </a:t>
            </a:r>
            <a:r>
              <a:rPr lang="en-US" sz="1800" b="1" dirty="0">
                <a:latin typeface="Times New Roman" panose="02020603050405020304" pitchFamily="18" charset="0"/>
                <a:cs typeface="Times New Roman" panose="02020603050405020304" pitchFamily="18" charset="0"/>
              </a:rPr>
              <a:t>blood pressure (bp)</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serum creatinine (</a:t>
            </a:r>
            <a:r>
              <a:rPr lang="en-US" sz="1800" b="1" dirty="0" err="1">
                <a:latin typeface="Times New Roman" panose="02020603050405020304" pitchFamily="18" charset="0"/>
                <a:cs typeface="Times New Roman" panose="02020603050405020304" pitchFamily="18" charset="0"/>
              </a:rPr>
              <a:t>sc</a:t>
            </a:r>
            <a:r>
              <a:rPr lang="en-US" sz="1800" b="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for CKD classification.</a:t>
            </a:r>
          </a:p>
          <a:p>
            <a:r>
              <a:rPr lang="en-US" sz="1800" dirty="0">
                <a:latin typeface="Times New Roman" panose="02020603050405020304" pitchFamily="18" charset="0"/>
                <a:cs typeface="Times New Roman" panose="02020603050405020304" pitchFamily="18" charset="0"/>
              </a:rPr>
              <a:t>With an accuracy of </a:t>
            </a:r>
            <a:r>
              <a:rPr lang="en-US" sz="1800" b="1" dirty="0">
                <a:latin typeface="Times New Roman" panose="02020603050405020304" pitchFamily="18" charset="0"/>
                <a:cs typeface="Times New Roman" panose="02020603050405020304" pitchFamily="18" charset="0"/>
              </a:rPr>
              <a:t>70.9%</a:t>
            </a:r>
            <a:r>
              <a:rPr lang="en-US" sz="1800" dirty="0">
                <a:latin typeface="Times New Roman" panose="02020603050405020304" pitchFamily="18" charset="0"/>
                <a:cs typeface="Times New Roman" panose="02020603050405020304" pitchFamily="18" charset="0"/>
              </a:rPr>
              <a:t>, it performs moderately but less effectively than the linear model, indicating limited nonlinear separability in this dataset.</a:t>
            </a:r>
          </a:p>
          <a:p>
            <a:r>
              <a:rPr lang="en-US" sz="1800" dirty="0">
                <a:latin typeface="Times New Roman" panose="02020603050405020304" pitchFamily="18" charset="0"/>
                <a:cs typeface="Times New Roman" panose="02020603050405020304" pitchFamily="18" charset="0"/>
              </a:rPr>
              <a:t>The curved </a:t>
            </a:r>
            <a:r>
              <a:rPr lang="en-US" sz="1800" b="1" dirty="0">
                <a:latin typeface="Times New Roman" panose="02020603050405020304" pitchFamily="18" charset="0"/>
                <a:cs typeface="Times New Roman" panose="02020603050405020304" pitchFamily="18" charset="0"/>
              </a:rPr>
              <a:t>decision boundary</a:t>
            </a:r>
            <a:r>
              <a:rPr lang="en-US" sz="1800" dirty="0">
                <a:latin typeface="Times New Roman" panose="02020603050405020304" pitchFamily="18" charset="0"/>
                <a:cs typeface="Times New Roman" panose="02020603050405020304" pitchFamily="18" charset="0"/>
              </a:rPr>
              <a:t> captures slight complexity, yet overlaps remain between CKD and non-CKD regions, suggesting the polynomial model may </a:t>
            </a:r>
            <a:r>
              <a:rPr lang="en-US" sz="1800" b="1" dirty="0">
                <a:latin typeface="Times New Roman" panose="02020603050405020304" pitchFamily="18" charset="0"/>
                <a:cs typeface="Times New Roman" panose="02020603050405020304" pitchFamily="18" charset="0"/>
              </a:rPr>
              <a:t>overfit or misclassify</a:t>
            </a:r>
            <a:r>
              <a:rPr lang="en-US" sz="1800" dirty="0">
                <a:latin typeface="Times New Roman" panose="02020603050405020304" pitchFamily="18" charset="0"/>
                <a:cs typeface="Times New Roman" panose="02020603050405020304" pitchFamily="18" charset="0"/>
              </a:rPr>
              <a:t> cases near the boundary.</a:t>
            </a:r>
          </a:p>
          <a:p>
            <a:r>
              <a:rPr lang="en-US" sz="1800" dirty="0">
                <a:latin typeface="Times New Roman" panose="02020603050405020304" pitchFamily="18" charset="0"/>
                <a:cs typeface="Times New Roman" panose="02020603050405020304" pitchFamily="18" charset="0"/>
              </a:rPr>
              <a:t>Overall, the </a:t>
            </a:r>
            <a:r>
              <a:rPr lang="en-US" sz="1800" b="1" dirty="0">
                <a:latin typeface="Times New Roman" panose="02020603050405020304" pitchFamily="18" charset="0"/>
                <a:cs typeface="Times New Roman" panose="02020603050405020304" pitchFamily="18" charset="0"/>
              </a:rPr>
              <a:t>polynomial SVM</a:t>
            </a:r>
            <a:r>
              <a:rPr lang="en-US" sz="1800" dirty="0">
                <a:latin typeface="Times New Roman" panose="02020603050405020304" pitchFamily="18" charset="0"/>
                <a:cs typeface="Times New Roman" panose="02020603050405020304" pitchFamily="18" charset="0"/>
              </a:rPr>
              <a:t> provides a fair fit but doesn’t outperform the linear kernel for CKD prediction.</a:t>
            </a:r>
          </a:p>
        </p:txBody>
      </p:sp>
      <p:pic>
        <p:nvPicPr>
          <p:cNvPr id="5" name="Picture 4" descr="A screenshot of a computer screen">
            <a:extLst>
              <a:ext uri="{FF2B5EF4-FFF2-40B4-BE49-F238E27FC236}">
                <a16:creationId xmlns:a16="http://schemas.microsoft.com/office/drawing/2014/main" id="{42DFC790-2652-998A-B190-B5ACE782AD88}"/>
              </a:ext>
            </a:extLst>
          </p:cNvPr>
          <p:cNvPicPr>
            <a:picLocks noChangeAspect="1"/>
          </p:cNvPicPr>
          <p:nvPr/>
        </p:nvPicPr>
        <p:blipFill>
          <a:blip r:embed="rId2"/>
          <a:stretch>
            <a:fillRect/>
          </a:stretch>
        </p:blipFill>
        <p:spPr>
          <a:xfrm>
            <a:off x="6096000" y="134947"/>
            <a:ext cx="5894158" cy="6588105"/>
          </a:xfrm>
          <a:prstGeom prst="rect">
            <a:avLst/>
          </a:prstGeom>
        </p:spPr>
      </p:pic>
    </p:spTree>
    <p:extLst>
      <p:ext uri="{BB962C8B-B14F-4D97-AF65-F5344CB8AC3E}">
        <p14:creationId xmlns:p14="http://schemas.microsoft.com/office/powerpoint/2010/main" val="1325876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2522E-3AE7-6E72-DA3D-311833C4E53D}"/>
              </a:ext>
            </a:extLst>
          </p:cNvPr>
          <p:cNvSpPr>
            <a:spLocks noGrp="1"/>
          </p:cNvSpPr>
          <p:nvPr>
            <p:ph type="title"/>
          </p:nvPr>
        </p:nvSpPr>
        <p:spPr>
          <a:xfrm>
            <a:off x="400554" y="557748"/>
            <a:ext cx="5408100" cy="1325563"/>
          </a:xfrm>
        </p:spPr>
        <p:txBody>
          <a:bodyPr>
            <a:normAutofit/>
          </a:bodyPr>
          <a:lstStyle/>
          <a:p>
            <a:r>
              <a:rPr lang="en-IN" dirty="0">
                <a:latin typeface="Times New Roman" panose="02020603050405020304" pitchFamily="18" charset="0"/>
                <a:cs typeface="Times New Roman" panose="02020603050405020304" pitchFamily="18" charset="0"/>
              </a:rPr>
              <a:t>RBF SVM (Accuracy = 75.9%)</a:t>
            </a:r>
          </a:p>
        </p:txBody>
      </p:sp>
      <p:sp>
        <p:nvSpPr>
          <p:cNvPr id="4" name="Rectangle 1">
            <a:extLst>
              <a:ext uri="{FF2B5EF4-FFF2-40B4-BE49-F238E27FC236}">
                <a16:creationId xmlns:a16="http://schemas.microsoft.com/office/drawing/2014/main" id="{A47CE303-2DAF-15A2-82E4-1C75502E6C49}"/>
              </a:ext>
            </a:extLst>
          </p:cNvPr>
          <p:cNvSpPr>
            <a:spLocks noGrp="1" noChangeArrowheads="1"/>
          </p:cNvSpPr>
          <p:nvPr>
            <p:ph idx="1"/>
          </p:nvPr>
        </p:nvSpPr>
        <p:spPr bwMode="auto">
          <a:xfrm>
            <a:off x="400554" y="2084208"/>
            <a:ext cx="54081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RBF (Radial Basis Function)</a:t>
            </a:r>
            <a:r>
              <a:rPr lang="en-US" altLang="en-US" sz="2000" dirty="0">
                <a:latin typeface="Times New Roman" panose="02020603050405020304" pitchFamily="18" charset="0"/>
                <a:cs typeface="Times New Roman" panose="02020603050405020304" pitchFamily="18" charset="0"/>
              </a:rPr>
              <a:t> kernel captures nonlinear relationships between </a:t>
            </a:r>
            <a:r>
              <a:rPr lang="en-US" altLang="en-US" sz="2000" b="1" dirty="0">
                <a:latin typeface="Times New Roman" panose="02020603050405020304" pitchFamily="18" charset="0"/>
                <a:cs typeface="Times New Roman" panose="02020603050405020304" pitchFamily="18" charset="0"/>
              </a:rPr>
              <a:t>blood pressure (bp)</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serum creatinine (</a:t>
            </a:r>
            <a:r>
              <a:rPr lang="en-US" altLang="en-US" sz="2000" b="1" dirty="0" err="1">
                <a:latin typeface="Times New Roman" panose="02020603050405020304" pitchFamily="18" charset="0"/>
                <a:cs typeface="Times New Roman" panose="02020603050405020304" pitchFamily="18" charset="0"/>
              </a:rPr>
              <a:t>sc</a:t>
            </a:r>
            <a:r>
              <a:rPr lang="en-US" altLang="en-US" sz="2000" b="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in predicting CKD.</a:t>
            </a: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With an accuracy of </a:t>
            </a:r>
            <a:r>
              <a:rPr lang="en-US" altLang="en-US" sz="2000" b="1" dirty="0">
                <a:latin typeface="Times New Roman" panose="02020603050405020304" pitchFamily="18" charset="0"/>
                <a:cs typeface="Times New Roman" panose="02020603050405020304" pitchFamily="18" charset="0"/>
              </a:rPr>
              <a:t>75.9%</a:t>
            </a:r>
            <a:r>
              <a:rPr lang="en-US" altLang="en-US" sz="2000" dirty="0">
                <a:latin typeface="Times New Roman" panose="02020603050405020304" pitchFamily="18" charset="0"/>
                <a:cs typeface="Times New Roman" panose="02020603050405020304" pitchFamily="18" charset="0"/>
              </a:rPr>
              <a:t>, the RBF model performs better than the polynomial and sigmoid kernels, showing improved boundary flexibility.</a:t>
            </a: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The curved </a:t>
            </a:r>
            <a:r>
              <a:rPr lang="en-US" altLang="en-US" sz="2000" b="1" dirty="0">
                <a:latin typeface="Times New Roman" panose="02020603050405020304" pitchFamily="18" charset="0"/>
                <a:cs typeface="Times New Roman" panose="02020603050405020304" pitchFamily="18" charset="0"/>
              </a:rPr>
              <a:t>decision boundary</a:t>
            </a:r>
            <a:r>
              <a:rPr lang="en-US" altLang="en-US" sz="2000" dirty="0">
                <a:latin typeface="Times New Roman" panose="02020603050405020304" pitchFamily="18" charset="0"/>
                <a:cs typeface="Times New Roman" panose="02020603050405020304" pitchFamily="18" charset="0"/>
              </a:rPr>
              <a:t> adapts to complex data patterns, classifying most CKD and non-CKD cases correctly but with some overlap.</a:t>
            </a: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Overall, the </a:t>
            </a:r>
            <a:r>
              <a:rPr lang="en-US" altLang="en-US" sz="2000" b="1" dirty="0">
                <a:latin typeface="Times New Roman" panose="02020603050405020304" pitchFamily="18" charset="0"/>
                <a:cs typeface="Times New Roman" panose="02020603050405020304" pitchFamily="18" charset="0"/>
              </a:rPr>
              <a:t>RBF kernel</a:t>
            </a:r>
            <a:r>
              <a:rPr lang="en-US" altLang="en-US" sz="2000" dirty="0">
                <a:latin typeface="Times New Roman" panose="02020603050405020304" pitchFamily="18" charset="0"/>
                <a:cs typeface="Times New Roman" panose="02020603050405020304" pitchFamily="18" charset="0"/>
              </a:rPr>
              <a:t> effectively models moderate nonlinear relationships and provides a balanced accuracy for CKD prediction.</a:t>
            </a:r>
          </a:p>
        </p:txBody>
      </p:sp>
      <p:pic>
        <p:nvPicPr>
          <p:cNvPr id="6" name="Picture 5" descr="A screen shot of a computer screen&#10;&#10;AI-generated content may be incorrect.">
            <a:extLst>
              <a:ext uri="{FF2B5EF4-FFF2-40B4-BE49-F238E27FC236}">
                <a16:creationId xmlns:a16="http://schemas.microsoft.com/office/drawing/2014/main" id="{1F628D83-90EC-B888-1B91-AFDAEB21BB5D}"/>
              </a:ext>
            </a:extLst>
          </p:cNvPr>
          <p:cNvPicPr>
            <a:picLocks noChangeAspect="1"/>
          </p:cNvPicPr>
          <p:nvPr/>
        </p:nvPicPr>
        <p:blipFill>
          <a:blip r:embed="rId2"/>
          <a:stretch>
            <a:fillRect/>
          </a:stretch>
        </p:blipFill>
        <p:spPr>
          <a:xfrm>
            <a:off x="5981700" y="135082"/>
            <a:ext cx="6052279" cy="6587836"/>
          </a:xfrm>
          <a:prstGeom prst="rect">
            <a:avLst/>
          </a:prstGeom>
        </p:spPr>
      </p:pic>
    </p:spTree>
    <p:extLst>
      <p:ext uri="{BB962C8B-B14F-4D97-AF65-F5344CB8AC3E}">
        <p14:creationId xmlns:p14="http://schemas.microsoft.com/office/powerpoint/2010/main" val="376754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DBB21-9045-249A-0434-88A7063EFCBF}"/>
              </a:ext>
            </a:extLst>
          </p:cNvPr>
          <p:cNvSpPr>
            <a:spLocks noGrp="1"/>
          </p:cNvSpPr>
          <p:nvPr>
            <p:ph type="title"/>
          </p:nvPr>
        </p:nvSpPr>
        <p:spPr>
          <a:xfrm>
            <a:off x="331168" y="811934"/>
            <a:ext cx="5507181" cy="1325563"/>
          </a:xfrm>
        </p:spPr>
        <p:txBody>
          <a:bodyPr/>
          <a:lstStyle/>
          <a:p>
            <a:r>
              <a:rPr lang="en-IN" dirty="0">
                <a:latin typeface="Times New Roman" panose="02020603050405020304" pitchFamily="18" charset="0"/>
                <a:cs typeface="Times New Roman" panose="02020603050405020304" pitchFamily="18" charset="0"/>
              </a:rPr>
              <a:t>Sigmoid SVM (Accuracy = 54.4%)</a:t>
            </a:r>
          </a:p>
        </p:txBody>
      </p:sp>
      <p:sp>
        <p:nvSpPr>
          <p:cNvPr id="5" name="Rectangle 2">
            <a:extLst>
              <a:ext uri="{FF2B5EF4-FFF2-40B4-BE49-F238E27FC236}">
                <a16:creationId xmlns:a16="http://schemas.microsoft.com/office/drawing/2014/main" id="{DD38F9BE-93EC-A752-EC89-BFE595F4B616}"/>
              </a:ext>
            </a:extLst>
          </p:cNvPr>
          <p:cNvSpPr>
            <a:spLocks noGrp="1" noChangeArrowheads="1"/>
          </p:cNvSpPr>
          <p:nvPr>
            <p:ph idx="1"/>
          </p:nvPr>
        </p:nvSpPr>
        <p:spPr bwMode="auto">
          <a:xfrm>
            <a:off x="209157" y="2338247"/>
            <a:ext cx="562919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The </a:t>
            </a:r>
            <a:r>
              <a:rPr lang="en-US" altLang="en-US" sz="1800" b="1" dirty="0">
                <a:latin typeface="Arial" panose="020B0604020202020204" pitchFamily="34" charset="0"/>
              </a:rPr>
              <a:t>Sigmoid kernel</a:t>
            </a:r>
            <a:r>
              <a:rPr lang="en-US" altLang="en-US" sz="1800" dirty="0">
                <a:latin typeface="Arial" panose="020B0604020202020204" pitchFamily="34" charset="0"/>
              </a:rPr>
              <a:t> models a nonlinear, S-shaped relationship between </a:t>
            </a:r>
            <a:r>
              <a:rPr lang="en-US" altLang="en-US" sz="1800" b="1" dirty="0">
                <a:latin typeface="Arial" panose="020B0604020202020204" pitchFamily="34" charset="0"/>
              </a:rPr>
              <a:t>blood pressure (bp)</a:t>
            </a:r>
            <a:r>
              <a:rPr lang="en-US" altLang="en-US" sz="1800" dirty="0">
                <a:latin typeface="Arial" panose="020B0604020202020204" pitchFamily="34" charset="0"/>
              </a:rPr>
              <a:t> and </a:t>
            </a:r>
            <a:r>
              <a:rPr lang="en-US" altLang="en-US" sz="1800" b="1" dirty="0">
                <a:latin typeface="Arial" panose="020B0604020202020204" pitchFamily="34" charset="0"/>
              </a:rPr>
              <a:t>serum creatinine (</a:t>
            </a:r>
            <a:r>
              <a:rPr lang="en-US" altLang="en-US" sz="1800" b="1" dirty="0" err="1">
                <a:latin typeface="Arial" panose="020B0604020202020204" pitchFamily="34" charset="0"/>
              </a:rPr>
              <a:t>sc</a:t>
            </a:r>
            <a:r>
              <a:rPr lang="en-US" altLang="en-US" sz="1800" b="1" dirty="0">
                <a:latin typeface="Arial" panose="020B0604020202020204" pitchFamily="34" charset="0"/>
              </a:rPr>
              <a:t>)</a:t>
            </a:r>
            <a:r>
              <a:rPr lang="en-US" altLang="en-US" sz="1800" dirty="0">
                <a:latin typeface="Arial" panose="020B0604020202020204" pitchFamily="34" charset="0"/>
              </a:rPr>
              <a:t> for CKD prediction.</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With an accuracy of </a:t>
            </a:r>
            <a:r>
              <a:rPr lang="en-US" altLang="en-US" sz="1800" b="1" dirty="0">
                <a:latin typeface="Arial" panose="020B0604020202020204" pitchFamily="34" charset="0"/>
              </a:rPr>
              <a:t>54.4%</a:t>
            </a:r>
            <a:r>
              <a:rPr lang="en-US" altLang="en-US" sz="1800" dirty="0">
                <a:latin typeface="Arial" panose="020B0604020202020204" pitchFamily="34" charset="0"/>
              </a:rPr>
              <a:t>, it performs </a:t>
            </a:r>
            <a:r>
              <a:rPr lang="en-US" altLang="en-US" sz="1800" b="1" dirty="0">
                <a:latin typeface="Arial" panose="020B0604020202020204" pitchFamily="34" charset="0"/>
              </a:rPr>
              <a:t>significantly lower</a:t>
            </a:r>
            <a:r>
              <a:rPr lang="en-US" altLang="en-US" sz="1800" dirty="0">
                <a:latin typeface="Arial" panose="020B0604020202020204" pitchFamily="34" charset="0"/>
              </a:rPr>
              <a:t> than the linear, polynomial, and RBF kernels, suggesting it fails to capture the dataset’s structure effectively.</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The </a:t>
            </a:r>
            <a:r>
              <a:rPr lang="en-US" altLang="en-US" sz="1800" b="1" dirty="0">
                <a:latin typeface="Arial" panose="020B0604020202020204" pitchFamily="34" charset="0"/>
              </a:rPr>
              <a:t>decision boundary</a:t>
            </a:r>
            <a:r>
              <a:rPr lang="en-US" altLang="en-US" sz="1800" dirty="0">
                <a:latin typeface="Arial" panose="020B0604020202020204" pitchFamily="34" charset="0"/>
              </a:rPr>
              <a:t> is irregular and less defined, causing several misclassifications across CKD and non-CKD regions.</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Overall, the </a:t>
            </a:r>
            <a:r>
              <a:rPr lang="en-US" altLang="en-US" sz="1800" b="1" dirty="0">
                <a:latin typeface="Arial" panose="020B0604020202020204" pitchFamily="34" charset="0"/>
              </a:rPr>
              <a:t>Sigmoid kernel</a:t>
            </a:r>
            <a:r>
              <a:rPr lang="en-US" altLang="en-US" sz="1800" dirty="0">
                <a:latin typeface="Arial" panose="020B0604020202020204" pitchFamily="34" charset="0"/>
              </a:rPr>
              <a:t> is </a:t>
            </a:r>
            <a:r>
              <a:rPr lang="en-US" altLang="en-US" sz="1800" b="1" dirty="0">
                <a:latin typeface="Arial" panose="020B0604020202020204" pitchFamily="34" charset="0"/>
              </a:rPr>
              <a:t>not well-suited</a:t>
            </a:r>
            <a:r>
              <a:rPr lang="en-US" altLang="en-US" sz="1800" dirty="0">
                <a:latin typeface="Arial" panose="020B0604020202020204" pitchFamily="34" charset="0"/>
              </a:rPr>
              <a:t> for this dataset and demonstrates weak predictive power for CKD classification.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Picture 8" descr="A screenshot of a computer screen&#10;&#10;AI-generated content may be incorrect.">
            <a:extLst>
              <a:ext uri="{FF2B5EF4-FFF2-40B4-BE49-F238E27FC236}">
                <a16:creationId xmlns:a16="http://schemas.microsoft.com/office/drawing/2014/main" id="{83EF1D62-F91A-A0CD-588C-6BF1B77DAC26}"/>
              </a:ext>
            </a:extLst>
          </p:cNvPr>
          <p:cNvPicPr>
            <a:picLocks noChangeAspect="1"/>
          </p:cNvPicPr>
          <p:nvPr/>
        </p:nvPicPr>
        <p:blipFill>
          <a:blip r:embed="rId2"/>
          <a:stretch>
            <a:fillRect/>
          </a:stretch>
        </p:blipFill>
        <p:spPr>
          <a:xfrm>
            <a:off x="5899355" y="112956"/>
            <a:ext cx="6106377" cy="6599571"/>
          </a:xfrm>
          <a:prstGeom prst="rect">
            <a:avLst/>
          </a:prstGeom>
        </p:spPr>
      </p:pic>
    </p:spTree>
    <p:extLst>
      <p:ext uri="{BB962C8B-B14F-4D97-AF65-F5344CB8AC3E}">
        <p14:creationId xmlns:p14="http://schemas.microsoft.com/office/powerpoint/2010/main" val="7407388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E882B-ECF9-7BA4-3A74-2B1186A42720}"/>
              </a:ext>
            </a:extLst>
          </p:cNvPr>
          <p:cNvSpPr>
            <a:spLocks noGrp="1"/>
          </p:cNvSpPr>
          <p:nvPr>
            <p:ph type="title"/>
          </p:nvPr>
        </p:nvSpPr>
        <p:spPr>
          <a:xfrm>
            <a:off x="4234299" y="-10391"/>
            <a:ext cx="3340674" cy="688790"/>
          </a:xfrm>
        </p:spPr>
        <p:txBody>
          <a:bodyPr>
            <a:normAutofit fontScale="90000"/>
          </a:bodyPr>
          <a:lstStyle/>
          <a:p>
            <a:r>
              <a:rPr lang="en-IN" dirty="0">
                <a:latin typeface="Times New Roman" panose="02020603050405020304" pitchFamily="18" charset="0"/>
                <a:cs typeface="Times New Roman" panose="02020603050405020304" pitchFamily="18" charset="0"/>
              </a:rPr>
              <a:t>Interpretation</a:t>
            </a:r>
          </a:p>
        </p:txBody>
      </p:sp>
      <p:pic>
        <p:nvPicPr>
          <p:cNvPr id="10" name="Picture 9" descr="A screenshot of a computer program&#10;&#10;AI-generated content may be incorrect.">
            <a:extLst>
              <a:ext uri="{FF2B5EF4-FFF2-40B4-BE49-F238E27FC236}">
                <a16:creationId xmlns:a16="http://schemas.microsoft.com/office/drawing/2014/main" id="{D0272951-9255-F893-8EC2-A20D0C1E6E15}"/>
              </a:ext>
            </a:extLst>
          </p:cNvPr>
          <p:cNvPicPr>
            <a:picLocks noChangeAspect="1"/>
          </p:cNvPicPr>
          <p:nvPr/>
        </p:nvPicPr>
        <p:blipFill>
          <a:blip r:embed="rId2"/>
          <a:stretch>
            <a:fillRect/>
          </a:stretch>
        </p:blipFill>
        <p:spPr>
          <a:xfrm>
            <a:off x="199465" y="802047"/>
            <a:ext cx="5124145" cy="4505583"/>
          </a:xfrm>
          <a:prstGeom prst="rect">
            <a:avLst/>
          </a:prstGeom>
        </p:spPr>
      </p:pic>
      <p:sp>
        <p:nvSpPr>
          <p:cNvPr id="11" name="TextBox 10">
            <a:extLst>
              <a:ext uri="{FF2B5EF4-FFF2-40B4-BE49-F238E27FC236}">
                <a16:creationId xmlns:a16="http://schemas.microsoft.com/office/drawing/2014/main" id="{B002D992-1C00-D0DC-83C5-79AC8E55133C}"/>
              </a:ext>
            </a:extLst>
          </p:cNvPr>
          <p:cNvSpPr txBox="1"/>
          <p:nvPr/>
        </p:nvSpPr>
        <p:spPr>
          <a:xfrm>
            <a:off x="199465" y="5394233"/>
            <a:ext cx="11793070"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Conclusion: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Linear SVM kernel</a:t>
            </a:r>
            <a:r>
              <a:rPr lang="en-US" sz="2000" dirty="0">
                <a:latin typeface="Times New Roman" panose="02020603050405020304" pitchFamily="18" charset="0"/>
                <a:cs typeface="Times New Roman" panose="02020603050405020304" pitchFamily="18" charset="0"/>
              </a:rPr>
              <a:t> provides the best balance of accuracy (79.7%), precision, and recall. It effectively identifies CKD patients using only two features (bp and </a:t>
            </a:r>
            <a:r>
              <a:rPr lang="en-US" sz="2000" dirty="0" err="1">
                <a:latin typeface="Times New Roman" panose="02020603050405020304" pitchFamily="18" charset="0"/>
                <a:cs typeface="Times New Roman" panose="02020603050405020304" pitchFamily="18" charset="0"/>
              </a:rPr>
              <a:t>sc</a:t>
            </a:r>
            <a:r>
              <a:rPr lang="en-US" sz="2000" dirty="0">
                <a:latin typeface="Times New Roman" panose="02020603050405020304" pitchFamily="18" charset="0"/>
                <a:cs typeface="Times New Roman" panose="02020603050405020304" pitchFamily="18" charset="0"/>
              </a:rPr>
              <a:t>), though additional clinical variables could further improve sensitivity and reduce missed CKD detections.</a:t>
            </a:r>
            <a:endParaRPr lang="en-US" altLang="en-US" sz="2000" dirty="0">
              <a:latin typeface="Times New Roman" panose="02020603050405020304" pitchFamily="18" charset="0"/>
              <a:cs typeface="Times New Roman" panose="02020603050405020304" pitchFamily="18" charset="0"/>
            </a:endParaRPr>
          </a:p>
        </p:txBody>
      </p:sp>
      <p:graphicFrame>
        <p:nvGraphicFramePr>
          <p:cNvPr id="25" name="Rectangle 4">
            <a:extLst>
              <a:ext uri="{FF2B5EF4-FFF2-40B4-BE49-F238E27FC236}">
                <a16:creationId xmlns:a16="http://schemas.microsoft.com/office/drawing/2014/main" id="{78B91A0A-0F9F-A2B8-F024-89F427CC400C}"/>
              </a:ext>
            </a:extLst>
          </p:cNvPr>
          <p:cNvGraphicFramePr>
            <a:graphicFrameLocks noGrp="1"/>
          </p:cNvGraphicFramePr>
          <p:nvPr>
            <p:ph idx="1"/>
            <p:extLst>
              <p:ext uri="{D42A27DB-BD31-4B8C-83A1-F6EECF244321}">
                <p14:modId xmlns:p14="http://schemas.microsoft.com/office/powerpoint/2010/main" val="2467415645"/>
              </p:ext>
            </p:extLst>
          </p:nvPr>
        </p:nvGraphicFramePr>
        <p:xfrm>
          <a:off x="5555225" y="802048"/>
          <a:ext cx="6437309" cy="46628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67106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descr="A blurry blue and yellow background&#10;&#10;AI-generated content may be incorrect.">
            <a:extLst>
              <a:ext uri="{FF2B5EF4-FFF2-40B4-BE49-F238E27FC236}">
                <a16:creationId xmlns:a16="http://schemas.microsoft.com/office/drawing/2014/main" id="{C2AEE70B-2978-0AAF-351A-FE444E405FE3}"/>
              </a:ext>
            </a:extLst>
          </p:cNvPr>
          <p:cNvPicPr>
            <a:picLocks noChangeAspect="1"/>
          </p:cNvPicPr>
          <p:nvPr/>
        </p:nvPicPr>
        <p:blipFill>
          <a:blip r:embed="rId2">
            <a:duotone>
              <a:prstClr val="black"/>
              <a:schemeClr val="tx2">
                <a:tint val="45000"/>
                <a:satMod val="400000"/>
              </a:schemeClr>
            </a:duotone>
            <a:alphaModFix amt="25000"/>
          </a:blip>
          <a:srcRect t="16762" b="820"/>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2A12039-6AA6-BE6A-4D9E-816EF2535005}"/>
              </a:ext>
            </a:extLst>
          </p:cNvPr>
          <p:cNvSpPr>
            <a:spLocks noGrp="1"/>
          </p:cNvSpPr>
          <p:nvPr>
            <p:ph type="title"/>
          </p:nvPr>
        </p:nvSpPr>
        <p:spPr>
          <a:xfrm>
            <a:off x="838200" y="365125"/>
            <a:ext cx="10515600" cy="1325563"/>
          </a:xfrm>
        </p:spPr>
        <p:txBody>
          <a:bodyPr>
            <a:normAutofit/>
          </a:bodyPr>
          <a:lstStyle/>
          <a:p>
            <a:pPr algn="ctr"/>
            <a:r>
              <a:rPr lang="en-US" sz="7200" dirty="0">
                <a:solidFill>
                  <a:schemeClr val="tx2"/>
                </a:solidFill>
                <a:latin typeface="Times New Roman" panose="02020603050405020304" pitchFamily="18" charset="0"/>
                <a:cs typeface="Times New Roman" panose="02020603050405020304" pitchFamily="18" charset="0"/>
              </a:rPr>
              <a:t>Random Forest</a:t>
            </a:r>
            <a:endParaRPr lang="en-IN" sz="7200" dirty="0">
              <a:solidFill>
                <a:schemeClr val="tx2"/>
              </a:solidFill>
              <a:latin typeface="Times New Roman" panose="02020603050405020304" pitchFamily="18" charset="0"/>
              <a:cs typeface="Times New Roman" panose="02020603050405020304" pitchFamily="18" charset="0"/>
            </a:endParaRPr>
          </a:p>
        </p:txBody>
      </p:sp>
      <p:graphicFrame>
        <p:nvGraphicFramePr>
          <p:cNvPr id="6" name="Rectangle 1">
            <a:extLst>
              <a:ext uri="{FF2B5EF4-FFF2-40B4-BE49-F238E27FC236}">
                <a16:creationId xmlns:a16="http://schemas.microsoft.com/office/drawing/2014/main" id="{4E4BB936-4BCB-BDDB-9CC8-116BA1E4FE85}"/>
              </a:ext>
            </a:extLst>
          </p:cNvPr>
          <p:cNvGraphicFramePr>
            <a:graphicFrameLocks noGrp="1"/>
          </p:cNvGraphicFramePr>
          <p:nvPr>
            <p:ph idx="1"/>
            <p:extLst>
              <p:ext uri="{D42A27DB-BD31-4B8C-83A1-F6EECF244321}">
                <p14:modId xmlns:p14="http://schemas.microsoft.com/office/powerpoint/2010/main" val="224112700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36484146"/>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program">
            <a:extLst>
              <a:ext uri="{FF2B5EF4-FFF2-40B4-BE49-F238E27FC236}">
                <a16:creationId xmlns:a16="http://schemas.microsoft.com/office/drawing/2014/main" id="{763A93E2-8345-A737-E9AE-46141854D0DB}"/>
              </a:ext>
            </a:extLst>
          </p:cNvPr>
          <p:cNvPicPr>
            <a:picLocks noChangeAspect="1"/>
          </p:cNvPicPr>
          <p:nvPr/>
        </p:nvPicPr>
        <p:blipFill>
          <a:blip r:embed="rId2"/>
          <a:stretch>
            <a:fillRect/>
          </a:stretch>
        </p:blipFill>
        <p:spPr>
          <a:xfrm>
            <a:off x="0" y="0"/>
            <a:ext cx="6017341" cy="6858000"/>
          </a:xfrm>
          <a:prstGeom prst="rect">
            <a:avLst/>
          </a:prstGeom>
        </p:spPr>
      </p:pic>
      <p:pic>
        <p:nvPicPr>
          <p:cNvPr id="7" name="Picture 6" descr="A computer screen shot of text">
            <a:extLst>
              <a:ext uri="{FF2B5EF4-FFF2-40B4-BE49-F238E27FC236}">
                <a16:creationId xmlns:a16="http://schemas.microsoft.com/office/drawing/2014/main" id="{39F105C9-23C2-D98C-30DB-C0DFF126E9D1}"/>
              </a:ext>
            </a:extLst>
          </p:cNvPr>
          <p:cNvPicPr>
            <a:picLocks noChangeAspect="1"/>
          </p:cNvPicPr>
          <p:nvPr/>
        </p:nvPicPr>
        <p:blipFill>
          <a:blip r:embed="rId3"/>
          <a:stretch>
            <a:fillRect/>
          </a:stretch>
        </p:blipFill>
        <p:spPr>
          <a:xfrm>
            <a:off x="6017341" y="0"/>
            <a:ext cx="6174659" cy="237940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17C058F0-49CD-3422-F3B7-1B9790BB0694}"/>
              </a:ext>
            </a:extLst>
          </p:cNvPr>
          <p:cNvPicPr>
            <a:picLocks noChangeAspect="1"/>
          </p:cNvPicPr>
          <p:nvPr/>
        </p:nvPicPr>
        <p:blipFill>
          <a:blip r:embed="rId4"/>
          <a:stretch>
            <a:fillRect/>
          </a:stretch>
        </p:blipFill>
        <p:spPr>
          <a:xfrm>
            <a:off x="6017341" y="2379406"/>
            <a:ext cx="6174658" cy="4478594"/>
          </a:xfrm>
          <a:prstGeom prst="rect">
            <a:avLst/>
          </a:prstGeom>
        </p:spPr>
      </p:pic>
    </p:spTree>
    <p:extLst>
      <p:ext uri="{BB962C8B-B14F-4D97-AF65-F5344CB8AC3E}">
        <p14:creationId xmlns:p14="http://schemas.microsoft.com/office/powerpoint/2010/main" val="2041959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lor Cover">
            <a:extLst>
              <a:ext uri="{FF2B5EF4-FFF2-40B4-BE49-F238E27FC236}">
                <a16:creationId xmlns:a16="http://schemas.microsoft.com/office/drawing/2014/main" id="{009115B9-5BFD-478D-9C87-29ADB3AF1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8D57F946-2E03-4DE1-91F8-25BEDC6635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2"/>
            <a:ext cx="3468234" cy="6858000"/>
            <a:chOff x="651279" y="598259"/>
            <a:chExt cx="10889442" cy="5680742"/>
          </a:xfrm>
        </p:grpSpPr>
        <p:sp>
          <p:nvSpPr>
            <p:cNvPr id="13" name="Color">
              <a:extLst>
                <a:ext uri="{FF2B5EF4-FFF2-40B4-BE49-F238E27FC236}">
                  <a16:creationId xmlns:a16="http://schemas.microsoft.com/office/drawing/2014/main" id="{1598881B-E007-4AAF-BA50-0AD618219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87A6DD9E-16A5-46AE-A522-D46D6BEDF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F730C04-DA81-55ED-AA08-DD54B7E8EA56}"/>
              </a:ext>
            </a:extLst>
          </p:cNvPr>
          <p:cNvSpPr>
            <a:spLocks noGrp="1"/>
          </p:cNvSpPr>
          <p:nvPr>
            <p:ph type="title"/>
          </p:nvPr>
        </p:nvSpPr>
        <p:spPr>
          <a:xfrm rot="16200000">
            <a:off x="-1325880" y="1947672"/>
            <a:ext cx="5961888" cy="2788920"/>
          </a:xfrm>
        </p:spPr>
        <p:txBody>
          <a:bodyPr anchor="ctr">
            <a:normAutofit/>
          </a:bodyPr>
          <a:lstStyle/>
          <a:p>
            <a:r>
              <a:rPr lang="en-US" sz="4800">
                <a:solidFill>
                  <a:schemeClr val="bg1"/>
                </a:solidFill>
                <a:latin typeface="Times New Roman" panose="02020603050405020304" pitchFamily="18" charset="0"/>
                <a:cs typeface="Times New Roman" panose="02020603050405020304" pitchFamily="18" charset="0"/>
              </a:rPr>
              <a:t>Results</a:t>
            </a:r>
            <a:endParaRPr lang="en-IN" sz="4800">
              <a:solidFill>
                <a:schemeClr val="bg1"/>
              </a:solidFill>
              <a:latin typeface="Times New Roman" panose="02020603050405020304" pitchFamily="18" charset="0"/>
              <a:cs typeface="Times New Roman" panose="02020603050405020304" pitchFamily="18" charset="0"/>
            </a:endParaRPr>
          </a:p>
        </p:txBody>
      </p:sp>
      <p:sp>
        <p:nvSpPr>
          <p:cNvPr id="28" name="Content Placeholder 2">
            <a:extLst>
              <a:ext uri="{FF2B5EF4-FFF2-40B4-BE49-F238E27FC236}">
                <a16:creationId xmlns:a16="http://schemas.microsoft.com/office/drawing/2014/main" id="{B4B7585B-42AB-64DD-B05E-1BB1F059F40D}"/>
              </a:ext>
            </a:extLst>
          </p:cNvPr>
          <p:cNvSpPr>
            <a:spLocks noGrp="1"/>
          </p:cNvSpPr>
          <p:nvPr>
            <p:ph idx="1"/>
          </p:nvPr>
        </p:nvSpPr>
        <p:spPr>
          <a:xfrm>
            <a:off x="3494353" y="-2"/>
            <a:ext cx="8437043" cy="6858000"/>
          </a:xfrm>
        </p:spPr>
        <p:txBody>
          <a:bodyPr anchor="ctr">
            <a:normAutofit/>
          </a:bodyPr>
          <a:lstStyle/>
          <a:p>
            <a:pPr marL="0" indent="0">
              <a:buNone/>
            </a:pPr>
            <a:r>
              <a:rPr lang="en-US" sz="1200" b="1" dirty="0">
                <a:solidFill>
                  <a:schemeClr val="tx2"/>
                </a:solidFill>
                <a:latin typeface="Times New Roman" panose="02020603050405020304" pitchFamily="18" charset="0"/>
                <a:cs typeface="Times New Roman" panose="02020603050405020304" pitchFamily="18" charset="0"/>
              </a:rPr>
              <a:t> Model Performance :</a:t>
            </a:r>
            <a:endParaRPr lang="en-US" sz="1200" dirty="0">
              <a:solidFill>
                <a:schemeClr val="tx2"/>
              </a:solidFill>
              <a:latin typeface="Times New Roman" panose="02020603050405020304" pitchFamily="18" charset="0"/>
              <a:cs typeface="Times New Roman" panose="02020603050405020304" pitchFamily="18" charset="0"/>
            </a:endParaRPr>
          </a:p>
          <a:p>
            <a:r>
              <a:rPr lang="en-US" sz="1200" dirty="0">
                <a:solidFill>
                  <a:schemeClr val="tx2"/>
                </a:solidFill>
                <a:latin typeface="Times New Roman" panose="02020603050405020304" pitchFamily="18" charset="0"/>
                <a:cs typeface="Times New Roman" panose="02020603050405020304" pitchFamily="18" charset="0"/>
              </a:rPr>
              <a:t>Achieved an </a:t>
            </a:r>
            <a:r>
              <a:rPr lang="en-US" sz="1200" b="1" dirty="0">
                <a:solidFill>
                  <a:schemeClr val="tx2"/>
                </a:solidFill>
                <a:latin typeface="Times New Roman" panose="02020603050405020304" pitchFamily="18" charset="0"/>
                <a:cs typeface="Times New Roman" panose="02020603050405020304" pitchFamily="18" charset="0"/>
              </a:rPr>
              <a:t>accuracy of 96.2%</a:t>
            </a:r>
            <a:r>
              <a:rPr lang="en-US" sz="1200" dirty="0">
                <a:solidFill>
                  <a:schemeClr val="tx2"/>
                </a:solidFill>
                <a:latin typeface="Times New Roman" panose="02020603050405020304" pitchFamily="18" charset="0"/>
                <a:cs typeface="Times New Roman" panose="02020603050405020304" pitchFamily="18" charset="0"/>
              </a:rPr>
              <a:t>, correctly predicting </a:t>
            </a:r>
            <a:r>
              <a:rPr lang="en-US" sz="1200" b="1" dirty="0">
                <a:solidFill>
                  <a:schemeClr val="tx2"/>
                </a:solidFill>
                <a:latin typeface="Times New Roman" panose="02020603050405020304" pitchFamily="18" charset="0"/>
                <a:cs typeface="Times New Roman" panose="02020603050405020304" pitchFamily="18" charset="0"/>
              </a:rPr>
              <a:t>50 out of 52</a:t>
            </a:r>
            <a:r>
              <a:rPr lang="en-US" sz="1200" dirty="0">
                <a:solidFill>
                  <a:schemeClr val="tx2"/>
                </a:solidFill>
                <a:latin typeface="Times New Roman" panose="02020603050405020304" pitchFamily="18" charset="0"/>
                <a:cs typeface="Times New Roman" panose="02020603050405020304" pitchFamily="18" charset="0"/>
              </a:rPr>
              <a:t> patient cases.</a:t>
            </a:r>
          </a:p>
          <a:p>
            <a:r>
              <a:rPr lang="en-US" sz="1200" dirty="0">
                <a:solidFill>
                  <a:schemeClr val="tx2"/>
                </a:solidFill>
                <a:latin typeface="Times New Roman" panose="02020603050405020304" pitchFamily="18" charset="0"/>
                <a:cs typeface="Times New Roman" panose="02020603050405020304" pitchFamily="18" charset="0"/>
              </a:rPr>
              <a:t>Demonstrates strong ability to classify CKD and non-CKD patients accurately.</a:t>
            </a:r>
          </a:p>
          <a:p>
            <a:r>
              <a:rPr lang="en-US" sz="1200" dirty="0">
                <a:solidFill>
                  <a:schemeClr val="tx2"/>
                </a:solidFill>
                <a:latin typeface="Times New Roman" panose="02020603050405020304" pitchFamily="18" charset="0"/>
                <a:cs typeface="Times New Roman" panose="02020603050405020304" pitchFamily="18" charset="0"/>
              </a:rPr>
              <a:t>Ensemble learning (multiple trees) reduces overfitting, ensuring stable and consistent predictions.</a:t>
            </a:r>
            <a:br>
              <a:rPr lang="en-US" sz="1200" dirty="0">
                <a:solidFill>
                  <a:schemeClr val="tx2"/>
                </a:solidFill>
                <a:latin typeface="Times New Roman" panose="02020603050405020304" pitchFamily="18" charset="0"/>
                <a:cs typeface="Times New Roman" panose="02020603050405020304" pitchFamily="18" charset="0"/>
              </a:rPr>
            </a:br>
            <a:endParaRPr lang="en-US" sz="1200" dirty="0">
              <a:solidFill>
                <a:schemeClr val="tx2"/>
              </a:solidFill>
              <a:latin typeface="Times New Roman" panose="02020603050405020304" pitchFamily="18" charset="0"/>
              <a:cs typeface="Times New Roman" panose="02020603050405020304" pitchFamily="18" charset="0"/>
            </a:endParaRPr>
          </a:p>
          <a:p>
            <a:pPr marL="0" indent="0">
              <a:buNone/>
            </a:pPr>
            <a:r>
              <a:rPr lang="en-US" sz="1200" b="1" dirty="0">
                <a:solidFill>
                  <a:schemeClr val="tx2"/>
                </a:solidFill>
                <a:latin typeface="Times New Roman" panose="02020603050405020304" pitchFamily="18" charset="0"/>
                <a:cs typeface="Times New Roman" panose="02020603050405020304" pitchFamily="18" charset="0"/>
              </a:rPr>
              <a:t>Classification Report Summary :</a:t>
            </a:r>
            <a:endParaRPr lang="en-US" sz="1200" dirty="0">
              <a:solidFill>
                <a:schemeClr val="tx2"/>
              </a:solidFill>
              <a:latin typeface="Times New Roman" panose="02020603050405020304" pitchFamily="18" charset="0"/>
              <a:cs typeface="Times New Roman" panose="02020603050405020304" pitchFamily="18" charset="0"/>
            </a:endParaRPr>
          </a:p>
          <a:p>
            <a:r>
              <a:rPr lang="en-US" sz="1200" b="1" dirty="0">
                <a:solidFill>
                  <a:schemeClr val="tx2"/>
                </a:solidFill>
                <a:latin typeface="Times New Roman" panose="02020603050405020304" pitchFamily="18" charset="0"/>
                <a:cs typeface="Times New Roman" panose="02020603050405020304" pitchFamily="18" charset="0"/>
              </a:rPr>
              <a:t>Precision (CKD = 1): 1.00</a:t>
            </a:r>
            <a:r>
              <a:rPr lang="en-US" sz="1200" dirty="0">
                <a:solidFill>
                  <a:schemeClr val="tx2"/>
                </a:solidFill>
                <a:latin typeface="Times New Roman" panose="02020603050405020304" pitchFamily="18" charset="0"/>
                <a:cs typeface="Times New Roman" panose="02020603050405020304" pitchFamily="18" charset="0"/>
              </a:rPr>
              <a:t> → Every CKD prediction was correct (no false positives).</a:t>
            </a:r>
          </a:p>
          <a:p>
            <a:r>
              <a:rPr lang="en-US" sz="1200" b="1" dirty="0">
                <a:solidFill>
                  <a:schemeClr val="tx2"/>
                </a:solidFill>
                <a:latin typeface="Times New Roman" panose="02020603050405020304" pitchFamily="18" charset="0"/>
                <a:cs typeface="Times New Roman" panose="02020603050405020304" pitchFamily="18" charset="0"/>
              </a:rPr>
              <a:t>Recall (CKD = 1): 0.93</a:t>
            </a:r>
            <a:r>
              <a:rPr lang="en-US" sz="1200" dirty="0">
                <a:solidFill>
                  <a:schemeClr val="tx2"/>
                </a:solidFill>
                <a:latin typeface="Times New Roman" panose="02020603050405020304" pitchFamily="18" charset="0"/>
                <a:cs typeface="Times New Roman" panose="02020603050405020304" pitchFamily="18" charset="0"/>
              </a:rPr>
              <a:t> → The model correctly identified 93% of CKD patients.</a:t>
            </a:r>
          </a:p>
          <a:p>
            <a:r>
              <a:rPr lang="en-US" sz="1200" b="1" dirty="0">
                <a:solidFill>
                  <a:schemeClr val="tx2"/>
                </a:solidFill>
                <a:latin typeface="Times New Roman" panose="02020603050405020304" pitchFamily="18" charset="0"/>
                <a:cs typeface="Times New Roman" panose="02020603050405020304" pitchFamily="18" charset="0"/>
              </a:rPr>
              <a:t>F1-Score:</a:t>
            </a:r>
            <a:r>
              <a:rPr lang="en-US" sz="1200" dirty="0">
                <a:solidFill>
                  <a:schemeClr val="tx2"/>
                </a:solidFill>
                <a:latin typeface="Times New Roman" panose="02020603050405020304" pitchFamily="18" charset="0"/>
                <a:cs typeface="Times New Roman" panose="02020603050405020304" pitchFamily="18" charset="0"/>
              </a:rPr>
              <a:t> ~0.96–0.97 → Consistent performance across both classes.</a:t>
            </a:r>
          </a:p>
          <a:p>
            <a:r>
              <a:rPr lang="en-US" sz="1200" dirty="0">
                <a:solidFill>
                  <a:schemeClr val="tx2"/>
                </a:solidFill>
                <a:latin typeface="Times New Roman" panose="02020603050405020304" pitchFamily="18" charset="0"/>
                <a:cs typeface="Times New Roman" panose="02020603050405020304" pitchFamily="18" charset="0"/>
              </a:rPr>
              <a:t>Perfect recall for non-CKD and high recall for CKD patients.</a:t>
            </a:r>
            <a:br>
              <a:rPr lang="en-US" sz="1200" dirty="0">
                <a:solidFill>
                  <a:schemeClr val="tx2"/>
                </a:solidFill>
                <a:latin typeface="Times New Roman" panose="02020603050405020304" pitchFamily="18" charset="0"/>
                <a:cs typeface="Times New Roman" panose="02020603050405020304" pitchFamily="18" charset="0"/>
              </a:rPr>
            </a:br>
            <a:endParaRPr lang="en-US" sz="1200" dirty="0">
              <a:solidFill>
                <a:schemeClr val="tx2"/>
              </a:solidFill>
              <a:latin typeface="Times New Roman" panose="02020603050405020304" pitchFamily="18" charset="0"/>
              <a:cs typeface="Times New Roman" panose="02020603050405020304" pitchFamily="18" charset="0"/>
            </a:endParaRPr>
          </a:p>
          <a:p>
            <a:pPr marL="0" indent="0">
              <a:buNone/>
            </a:pPr>
            <a:r>
              <a:rPr lang="en-US" sz="1200" b="1" dirty="0">
                <a:solidFill>
                  <a:schemeClr val="tx2"/>
                </a:solidFill>
                <a:latin typeface="Times New Roman" panose="02020603050405020304" pitchFamily="18" charset="0"/>
                <a:cs typeface="Times New Roman" panose="02020603050405020304" pitchFamily="18" charset="0"/>
              </a:rPr>
              <a:t>Confusion Matrix Interpretation :</a:t>
            </a:r>
            <a:endParaRPr lang="en-US" sz="1200" dirty="0">
              <a:solidFill>
                <a:schemeClr val="tx2"/>
              </a:solidFill>
              <a:latin typeface="Times New Roman" panose="02020603050405020304" pitchFamily="18" charset="0"/>
              <a:cs typeface="Times New Roman" panose="02020603050405020304" pitchFamily="18" charset="0"/>
            </a:endParaRPr>
          </a:p>
          <a:p>
            <a:r>
              <a:rPr lang="en-US" sz="1200" b="1" dirty="0">
                <a:solidFill>
                  <a:schemeClr val="tx2"/>
                </a:solidFill>
                <a:latin typeface="Times New Roman" panose="02020603050405020304" pitchFamily="18" charset="0"/>
                <a:cs typeface="Times New Roman" panose="02020603050405020304" pitchFamily="18" charset="0"/>
              </a:rPr>
              <a:t>Non-CKD:</a:t>
            </a:r>
            <a:r>
              <a:rPr lang="en-US" sz="1200" dirty="0">
                <a:solidFill>
                  <a:schemeClr val="tx2"/>
                </a:solidFill>
                <a:latin typeface="Times New Roman" panose="02020603050405020304" pitchFamily="18" charset="0"/>
                <a:cs typeface="Times New Roman" panose="02020603050405020304" pitchFamily="18" charset="0"/>
              </a:rPr>
              <a:t> 22 / 22 correctly classified (</a:t>
            </a:r>
            <a:r>
              <a:rPr lang="en-US" sz="1200" b="1" dirty="0">
                <a:solidFill>
                  <a:schemeClr val="tx2"/>
                </a:solidFill>
                <a:latin typeface="Times New Roman" panose="02020603050405020304" pitchFamily="18" charset="0"/>
                <a:cs typeface="Times New Roman" panose="02020603050405020304" pitchFamily="18" charset="0"/>
              </a:rPr>
              <a:t>100% accuracy</a:t>
            </a:r>
            <a:r>
              <a:rPr lang="en-US" sz="1200" dirty="0">
                <a:solidFill>
                  <a:schemeClr val="tx2"/>
                </a:solidFill>
                <a:latin typeface="Times New Roman" panose="02020603050405020304" pitchFamily="18" charset="0"/>
                <a:cs typeface="Times New Roman" panose="02020603050405020304" pitchFamily="18" charset="0"/>
              </a:rPr>
              <a:t>).</a:t>
            </a:r>
          </a:p>
          <a:p>
            <a:r>
              <a:rPr lang="en-US" sz="1200" b="1" dirty="0">
                <a:solidFill>
                  <a:schemeClr val="tx2"/>
                </a:solidFill>
                <a:latin typeface="Times New Roman" panose="02020603050405020304" pitchFamily="18" charset="0"/>
                <a:cs typeface="Times New Roman" panose="02020603050405020304" pitchFamily="18" charset="0"/>
              </a:rPr>
              <a:t>CKD:</a:t>
            </a:r>
            <a:r>
              <a:rPr lang="en-US" sz="1200" dirty="0">
                <a:solidFill>
                  <a:schemeClr val="tx2"/>
                </a:solidFill>
                <a:latin typeface="Times New Roman" panose="02020603050405020304" pitchFamily="18" charset="0"/>
                <a:cs typeface="Times New Roman" panose="02020603050405020304" pitchFamily="18" charset="0"/>
              </a:rPr>
              <a:t> 28 / 30 correctly classified (</a:t>
            </a:r>
            <a:r>
              <a:rPr lang="en-US" sz="1200" b="1" dirty="0">
                <a:solidFill>
                  <a:schemeClr val="tx2"/>
                </a:solidFill>
                <a:latin typeface="Times New Roman" panose="02020603050405020304" pitchFamily="18" charset="0"/>
                <a:cs typeface="Times New Roman" panose="02020603050405020304" pitchFamily="18" charset="0"/>
              </a:rPr>
              <a:t>93% accuracy</a:t>
            </a:r>
            <a:r>
              <a:rPr lang="en-US" sz="1200" dirty="0">
                <a:solidFill>
                  <a:schemeClr val="tx2"/>
                </a:solidFill>
                <a:latin typeface="Times New Roman" panose="02020603050405020304" pitchFamily="18" charset="0"/>
                <a:cs typeface="Times New Roman" panose="02020603050405020304" pitchFamily="18" charset="0"/>
              </a:rPr>
              <a:t>).</a:t>
            </a:r>
          </a:p>
          <a:p>
            <a:r>
              <a:rPr lang="en-US" sz="1200" dirty="0">
                <a:solidFill>
                  <a:schemeClr val="tx2"/>
                </a:solidFill>
                <a:latin typeface="Times New Roman" panose="02020603050405020304" pitchFamily="18" charset="0"/>
                <a:cs typeface="Times New Roman" panose="02020603050405020304" pitchFamily="18" charset="0"/>
              </a:rPr>
              <a:t>Only </a:t>
            </a:r>
            <a:r>
              <a:rPr lang="en-US" sz="1200" b="1" dirty="0">
                <a:solidFill>
                  <a:schemeClr val="tx2"/>
                </a:solidFill>
                <a:latin typeface="Times New Roman" panose="02020603050405020304" pitchFamily="18" charset="0"/>
                <a:cs typeface="Times New Roman" panose="02020603050405020304" pitchFamily="18" charset="0"/>
              </a:rPr>
              <a:t>2 false negatives</a:t>
            </a:r>
            <a:r>
              <a:rPr lang="en-US" sz="1200" dirty="0">
                <a:solidFill>
                  <a:schemeClr val="tx2"/>
                </a:solidFill>
                <a:latin typeface="Times New Roman" panose="02020603050405020304" pitchFamily="18" charset="0"/>
                <a:cs typeface="Times New Roman" panose="02020603050405020304" pitchFamily="18" charset="0"/>
              </a:rPr>
              <a:t> and </a:t>
            </a:r>
            <a:r>
              <a:rPr lang="en-US" sz="1200" b="1" dirty="0">
                <a:solidFill>
                  <a:schemeClr val="tx2"/>
                </a:solidFill>
                <a:latin typeface="Times New Roman" panose="02020603050405020304" pitchFamily="18" charset="0"/>
                <a:cs typeface="Times New Roman" panose="02020603050405020304" pitchFamily="18" charset="0"/>
              </a:rPr>
              <a:t>no false positives</a:t>
            </a:r>
            <a:r>
              <a:rPr lang="en-US" sz="1200" dirty="0">
                <a:solidFill>
                  <a:schemeClr val="tx2"/>
                </a:solidFill>
                <a:latin typeface="Times New Roman" panose="02020603050405020304" pitchFamily="18" charset="0"/>
                <a:cs typeface="Times New Roman" panose="02020603050405020304" pitchFamily="18" charset="0"/>
              </a:rPr>
              <a:t>.</a:t>
            </a:r>
          </a:p>
          <a:p>
            <a:r>
              <a:rPr lang="en-US" sz="1200" dirty="0">
                <a:solidFill>
                  <a:schemeClr val="tx2"/>
                </a:solidFill>
                <a:latin typeface="Times New Roman" panose="02020603050405020304" pitchFamily="18" charset="0"/>
                <a:cs typeface="Times New Roman" panose="02020603050405020304" pitchFamily="18" charset="0"/>
              </a:rPr>
              <a:t>Indicates </a:t>
            </a:r>
            <a:r>
              <a:rPr lang="en-US" sz="1200" b="1" dirty="0">
                <a:solidFill>
                  <a:schemeClr val="tx2"/>
                </a:solidFill>
                <a:latin typeface="Times New Roman" panose="02020603050405020304" pitchFamily="18" charset="0"/>
                <a:cs typeface="Times New Roman" panose="02020603050405020304" pitchFamily="18" charset="0"/>
              </a:rPr>
              <a:t>excellent reliability</a:t>
            </a:r>
            <a:r>
              <a:rPr lang="en-US" sz="1200" dirty="0">
                <a:solidFill>
                  <a:schemeClr val="tx2"/>
                </a:solidFill>
                <a:latin typeface="Times New Roman" panose="02020603050405020304" pitchFamily="18" charset="0"/>
                <a:cs typeface="Times New Roman" panose="02020603050405020304" pitchFamily="18" charset="0"/>
              </a:rPr>
              <a:t> and clear separation between CKD and non-CKD groups.</a:t>
            </a:r>
            <a:br>
              <a:rPr lang="en-US" sz="1200" dirty="0">
                <a:solidFill>
                  <a:schemeClr val="tx2"/>
                </a:solidFill>
                <a:latin typeface="Times New Roman" panose="02020603050405020304" pitchFamily="18" charset="0"/>
                <a:cs typeface="Times New Roman" panose="02020603050405020304" pitchFamily="18" charset="0"/>
              </a:rPr>
            </a:br>
            <a:endParaRPr lang="en-US" sz="1200" dirty="0">
              <a:solidFill>
                <a:schemeClr val="tx2"/>
              </a:solidFill>
              <a:latin typeface="Times New Roman" panose="02020603050405020304" pitchFamily="18" charset="0"/>
              <a:cs typeface="Times New Roman" panose="02020603050405020304" pitchFamily="18" charset="0"/>
            </a:endParaRPr>
          </a:p>
          <a:p>
            <a:pPr marL="0" indent="0">
              <a:buNone/>
            </a:pPr>
            <a:r>
              <a:rPr lang="en-US" sz="1200" b="1" dirty="0">
                <a:solidFill>
                  <a:schemeClr val="tx2"/>
                </a:solidFill>
                <a:latin typeface="Times New Roman" panose="02020603050405020304" pitchFamily="18" charset="0"/>
                <a:cs typeface="Times New Roman" panose="02020603050405020304" pitchFamily="18" charset="0"/>
              </a:rPr>
              <a:t>Feature Importance Analysis :</a:t>
            </a:r>
            <a:endParaRPr lang="en-US" sz="1200" dirty="0">
              <a:solidFill>
                <a:schemeClr val="tx2"/>
              </a:solidFill>
              <a:latin typeface="Times New Roman" panose="02020603050405020304" pitchFamily="18" charset="0"/>
              <a:cs typeface="Times New Roman" panose="02020603050405020304" pitchFamily="18" charset="0"/>
            </a:endParaRPr>
          </a:p>
          <a:p>
            <a:r>
              <a:rPr lang="en-US" sz="1200" b="1" dirty="0">
                <a:solidFill>
                  <a:schemeClr val="tx2"/>
                </a:solidFill>
                <a:latin typeface="Times New Roman" panose="02020603050405020304" pitchFamily="18" charset="0"/>
                <a:cs typeface="Times New Roman" panose="02020603050405020304" pitchFamily="18" charset="0"/>
              </a:rPr>
              <a:t>Serum Creatinine (</a:t>
            </a:r>
            <a:r>
              <a:rPr lang="en-US" sz="1200" b="1" dirty="0" err="1">
                <a:solidFill>
                  <a:schemeClr val="tx2"/>
                </a:solidFill>
                <a:latin typeface="Times New Roman" panose="02020603050405020304" pitchFamily="18" charset="0"/>
                <a:cs typeface="Times New Roman" panose="02020603050405020304" pitchFamily="18" charset="0"/>
              </a:rPr>
              <a:t>sc</a:t>
            </a:r>
            <a:r>
              <a:rPr lang="en-US" sz="1200" b="1" dirty="0">
                <a:solidFill>
                  <a:schemeClr val="tx2"/>
                </a:solidFill>
                <a:latin typeface="Times New Roman" panose="02020603050405020304" pitchFamily="18" charset="0"/>
                <a:cs typeface="Times New Roman" panose="02020603050405020304" pitchFamily="18" charset="0"/>
              </a:rPr>
              <a:t>): ~0.62</a:t>
            </a:r>
            <a:r>
              <a:rPr lang="en-US" sz="1200" dirty="0">
                <a:solidFill>
                  <a:schemeClr val="tx2"/>
                </a:solidFill>
                <a:latin typeface="Times New Roman" panose="02020603050405020304" pitchFamily="18" charset="0"/>
                <a:cs typeface="Times New Roman" panose="02020603050405020304" pitchFamily="18" charset="0"/>
              </a:rPr>
              <a:t> → Most influential feature.</a:t>
            </a:r>
          </a:p>
          <a:p>
            <a:r>
              <a:rPr lang="en-US" sz="1200" b="1" dirty="0">
                <a:solidFill>
                  <a:schemeClr val="tx2"/>
                </a:solidFill>
                <a:latin typeface="Times New Roman" panose="02020603050405020304" pitchFamily="18" charset="0"/>
                <a:cs typeface="Times New Roman" panose="02020603050405020304" pitchFamily="18" charset="0"/>
              </a:rPr>
              <a:t>Age: ~0.26</a:t>
            </a:r>
            <a:r>
              <a:rPr lang="en-US" sz="1200" dirty="0">
                <a:solidFill>
                  <a:schemeClr val="tx2"/>
                </a:solidFill>
                <a:latin typeface="Times New Roman" panose="02020603050405020304" pitchFamily="18" charset="0"/>
                <a:cs typeface="Times New Roman" panose="02020603050405020304" pitchFamily="18" charset="0"/>
              </a:rPr>
              <a:t> → Moderate influence.</a:t>
            </a:r>
          </a:p>
          <a:p>
            <a:r>
              <a:rPr lang="en-US" sz="1200" b="1" dirty="0">
                <a:solidFill>
                  <a:schemeClr val="tx2"/>
                </a:solidFill>
                <a:latin typeface="Times New Roman" panose="02020603050405020304" pitchFamily="18" charset="0"/>
                <a:cs typeface="Times New Roman" panose="02020603050405020304" pitchFamily="18" charset="0"/>
              </a:rPr>
              <a:t>Blood Pressure (bp): ~0.12</a:t>
            </a:r>
            <a:r>
              <a:rPr lang="en-US" sz="1200" dirty="0">
                <a:solidFill>
                  <a:schemeClr val="tx2"/>
                </a:solidFill>
                <a:latin typeface="Times New Roman" panose="02020603050405020304" pitchFamily="18" charset="0"/>
                <a:cs typeface="Times New Roman" panose="02020603050405020304" pitchFamily="18" charset="0"/>
              </a:rPr>
              <a:t> → Least important but still relevant.</a:t>
            </a:r>
          </a:p>
          <a:p>
            <a:r>
              <a:rPr lang="en-US" sz="1200" dirty="0">
                <a:solidFill>
                  <a:schemeClr val="tx2"/>
                </a:solidFill>
                <a:latin typeface="Times New Roman" panose="02020603050405020304" pitchFamily="18" charset="0"/>
                <a:cs typeface="Times New Roman" panose="02020603050405020304" pitchFamily="18" charset="0"/>
              </a:rPr>
              <a:t>Confirms that </a:t>
            </a:r>
            <a:r>
              <a:rPr lang="en-US" sz="1200" b="1" dirty="0">
                <a:solidFill>
                  <a:schemeClr val="tx2"/>
                </a:solidFill>
                <a:latin typeface="Times New Roman" panose="02020603050405020304" pitchFamily="18" charset="0"/>
                <a:cs typeface="Times New Roman" panose="02020603050405020304" pitchFamily="18" charset="0"/>
              </a:rPr>
              <a:t>serum creatinine</a:t>
            </a:r>
            <a:r>
              <a:rPr lang="en-US" sz="1200" dirty="0">
                <a:solidFill>
                  <a:schemeClr val="tx2"/>
                </a:solidFill>
                <a:latin typeface="Times New Roman" panose="02020603050405020304" pitchFamily="18" charset="0"/>
                <a:cs typeface="Times New Roman" panose="02020603050405020304" pitchFamily="18" charset="0"/>
              </a:rPr>
              <a:t> is the strongest CKD predictor.</a:t>
            </a:r>
          </a:p>
        </p:txBody>
      </p:sp>
    </p:spTree>
    <p:extLst>
      <p:ext uri="{BB962C8B-B14F-4D97-AF65-F5344CB8AC3E}">
        <p14:creationId xmlns:p14="http://schemas.microsoft.com/office/powerpoint/2010/main" val="20359968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B097C5CA-2329-2FA8-1678-B20AFE902ADD}"/>
              </a:ext>
            </a:extLst>
          </p:cNvPr>
          <p:cNvPicPr>
            <a:picLocks noChangeAspect="1"/>
          </p:cNvPicPr>
          <p:nvPr/>
        </p:nvPicPr>
        <p:blipFill>
          <a:blip r:embed="rId2">
            <a:alphaModFix amt="35000"/>
          </a:blip>
          <a:srcRect t="25000"/>
          <a:stretch>
            <a:fillRect/>
          </a:stretch>
        </p:blipFill>
        <p:spPr>
          <a:xfrm>
            <a:off x="20" y="10"/>
            <a:ext cx="12191980" cy="6857990"/>
          </a:xfrm>
          <a:prstGeom prst="rect">
            <a:avLst/>
          </a:prstGeom>
        </p:spPr>
      </p:pic>
      <p:sp>
        <p:nvSpPr>
          <p:cNvPr id="2" name="TextBox 1">
            <a:extLst>
              <a:ext uri="{FF2B5EF4-FFF2-40B4-BE49-F238E27FC236}">
                <a16:creationId xmlns:a16="http://schemas.microsoft.com/office/drawing/2014/main" id="{1C3DAFBE-B3A0-A25D-94FC-4E376D7AADA8}"/>
              </a:ext>
            </a:extLst>
          </p:cNvPr>
          <p:cNvSpPr txBox="1"/>
          <p:nvPr/>
        </p:nvSpPr>
        <p:spPr>
          <a:xfrm>
            <a:off x="4208206" y="255639"/>
            <a:ext cx="3716594" cy="523220"/>
          </a:xfrm>
          <a:prstGeom prst="rect">
            <a:avLst/>
          </a:prstGeom>
          <a:noFill/>
        </p:spPr>
        <p:txBody>
          <a:bodyPr wrap="square" rtlCol="0">
            <a:spAutoFit/>
          </a:bodyPr>
          <a:lstStyle/>
          <a:p>
            <a:pPr>
              <a:spcAft>
                <a:spcPts val="600"/>
              </a:spcAft>
            </a:pPr>
            <a:r>
              <a:rPr lang="en-US" sz="2800" dirty="0">
                <a:latin typeface="Times New Roman" panose="02020603050405020304" pitchFamily="18" charset="0"/>
                <a:cs typeface="Times New Roman" panose="02020603050405020304" pitchFamily="18" charset="0"/>
              </a:rPr>
              <a:t>FINAL CONCLUSION</a:t>
            </a:r>
            <a:endParaRPr lang="en-IN" sz="2800">
              <a:latin typeface="Times New Roman" panose="02020603050405020304" pitchFamily="18" charset="0"/>
              <a:cs typeface="Times New Roman" panose="02020603050405020304" pitchFamily="18" charset="0"/>
            </a:endParaRPr>
          </a:p>
        </p:txBody>
      </p:sp>
      <p:graphicFrame>
        <p:nvGraphicFramePr>
          <p:cNvPr id="6" name="Content Placeholder 2">
            <a:extLst>
              <a:ext uri="{FF2B5EF4-FFF2-40B4-BE49-F238E27FC236}">
                <a16:creationId xmlns:a16="http://schemas.microsoft.com/office/drawing/2014/main" id="{C372E6CD-8D30-6A59-9481-19B9FCB9F6E2}"/>
              </a:ext>
            </a:extLst>
          </p:cNvPr>
          <p:cNvGraphicFramePr>
            <a:graphicFrameLocks noGrp="1"/>
          </p:cNvGraphicFramePr>
          <p:nvPr>
            <p:ph idx="1"/>
            <p:extLst>
              <p:ext uri="{D42A27DB-BD31-4B8C-83A1-F6EECF244321}">
                <p14:modId xmlns:p14="http://schemas.microsoft.com/office/powerpoint/2010/main" val="3851048787"/>
              </p:ext>
            </p:extLst>
          </p:nvPr>
        </p:nvGraphicFramePr>
        <p:xfrm>
          <a:off x="0" y="1034488"/>
          <a:ext cx="12192000" cy="58235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77594285"/>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EF9CE67E-30B4-04E4-8D1A-00BF19B4C646}"/>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latin typeface="Times New Roman" panose="02020603050405020304" pitchFamily="18" charset="0"/>
                <a:cs typeface="Times New Roman" panose="02020603050405020304" pitchFamily="18" charset="0"/>
              </a:rPr>
              <a:t>REFERENCES :</a:t>
            </a:r>
            <a:endParaRPr lang="en-IN">
              <a:solidFill>
                <a:schemeClr val="bg1"/>
              </a:solidFill>
              <a:latin typeface="Times New Roman" panose="02020603050405020304" pitchFamily="18"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84C4ACF-31EC-46FE-553D-55D752A68708}"/>
              </a:ext>
            </a:extLst>
          </p:cNvPr>
          <p:cNvSpPr>
            <a:spLocks noGrp="1"/>
          </p:cNvSpPr>
          <p:nvPr>
            <p:ph idx="1"/>
          </p:nvPr>
        </p:nvSpPr>
        <p:spPr>
          <a:xfrm>
            <a:off x="1392667" y="2398957"/>
            <a:ext cx="9406666" cy="3526144"/>
          </a:xfrm>
        </p:spPr>
        <p:txBody>
          <a:bodyPr>
            <a:normAutofit/>
          </a:bodyPr>
          <a:lstStyle/>
          <a:p>
            <a:pPr marL="514350" indent="-514350">
              <a:buFont typeface="+mj-lt"/>
              <a:buAutoNum type="arabicPeriod"/>
            </a:pPr>
            <a:r>
              <a:rPr lang="en-IN" sz="1700">
                <a:solidFill>
                  <a:schemeClr val="bg1"/>
                </a:solidFill>
                <a:latin typeface="Times New Roman" panose="02020603050405020304" pitchFamily="18" charset="0"/>
                <a:cs typeface="Times New Roman" panose="02020603050405020304" pitchFamily="18" charset="0"/>
                <a:hlinkClick r:id="rId2"/>
              </a:rPr>
              <a:t>Jha, V., Garcia-Garcia, G., Iseki, K., Li, Z., Naicker, S., Plattner, B., &amp; Yang, C. W. (2013). Chronic kidney disease: Global dimension and perspectives. </a:t>
            </a:r>
            <a:r>
              <a:rPr lang="en-IN" sz="1700" i="1">
                <a:solidFill>
                  <a:schemeClr val="bg1"/>
                </a:solidFill>
                <a:latin typeface="Times New Roman" panose="02020603050405020304" pitchFamily="18" charset="0"/>
                <a:cs typeface="Times New Roman" panose="02020603050405020304" pitchFamily="18" charset="0"/>
                <a:hlinkClick r:id="rId2"/>
              </a:rPr>
              <a:t>The Lancet, 382</a:t>
            </a:r>
            <a:r>
              <a:rPr lang="en-IN" sz="1700">
                <a:solidFill>
                  <a:schemeClr val="bg1"/>
                </a:solidFill>
                <a:latin typeface="Times New Roman" panose="02020603050405020304" pitchFamily="18" charset="0"/>
                <a:cs typeface="Times New Roman" panose="02020603050405020304" pitchFamily="18" charset="0"/>
                <a:hlinkClick r:id="rId2"/>
              </a:rPr>
              <a:t>(9888), 260–272.</a:t>
            </a:r>
            <a:endParaRPr lang="en-IN" sz="1700">
              <a:solidFill>
                <a:schemeClr val="bg1"/>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IN" sz="1700">
                <a:solidFill>
                  <a:schemeClr val="bg1"/>
                </a:solidFill>
                <a:latin typeface="Times New Roman" panose="02020603050405020304" pitchFamily="18" charset="0"/>
                <a:cs typeface="Times New Roman" panose="02020603050405020304" pitchFamily="18" charset="0"/>
                <a:hlinkClick r:id="rId3"/>
              </a:rPr>
              <a:t>Islam MA, Majumder MZH, Hussein MA. Chronic kidney disease prediction based on machine learning algorithms. J Pathol Inform. 2023 Jan 12;14:100189. doi: 10.1016/j.jpi.2023.100189. PMID: 36714452; PMCID: PMC9874070.</a:t>
            </a:r>
            <a:endParaRPr lang="en-IN" sz="1700">
              <a:solidFill>
                <a:schemeClr val="bg1"/>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1700">
                <a:solidFill>
                  <a:schemeClr val="bg1"/>
                </a:solidFill>
                <a:latin typeface="Times New Roman" panose="02020603050405020304" pitchFamily="18" charset="0"/>
                <a:cs typeface="Times New Roman" panose="02020603050405020304" pitchFamily="18" charset="0"/>
                <a:hlinkClick r:id="rId4"/>
              </a:rPr>
              <a:t>Colearning Lounge. (2021). </a:t>
            </a:r>
            <a:r>
              <a:rPr lang="en-US" sz="1700" i="1">
                <a:solidFill>
                  <a:schemeClr val="bg1"/>
                </a:solidFill>
                <a:latin typeface="Times New Roman" panose="02020603050405020304" pitchFamily="18" charset="0"/>
                <a:cs typeface="Times New Roman" panose="02020603050405020304" pitchFamily="18" charset="0"/>
                <a:hlinkClick r:id="rId4"/>
              </a:rPr>
              <a:t>Chronic Kidney Disease Dataset</a:t>
            </a:r>
            <a:r>
              <a:rPr lang="en-US" sz="1700">
                <a:solidFill>
                  <a:schemeClr val="bg1"/>
                </a:solidFill>
                <a:latin typeface="Times New Roman" panose="02020603050405020304" pitchFamily="18" charset="0"/>
                <a:cs typeface="Times New Roman" panose="02020603050405020304" pitchFamily="18" charset="0"/>
                <a:hlinkClick r:id="rId4"/>
              </a:rPr>
              <a:t> [Data set]. Kaggle.</a:t>
            </a:r>
            <a:endParaRPr lang="en-US" sz="1700">
              <a:solidFill>
                <a:schemeClr val="bg1"/>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1700">
                <a:solidFill>
                  <a:schemeClr val="bg1"/>
                </a:solidFill>
                <a:latin typeface="Times New Roman" panose="02020603050405020304" pitchFamily="18" charset="0"/>
                <a:cs typeface="Times New Roman" panose="02020603050405020304" pitchFamily="18" charset="0"/>
                <a:hlinkClick r:id="rId5"/>
              </a:rPr>
              <a:t>Singh, Dr. (2025). Performance Evaluation of Advanced Machine Learning Models for Chronic Kidney Disease Classification and Prediction. 46. 554-570.</a:t>
            </a:r>
            <a:endParaRPr lang="en-IN" sz="1700">
              <a:solidFill>
                <a:schemeClr val="bg1"/>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1700">
                <a:solidFill>
                  <a:schemeClr val="bg1"/>
                </a:solidFill>
                <a:latin typeface="Times New Roman" panose="02020603050405020304" pitchFamily="18" charset="0"/>
                <a:cs typeface="Times New Roman" panose="02020603050405020304" pitchFamily="18" charset="0"/>
              </a:rPr>
              <a:t>Kaur H, Kumari V (2022), "Predictive modelling and analytics for diabetes using a machine learning approach". </a:t>
            </a:r>
            <a:r>
              <a:rPr lang="en-US" sz="1700" i="1">
                <a:solidFill>
                  <a:schemeClr val="bg1"/>
                </a:solidFill>
                <a:latin typeface="Times New Roman" panose="02020603050405020304" pitchFamily="18" charset="0"/>
                <a:cs typeface="Times New Roman" panose="02020603050405020304" pitchFamily="18" charset="0"/>
              </a:rPr>
              <a:t>Applied Computing and Informatics</a:t>
            </a:r>
            <a:r>
              <a:rPr lang="en-US" sz="1700">
                <a:solidFill>
                  <a:schemeClr val="bg1"/>
                </a:solidFill>
                <a:latin typeface="Times New Roman" panose="02020603050405020304" pitchFamily="18" charset="0"/>
                <a:cs typeface="Times New Roman" panose="02020603050405020304" pitchFamily="18" charset="0"/>
              </a:rPr>
              <a:t>, Vol. 18 No. 1-2 pp. 90–100, doi:</a:t>
            </a:r>
            <a:r>
              <a:rPr lang="en-IN" sz="1700">
                <a:solidFill>
                  <a:schemeClr val="bg1"/>
                </a:solidFill>
                <a:latin typeface="Times New Roman" panose="02020603050405020304" pitchFamily="18" charset="0"/>
                <a:cs typeface="Times New Roman" panose="02020603050405020304" pitchFamily="18" charset="0"/>
                <a:hlinkClick r:id="rId6"/>
              </a:rPr>
              <a:t>https://doi.org/10.1016/j.aci.2018.12.004</a:t>
            </a:r>
            <a:endParaRPr lang="en-IN" sz="1700">
              <a:solidFill>
                <a:schemeClr val="bg1"/>
              </a:solidFill>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1150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5C8908E2-EE49-44D2-9428-A28D2312A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59" name="Group 58">
            <a:extLst>
              <a:ext uri="{FF2B5EF4-FFF2-40B4-BE49-F238E27FC236}">
                <a16:creationId xmlns:a16="http://schemas.microsoft.com/office/drawing/2014/main" id="{05314994-6337-4875-8CF5-652CAFE834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1999" cy="4267200"/>
            <a:chOff x="7467600" y="0"/>
            <a:chExt cx="4724400" cy="6858000"/>
          </a:xfrm>
        </p:grpSpPr>
        <p:sp>
          <p:nvSpPr>
            <p:cNvPr id="60" name="Rectangle 59">
              <a:extLst>
                <a:ext uri="{FF2B5EF4-FFF2-40B4-BE49-F238E27FC236}">
                  <a16:creationId xmlns:a16="http://schemas.microsoft.com/office/drawing/2014/main" id="{B3A2D4D6-D501-439A-9FC6-397879C465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5CD20BAA-1998-4EBB-AD61-13A92072E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63" name="Freeform: Shape 62">
            <a:extLst>
              <a:ext uri="{FF2B5EF4-FFF2-40B4-BE49-F238E27FC236}">
                <a16:creationId xmlns:a16="http://schemas.microsoft.com/office/drawing/2014/main" id="{7449A6C7-D15F-4AA5-BFA5-71A404B47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267200"/>
          </a:xfrm>
          <a:custGeom>
            <a:avLst/>
            <a:gdLst>
              <a:gd name="connsiteX0" fmla="*/ 2537169 w 12192000"/>
              <a:gd name="connsiteY0" fmla="*/ 4125568 h 4267200"/>
              <a:gd name="connsiteX1" fmla="*/ 3246267 w 12192000"/>
              <a:gd name="connsiteY1" fmla="*/ 4262961 h 4267200"/>
              <a:gd name="connsiteX2" fmla="*/ 3253970 w 12192000"/>
              <a:gd name="connsiteY2" fmla="*/ 4267200 h 4267200"/>
              <a:gd name="connsiteX3" fmla="*/ 3071791 w 12192000"/>
              <a:gd name="connsiteY3" fmla="*/ 4267200 h 4267200"/>
              <a:gd name="connsiteX4" fmla="*/ 2975095 w 12192000"/>
              <a:gd name="connsiteY4" fmla="*/ 4243356 h 4267200"/>
              <a:gd name="connsiteX5" fmla="*/ 2626982 w 12192000"/>
              <a:gd name="connsiteY5" fmla="*/ 4206450 h 4267200"/>
              <a:gd name="connsiteX6" fmla="*/ 2490617 w 12192000"/>
              <a:gd name="connsiteY6" fmla="*/ 4206951 h 4267200"/>
              <a:gd name="connsiteX7" fmla="*/ 2819869 w 12192000"/>
              <a:gd name="connsiteY7" fmla="*/ 4252936 h 4267200"/>
              <a:gd name="connsiteX8" fmla="*/ 2900997 w 12192000"/>
              <a:gd name="connsiteY8" fmla="*/ 4267200 h 4267200"/>
              <a:gd name="connsiteX9" fmla="*/ 2705858 w 12192000"/>
              <a:gd name="connsiteY9" fmla="*/ 4267200 h 4267200"/>
              <a:gd name="connsiteX10" fmla="*/ 2561467 w 12192000"/>
              <a:gd name="connsiteY10" fmla="*/ 4246270 h 4267200"/>
              <a:gd name="connsiteX11" fmla="*/ 2305292 w 12192000"/>
              <a:gd name="connsiteY11" fmla="*/ 4219492 h 4267200"/>
              <a:gd name="connsiteX12" fmla="*/ 2409349 w 12192000"/>
              <a:gd name="connsiteY12" fmla="*/ 4267200 h 4267200"/>
              <a:gd name="connsiteX13" fmla="*/ 2266705 w 12192000"/>
              <a:gd name="connsiteY13" fmla="*/ 4267200 h 4267200"/>
              <a:gd name="connsiteX14" fmla="*/ 2183576 w 12192000"/>
              <a:gd name="connsiteY14" fmla="*/ 4227150 h 4267200"/>
              <a:gd name="connsiteX15" fmla="*/ 2151029 w 12192000"/>
              <a:gd name="connsiteY15" fmla="*/ 4146947 h 4267200"/>
              <a:gd name="connsiteX16" fmla="*/ 2537169 w 12192000"/>
              <a:gd name="connsiteY16" fmla="*/ 4125568 h 4267200"/>
              <a:gd name="connsiteX17" fmla="*/ 9258094 w 12192000"/>
              <a:gd name="connsiteY17" fmla="*/ 3958602 h 4267200"/>
              <a:gd name="connsiteX18" fmla="*/ 8526712 w 12192000"/>
              <a:gd name="connsiteY18" fmla="*/ 4119804 h 4267200"/>
              <a:gd name="connsiteX19" fmla="*/ 9258094 w 12192000"/>
              <a:gd name="connsiteY19" fmla="*/ 3958602 h 4267200"/>
              <a:gd name="connsiteX20" fmla="*/ 9168987 w 12192000"/>
              <a:gd name="connsiteY20" fmla="*/ 3919232 h 4267200"/>
              <a:gd name="connsiteX21" fmla="*/ 8603910 w 12192000"/>
              <a:gd name="connsiteY21" fmla="*/ 4068895 h 4267200"/>
              <a:gd name="connsiteX22" fmla="*/ 9252382 w 12192000"/>
              <a:gd name="connsiteY22" fmla="*/ 3927759 h 4267200"/>
              <a:gd name="connsiteX23" fmla="*/ 9168987 w 12192000"/>
              <a:gd name="connsiteY23" fmla="*/ 3919232 h 4267200"/>
              <a:gd name="connsiteX24" fmla="*/ 1635889 w 12192000"/>
              <a:gd name="connsiteY24" fmla="*/ 3709494 h 4267200"/>
              <a:gd name="connsiteX25" fmla="*/ 1634800 w 12192000"/>
              <a:gd name="connsiteY25" fmla="*/ 3731111 h 4267200"/>
              <a:gd name="connsiteX26" fmla="*/ 1635889 w 12192000"/>
              <a:gd name="connsiteY26" fmla="*/ 3709494 h 4267200"/>
              <a:gd name="connsiteX27" fmla="*/ 3174829 w 12192000"/>
              <a:gd name="connsiteY27" fmla="*/ 3620110 h 4267200"/>
              <a:gd name="connsiteX28" fmla="*/ 3189263 w 12192000"/>
              <a:gd name="connsiteY28" fmla="*/ 3625726 h 4267200"/>
              <a:gd name="connsiteX29" fmla="*/ 3560912 w 12192000"/>
              <a:gd name="connsiteY29" fmla="*/ 4079863 h 4267200"/>
              <a:gd name="connsiteX30" fmla="*/ 3611854 w 12192000"/>
              <a:gd name="connsiteY30" fmla="*/ 4188366 h 4267200"/>
              <a:gd name="connsiteX31" fmla="*/ 3631583 w 12192000"/>
              <a:gd name="connsiteY31" fmla="*/ 4267200 h 4267200"/>
              <a:gd name="connsiteX32" fmla="*/ 3575699 w 12192000"/>
              <a:gd name="connsiteY32" fmla="*/ 4267200 h 4267200"/>
              <a:gd name="connsiteX33" fmla="*/ 3575567 w 12192000"/>
              <a:gd name="connsiteY33" fmla="*/ 4263588 h 4267200"/>
              <a:gd name="connsiteX34" fmla="*/ 3467355 w 12192000"/>
              <a:gd name="connsiteY34" fmla="*/ 3988130 h 4267200"/>
              <a:gd name="connsiteX35" fmla="*/ 3310753 w 12192000"/>
              <a:gd name="connsiteY35" fmla="*/ 3787140 h 4267200"/>
              <a:gd name="connsiteX36" fmla="*/ 3291335 w 12192000"/>
              <a:gd name="connsiteY36" fmla="*/ 3767420 h 4267200"/>
              <a:gd name="connsiteX37" fmla="*/ 3390805 w 12192000"/>
              <a:gd name="connsiteY37" fmla="*/ 3937163 h 4267200"/>
              <a:gd name="connsiteX38" fmla="*/ 3545740 w 12192000"/>
              <a:gd name="connsiteY38" fmla="*/ 4251102 h 4267200"/>
              <a:gd name="connsiteX39" fmla="*/ 3550709 w 12192000"/>
              <a:gd name="connsiteY39" fmla="*/ 4267200 h 4267200"/>
              <a:gd name="connsiteX40" fmla="*/ 3513586 w 12192000"/>
              <a:gd name="connsiteY40" fmla="*/ 4267200 h 4267200"/>
              <a:gd name="connsiteX41" fmla="*/ 3470728 w 12192000"/>
              <a:gd name="connsiteY41" fmla="*/ 4152456 h 4267200"/>
              <a:gd name="connsiteX42" fmla="*/ 3364433 w 12192000"/>
              <a:gd name="connsiteY42" fmla="*/ 3953121 h 4267200"/>
              <a:gd name="connsiteX43" fmla="*/ 3316479 w 12192000"/>
              <a:gd name="connsiteY43" fmla="*/ 3872136 h 4267200"/>
              <a:gd name="connsiteX44" fmla="*/ 3504482 w 12192000"/>
              <a:gd name="connsiteY44" fmla="*/ 4267200 h 4267200"/>
              <a:gd name="connsiteX45" fmla="*/ 3467547 w 12192000"/>
              <a:gd name="connsiteY45" fmla="*/ 4267200 h 4267200"/>
              <a:gd name="connsiteX46" fmla="*/ 3177952 w 12192000"/>
              <a:gd name="connsiteY46" fmla="*/ 3657386 h 4267200"/>
              <a:gd name="connsiteX47" fmla="*/ 3174829 w 12192000"/>
              <a:gd name="connsiteY47" fmla="*/ 3620110 h 4267200"/>
              <a:gd name="connsiteX48" fmla="*/ 11279315 w 12192000"/>
              <a:gd name="connsiteY48" fmla="*/ 3618448 h 4267200"/>
              <a:gd name="connsiteX49" fmla="*/ 11317765 w 12192000"/>
              <a:gd name="connsiteY49" fmla="*/ 3638405 h 4267200"/>
              <a:gd name="connsiteX50" fmla="*/ 11304886 w 12192000"/>
              <a:gd name="connsiteY50" fmla="*/ 4200582 h 4267200"/>
              <a:gd name="connsiteX51" fmla="*/ 11298904 w 12192000"/>
              <a:gd name="connsiteY51" fmla="*/ 4267200 h 4267200"/>
              <a:gd name="connsiteX52" fmla="*/ 11213088 w 12192000"/>
              <a:gd name="connsiteY52" fmla="*/ 4267200 h 4267200"/>
              <a:gd name="connsiteX53" fmla="*/ 11219157 w 12192000"/>
              <a:gd name="connsiteY53" fmla="*/ 4210725 h 4267200"/>
              <a:gd name="connsiteX54" fmla="*/ 11225213 w 12192000"/>
              <a:gd name="connsiteY54" fmla="*/ 3936722 h 4267200"/>
              <a:gd name="connsiteX55" fmla="*/ 11182914 w 12192000"/>
              <a:gd name="connsiteY55" fmla="*/ 4196771 h 4267200"/>
              <a:gd name="connsiteX56" fmla="*/ 11172266 w 12192000"/>
              <a:gd name="connsiteY56" fmla="*/ 4267200 h 4267200"/>
              <a:gd name="connsiteX57" fmla="*/ 11140975 w 12192000"/>
              <a:gd name="connsiteY57" fmla="*/ 4267200 h 4267200"/>
              <a:gd name="connsiteX58" fmla="*/ 11152239 w 12192000"/>
              <a:gd name="connsiteY58" fmla="*/ 4192628 h 4267200"/>
              <a:gd name="connsiteX59" fmla="*/ 11201005 w 12192000"/>
              <a:gd name="connsiteY59" fmla="*/ 3900089 h 4267200"/>
              <a:gd name="connsiteX60" fmla="*/ 11105754 w 12192000"/>
              <a:gd name="connsiteY60" fmla="*/ 4139192 h 4267200"/>
              <a:gd name="connsiteX61" fmla="*/ 11065821 w 12192000"/>
              <a:gd name="connsiteY61" fmla="*/ 4267200 h 4267200"/>
              <a:gd name="connsiteX62" fmla="*/ 10978133 w 12192000"/>
              <a:gd name="connsiteY62" fmla="*/ 4267200 h 4267200"/>
              <a:gd name="connsiteX63" fmla="*/ 11088889 w 12192000"/>
              <a:gd name="connsiteY63" fmla="*/ 3963916 h 4267200"/>
              <a:gd name="connsiteX64" fmla="*/ 11231212 w 12192000"/>
              <a:gd name="connsiteY64" fmla="*/ 3645474 h 4267200"/>
              <a:gd name="connsiteX65" fmla="*/ 11279315 w 12192000"/>
              <a:gd name="connsiteY65" fmla="*/ 3618448 h 4267200"/>
              <a:gd name="connsiteX66" fmla="*/ 10296877 w 12192000"/>
              <a:gd name="connsiteY66" fmla="*/ 3526602 h 4267200"/>
              <a:gd name="connsiteX67" fmla="*/ 10314210 w 12192000"/>
              <a:gd name="connsiteY67" fmla="*/ 3538353 h 4267200"/>
              <a:gd name="connsiteX68" fmla="*/ 10450858 w 12192000"/>
              <a:gd name="connsiteY68" fmla="*/ 3902477 h 4267200"/>
              <a:gd name="connsiteX69" fmla="*/ 10572255 w 12192000"/>
              <a:gd name="connsiteY69" fmla="*/ 4267200 h 4267200"/>
              <a:gd name="connsiteX70" fmla="*/ 10477642 w 12192000"/>
              <a:gd name="connsiteY70" fmla="*/ 4267200 h 4267200"/>
              <a:gd name="connsiteX71" fmla="*/ 10436479 w 12192000"/>
              <a:gd name="connsiteY71" fmla="*/ 4144570 h 4267200"/>
              <a:gd name="connsiteX72" fmla="*/ 10277529 w 12192000"/>
              <a:gd name="connsiteY72" fmla="*/ 3701307 h 4267200"/>
              <a:gd name="connsiteX73" fmla="*/ 10276797 w 12192000"/>
              <a:gd name="connsiteY73" fmla="*/ 3708672 h 4267200"/>
              <a:gd name="connsiteX74" fmla="*/ 10385906 w 12192000"/>
              <a:gd name="connsiteY74" fmla="*/ 4147031 h 4267200"/>
              <a:gd name="connsiteX75" fmla="*/ 10431445 w 12192000"/>
              <a:gd name="connsiteY75" fmla="*/ 4267200 h 4267200"/>
              <a:gd name="connsiteX76" fmla="*/ 10398237 w 12192000"/>
              <a:gd name="connsiteY76" fmla="*/ 4267200 h 4267200"/>
              <a:gd name="connsiteX77" fmla="*/ 10356661 w 12192000"/>
              <a:gd name="connsiteY77" fmla="*/ 4157302 h 4267200"/>
              <a:gd name="connsiteX78" fmla="*/ 10268559 w 12192000"/>
              <a:gd name="connsiteY78" fmla="*/ 3871054 h 4267200"/>
              <a:gd name="connsiteX79" fmla="*/ 10340065 w 12192000"/>
              <a:gd name="connsiteY79" fmla="*/ 4201637 h 4267200"/>
              <a:gd name="connsiteX80" fmla="*/ 10368861 w 12192000"/>
              <a:gd name="connsiteY80" fmla="*/ 4267200 h 4267200"/>
              <a:gd name="connsiteX81" fmla="*/ 10267862 w 12192000"/>
              <a:gd name="connsiteY81" fmla="*/ 4267200 h 4267200"/>
              <a:gd name="connsiteX82" fmla="*/ 10236210 w 12192000"/>
              <a:gd name="connsiteY82" fmla="*/ 4185635 h 4267200"/>
              <a:gd name="connsiteX83" fmla="*/ 10225980 w 12192000"/>
              <a:gd name="connsiteY83" fmla="*/ 3561061 h 4267200"/>
              <a:gd name="connsiteX84" fmla="*/ 10296877 w 12192000"/>
              <a:gd name="connsiteY84" fmla="*/ 3526602 h 4267200"/>
              <a:gd name="connsiteX85" fmla="*/ 3429186 w 12192000"/>
              <a:gd name="connsiteY85" fmla="*/ 3458784 h 4267200"/>
              <a:gd name="connsiteX86" fmla="*/ 3446761 w 12192000"/>
              <a:gd name="connsiteY86" fmla="*/ 3461278 h 4267200"/>
              <a:gd name="connsiteX87" fmla="*/ 4419733 w 12192000"/>
              <a:gd name="connsiteY87" fmla="*/ 3963555 h 4267200"/>
              <a:gd name="connsiteX88" fmla="*/ 4659448 w 12192000"/>
              <a:gd name="connsiteY88" fmla="*/ 4172746 h 4267200"/>
              <a:gd name="connsiteX89" fmla="*/ 4719140 w 12192000"/>
              <a:gd name="connsiteY89" fmla="*/ 4267200 h 4267200"/>
              <a:gd name="connsiteX90" fmla="*/ 4641222 w 12192000"/>
              <a:gd name="connsiteY90" fmla="*/ 4267200 h 4267200"/>
              <a:gd name="connsiteX91" fmla="*/ 4599968 w 12192000"/>
              <a:gd name="connsiteY91" fmla="*/ 4207074 h 4267200"/>
              <a:gd name="connsiteX92" fmla="*/ 4136093 w 12192000"/>
              <a:gd name="connsiteY92" fmla="*/ 3858466 h 4267200"/>
              <a:gd name="connsiteX93" fmla="*/ 3670252 w 12192000"/>
              <a:gd name="connsiteY93" fmla="*/ 3622798 h 4267200"/>
              <a:gd name="connsiteX94" fmla="*/ 3817258 w 12192000"/>
              <a:gd name="connsiteY94" fmla="*/ 3723577 h 4267200"/>
              <a:gd name="connsiteX95" fmla="*/ 4000461 w 12192000"/>
              <a:gd name="connsiteY95" fmla="*/ 3855966 h 4267200"/>
              <a:gd name="connsiteX96" fmla="*/ 4088180 w 12192000"/>
              <a:gd name="connsiteY96" fmla="*/ 3929774 h 4267200"/>
              <a:gd name="connsiteX97" fmla="*/ 4184555 w 12192000"/>
              <a:gd name="connsiteY97" fmla="*/ 4010683 h 4267200"/>
              <a:gd name="connsiteX98" fmla="*/ 4399563 w 12192000"/>
              <a:gd name="connsiteY98" fmla="*/ 4158106 h 4267200"/>
              <a:gd name="connsiteX99" fmla="*/ 4546299 w 12192000"/>
              <a:gd name="connsiteY99" fmla="*/ 4254934 h 4267200"/>
              <a:gd name="connsiteX100" fmla="*/ 4561743 w 12192000"/>
              <a:gd name="connsiteY100" fmla="*/ 4267200 h 4267200"/>
              <a:gd name="connsiteX101" fmla="*/ 4509274 w 12192000"/>
              <a:gd name="connsiteY101" fmla="*/ 4267200 h 4267200"/>
              <a:gd name="connsiteX102" fmla="*/ 4383389 w 12192000"/>
              <a:gd name="connsiteY102" fmla="*/ 4184369 h 4267200"/>
              <a:gd name="connsiteX103" fmla="*/ 4165508 w 12192000"/>
              <a:gd name="connsiteY103" fmla="*/ 4035196 h 4267200"/>
              <a:gd name="connsiteX104" fmla="*/ 4068162 w 12192000"/>
              <a:gd name="connsiteY104" fmla="*/ 3953394 h 4267200"/>
              <a:gd name="connsiteX105" fmla="*/ 3981416 w 12192000"/>
              <a:gd name="connsiteY105" fmla="*/ 3880482 h 4267200"/>
              <a:gd name="connsiteX106" fmla="*/ 3800147 w 12192000"/>
              <a:gd name="connsiteY106" fmla="*/ 3749872 h 4267200"/>
              <a:gd name="connsiteX107" fmla="*/ 3655073 w 12192000"/>
              <a:gd name="connsiteY107" fmla="*/ 3650884 h 4267200"/>
              <a:gd name="connsiteX108" fmla="*/ 3989938 w 12192000"/>
              <a:gd name="connsiteY108" fmla="*/ 3991685 h 4267200"/>
              <a:gd name="connsiteX109" fmla="*/ 4393907 w 12192000"/>
              <a:gd name="connsiteY109" fmla="*/ 4261258 h 4267200"/>
              <a:gd name="connsiteX110" fmla="*/ 4408201 w 12192000"/>
              <a:gd name="connsiteY110" fmla="*/ 4267200 h 4267200"/>
              <a:gd name="connsiteX111" fmla="*/ 4250346 w 12192000"/>
              <a:gd name="connsiteY111" fmla="*/ 4267200 h 4267200"/>
              <a:gd name="connsiteX112" fmla="*/ 4245269 w 12192000"/>
              <a:gd name="connsiteY112" fmla="*/ 4265040 h 4267200"/>
              <a:gd name="connsiteX113" fmla="*/ 4036318 w 12192000"/>
              <a:gd name="connsiteY113" fmla="*/ 4147013 h 4267200"/>
              <a:gd name="connsiteX114" fmla="*/ 3432098 w 12192000"/>
              <a:gd name="connsiteY114" fmla="*/ 3537312 h 4267200"/>
              <a:gd name="connsiteX115" fmla="*/ 3429186 w 12192000"/>
              <a:gd name="connsiteY115" fmla="*/ 3458784 h 4267200"/>
              <a:gd name="connsiteX116" fmla="*/ 9334796 w 12192000"/>
              <a:gd name="connsiteY116" fmla="*/ 3456584 h 4267200"/>
              <a:gd name="connsiteX117" fmla="*/ 9651570 w 12192000"/>
              <a:gd name="connsiteY117" fmla="*/ 3826505 h 4267200"/>
              <a:gd name="connsiteX118" fmla="*/ 9334796 w 12192000"/>
              <a:gd name="connsiteY118" fmla="*/ 3456584 h 4267200"/>
              <a:gd name="connsiteX119" fmla="*/ 4440129 w 12192000"/>
              <a:gd name="connsiteY119" fmla="*/ 3448571 h 4267200"/>
              <a:gd name="connsiteX120" fmla="*/ 4856525 w 12192000"/>
              <a:gd name="connsiteY120" fmla="*/ 3915351 h 4267200"/>
              <a:gd name="connsiteX121" fmla="*/ 5059055 w 12192000"/>
              <a:gd name="connsiteY121" fmla="*/ 4108918 h 4267200"/>
              <a:gd name="connsiteX122" fmla="*/ 5290070 w 12192000"/>
              <a:gd name="connsiteY122" fmla="*/ 4263619 h 4267200"/>
              <a:gd name="connsiteX123" fmla="*/ 4834991 w 12192000"/>
              <a:gd name="connsiteY123" fmla="*/ 3830985 h 4267200"/>
              <a:gd name="connsiteX124" fmla="*/ 4440129 w 12192000"/>
              <a:gd name="connsiteY124" fmla="*/ 3448571 h 4267200"/>
              <a:gd name="connsiteX125" fmla="*/ 5425834 w 12192000"/>
              <a:gd name="connsiteY125" fmla="*/ 3162785 h 4267200"/>
              <a:gd name="connsiteX126" fmla="*/ 5401644 w 12192000"/>
              <a:gd name="connsiteY126" fmla="*/ 3617847 h 4267200"/>
              <a:gd name="connsiteX127" fmla="*/ 5467256 w 12192000"/>
              <a:gd name="connsiteY127" fmla="*/ 4175494 h 4267200"/>
              <a:gd name="connsiteX128" fmla="*/ 5448069 w 12192000"/>
              <a:gd name="connsiteY128" fmla="*/ 3567554 h 4267200"/>
              <a:gd name="connsiteX129" fmla="*/ 1318687 w 12192000"/>
              <a:gd name="connsiteY129" fmla="*/ 3113840 h 4267200"/>
              <a:gd name="connsiteX130" fmla="*/ 1066793 w 12192000"/>
              <a:gd name="connsiteY130" fmla="*/ 3212171 h 4267200"/>
              <a:gd name="connsiteX131" fmla="*/ 993319 w 12192000"/>
              <a:gd name="connsiteY131" fmla="*/ 3247648 h 4267200"/>
              <a:gd name="connsiteX132" fmla="*/ 853081 w 12192000"/>
              <a:gd name="connsiteY132" fmla="*/ 3312410 h 4267200"/>
              <a:gd name="connsiteX133" fmla="*/ 805957 w 12192000"/>
              <a:gd name="connsiteY133" fmla="*/ 3330443 h 4267200"/>
              <a:gd name="connsiteX134" fmla="*/ 1318687 w 12192000"/>
              <a:gd name="connsiteY134" fmla="*/ 3113840 h 4267200"/>
              <a:gd name="connsiteX135" fmla="*/ 5453702 w 12192000"/>
              <a:gd name="connsiteY135" fmla="*/ 3090882 h 4267200"/>
              <a:gd name="connsiteX136" fmla="*/ 5480135 w 12192000"/>
              <a:gd name="connsiteY136" fmla="*/ 3565802 h 4267200"/>
              <a:gd name="connsiteX137" fmla="*/ 5499023 w 12192000"/>
              <a:gd name="connsiteY137" fmla="*/ 4166310 h 4267200"/>
              <a:gd name="connsiteX138" fmla="*/ 5547022 w 12192000"/>
              <a:gd name="connsiteY138" fmla="*/ 3607838 h 4267200"/>
              <a:gd name="connsiteX139" fmla="*/ 5515964 w 12192000"/>
              <a:gd name="connsiteY139" fmla="*/ 3378541 h 4267200"/>
              <a:gd name="connsiteX140" fmla="*/ 5453702 w 12192000"/>
              <a:gd name="connsiteY140" fmla="*/ 3090882 h 4267200"/>
              <a:gd name="connsiteX141" fmla="*/ 9790480 w 12192000"/>
              <a:gd name="connsiteY141" fmla="*/ 3078533 h 4267200"/>
              <a:gd name="connsiteX142" fmla="*/ 9763295 w 12192000"/>
              <a:gd name="connsiteY142" fmla="*/ 3245370 h 4267200"/>
              <a:gd name="connsiteX143" fmla="*/ 9736458 w 12192000"/>
              <a:gd name="connsiteY143" fmla="*/ 3758413 h 4267200"/>
              <a:gd name="connsiteX144" fmla="*/ 9763499 w 12192000"/>
              <a:gd name="connsiteY144" fmla="*/ 3528057 h 4267200"/>
              <a:gd name="connsiteX145" fmla="*/ 9793906 w 12192000"/>
              <a:gd name="connsiteY145" fmla="*/ 3231157 h 4267200"/>
              <a:gd name="connsiteX146" fmla="*/ 9791874 w 12192000"/>
              <a:gd name="connsiteY146" fmla="*/ 3142788 h 4267200"/>
              <a:gd name="connsiteX147" fmla="*/ 9790480 w 12192000"/>
              <a:gd name="connsiteY147" fmla="*/ 3078533 h 4267200"/>
              <a:gd name="connsiteX148" fmla="*/ 1238695 w 12192000"/>
              <a:gd name="connsiteY148" fmla="*/ 3076820 h 4267200"/>
              <a:gd name="connsiteX149" fmla="*/ 716371 w 12192000"/>
              <a:gd name="connsiteY149" fmla="*/ 3293249 h 4267200"/>
              <a:gd name="connsiteX150" fmla="*/ 579522 w 12192000"/>
              <a:gd name="connsiteY150" fmla="*/ 3371759 h 4267200"/>
              <a:gd name="connsiteX151" fmla="*/ 600288 w 12192000"/>
              <a:gd name="connsiteY151" fmla="*/ 3365555 h 4267200"/>
              <a:gd name="connsiteX152" fmla="*/ 840692 w 12192000"/>
              <a:gd name="connsiteY152" fmla="*/ 3284921 h 4267200"/>
              <a:gd name="connsiteX153" fmla="*/ 979248 w 12192000"/>
              <a:gd name="connsiteY153" fmla="*/ 3221003 h 4267200"/>
              <a:gd name="connsiteX154" fmla="*/ 1053282 w 12192000"/>
              <a:gd name="connsiteY154" fmla="*/ 3185247 h 4267200"/>
              <a:gd name="connsiteX155" fmla="*/ 1320603 w 12192000"/>
              <a:gd name="connsiteY155" fmla="*/ 3081281 h 4267200"/>
              <a:gd name="connsiteX156" fmla="*/ 1238695 w 12192000"/>
              <a:gd name="connsiteY156" fmla="*/ 3076820 h 4267200"/>
              <a:gd name="connsiteX157" fmla="*/ 5425627 w 12192000"/>
              <a:gd name="connsiteY157" fmla="*/ 2954192 h 4267200"/>
              <a:gd name="connsiteX158" fmla="*/ 5470770 w 12192000"/>
              <a:gd name="connsiteY158" fmla="*/ 3005435 h 4267200"/>
              <a:gd name="connsiteX159" fmla="*/ 5567647 w 12192000"/>
              <a:gd name="connsiteY159" fmla="*/ 4190286 h 4267200"/>
              <a:gd name="connsiteX160" fmla="*/ 5545854 w 12192000"/>
              <a:gd name="connsiteY160" fmla="*/ 4267200 h 4267200"/>
              <a:gd name="connsiteX161" fmla="*/ 5391871 w 12192000"/>
              <a:gd name="connsiteY161" fmla="*/ 4267200 h 4267200"/>
              <a:gd name="connsiteX162" fmla="*/ 5318171 w 12192000"/>
              <a:gd name="connsiteY162" fmla="*/ 4175818 h 4267200"/>
              <a:gd name="connsiteX163" fmla="*/ 4943646 w 12192000"/>
              <a:gd name="connsiteY163" fmla="*/ 3822916 h 4267200"/>
              <a:gd name="connsiteX164" fmla="*/ 4594837 w 12192000"/>
              <a:gd name="connsiteY164" fmla="*/ 3532274 h 4267200"/>
              <a:gd name="connsiteX165" fmla="*/ 4441737 w 12192000"/>
              <a:gd name="connsiteY165" fmla="*/ 3399734 h 4267200"/>
              <a:gd name="connsiteX166" fmla="*/ 4431236 w 12192000"/>
              <a:gd name="connsiteY166" fmla="*/ 3400954 h 4267200"/>
              <a:gd name="connsiteX167" fmla="*/ 4557150 w 12192000"/>
              <a:gd name="connsiteY167" fmla="*/ 3510023 h 4267200"/>
              <a:gd name="connsiteX168" fmla="*/ 4856936 w 12192000"/>
              <a:gd name="connsiteY168" fmla="*/ 3809146 h 4267200"/>
              <a:gd name="connsiteX169" fmla="*/ 5111996 w 12192000"/>
              <a:gd name="connsiteY169" fmla="*/ 4065759 h 4267200"/>
              <a:gd name="connsiteX170" fmla="*/ 5246890 w 12192000"/>
              <a:gd name="connsiteY170" fmla="*/ 4187633 h 4267200"/>
              <a:gd name="connsiteX171" fmla="*/ 5347266 w 12192000"/>
              <a:gd name="connsiteY171" fmla="*/ 4267200 h 4267200"/>
              <a:gd name="connsiteX172" fmla="*/ 5164092 w 12192000"/>
              <a:gd name="connsiteY172" fmla="*/ 4267200 h 4267200"/>
              <a:gd name="connsiteX173" fmla="*/ 5108945 w 12192000"/>
              <a:gd name="connsiteY173" fmla="*/ 4232176 h 4267200"/>
              <a:gd name="connsiteX174" fmla="*/ 4294126 w 12192000"/>
              <a:gd name="connsiteY174" fmla="*/ 3303048 h 4267200"/>
              <a:gd name="connsiteX175" fmla="*/ 4305321 w 12192000"/>
              <a:gd name="connsiteY175" fmla="*/ 3256953 h 4267200"/>
              <a:gd name="connsiteX176" fmla="*/ 4949299 w 12192000"/>
              <a:gd name="connsiteY176" fmla="*/ 3766336 h 4267200"/>
              <a:gd name="connsiteX177" fmla="*/ 5291452 w 12192000"/>
              <a:gd name="connsiteY177" fmla="*/ 4076801 h 4267200"/>
              <a:gd name="connsiteX178" fmla="*/ 5434998 w 12192000"/>
              <a:gd name="connsiteY178" fmla="*/ 4254100 h 4267200"/>
              <a:gd name="connsiteX179" fmla="*/ 5351015 w 12192000"/>
              <a:gd name="connsiteY179" fmla="*/ 3760989 h 4267200"/>
              <a:gd name="connsiteX180" fmla="*/ 5413780 w 12192000"/>
              <a:gd name="connsiteY180" fmla="*/ 2966265 h 4267200"/>
              <a:gd name="connsiteX181" fmla="*/ 5425627 w 12192000"/>
              <a:gd name="connsiteY181" fmla="*/ 2954192 h 4267200"/>
              <a:gd name="connsiteX182" fmla="*/ 8380397 w 12192000"/>
              <a:gd name="connsiteY182" fmla="*/ 2896659 h 4267200"/>
              <a:gd name="connsiteX183" fmla="*/ 8634801 w 12192000"/>
              <a:gd name="connsiteY183" fmla="*/ 3304169 h 4267200"/>
              <a:gd name="connsiteX184" fmla="*/ 8971448 w 12192000"/>
              <a:gd name="connsiteY184" fmla="*/ 3675946 h 4267200"/>
              <a:gd name="connsiteX185" fmla="*/ 8820691 w 12192000"/>
              <a:gd name="connsiteY185" fmla="*/ 3486482 h 4267200"/>
              <a:gd name="connsiteX186" fmla="*/ 8807612 w 12192000"/>
              <a:gd name="connsiteY186" fmla="*/ 3467256 h 4267200"/>
              <a:gd name="connsiteX187" fmla="*/ 8556796 w 12192000"/>
              <a:gd name="connsiteY187" fmla="*/ 3116474 h 4267200"/>
              <a:gd name="connsiteX188" fmla="*/ 8427018 w 12192000"/>
              <a:gd name="connsiteY188" fmla="*/ 2948853 h 4267200"/>
              <a:gd name="connsiteX189" fmla="*/ 8380397 w 12192000"/>
              <a:gd name="connsiteY189" fmla="*/ 2896659 h 4267200"/>
              <a:gd name="connsiteX190" fmla="*/ 9831020 w 12192000"/>
              <a:gd name="connsiteY190" fmla="*/ 2871730 h 4267200"/>
              <a:gd name="connsiteX191" fmla="*/ 9827707 w 12192000"/>
              <a:gd name="connsiteY191" fmla="*/ 2915231 h 4267200"/>
              <a:gd name="connsiteX192" fmla="*/ 9820699 w 12192000"/>
              <a:gd name="connsiteY192" fmla="*/ 3051540 h 4267200"/>
              <a:gd name="connsiteX193" fmla="*/ 9822525 w 12192000"/>
              <a:gd name="connsiteY193" fmla="*/ 3140814 h 4267200"/>
              <a:gd name="connsiteX194" fmla="*/ 9824704 w 12192000"/>
              <a:gd name="connsiteY194" fmla="*/ 3230628 h 4267200"/>
              <a:gd name="connsiteX195" fmla="*/ 9793821 w 12192000"/>
              <a:gd name="connsiteY195" fmla="*/ 3531652 h 4267200"/>
              <a:gd name="connsiteX196" fmla="*/ 9767436 w 12192000"/>
              <a:gd name="connsiteY196" fmla="*/ 3750864 h 4267200"/>
              <a:gd name="connsiteX197" fmla="*/ 9814477 w 12192000"/>
              <a:gd name="connsiteY197" fmla="*/ 3662531 h 4267200"/>
              <a:gd name="connsiteX198" fmla="*/ 9831020 w 12192000"/>
              <a:gd name="connsiteY198" fmla="*/ 2871730 h 4267200"/>
              <a:gd name="connsiteX199" fmla="*/ 8380521 w 12192000"/>
              <a:gd name="connsiteY199" fmla="*/ 2850596 h 4267200"/>
              <a:gd name="connsiteX200" fmla="*/ 8451446 w 12192000"/>
              <a:gd name="connsiteY200" fmla="*/ 2928627 h 4267200"/>
              <a:gd name="connsiteX201" fmla="*/ 8582269 w 12192000"/>
              <a:gd name="connsiteY201" fmla="*/ 3097880 h 4267200"/>
              <a:gd name="connsiteX202" fmla="*/ 8833783 w 12192000"/>
              <a:gd name="connsiteY202" fmla="*/ 3449753 h 4267200"/>
              <a:gd name="connsiteX203" fmla="*/ 8846863 w 12192000"/>
              <a:gd name="connsiteY203" fmla="*/ 3468981 h 4267200"/>
              <a:gd name="connsiteX204" fmla="*/ 8960046 w 12192000"/>
              <a:gd name="connsiteY204" fmla="*/ 3620389 h 4267200"/>
              <a:gd name="connsiteX205" fmla="*/ 8380521 w 12192000"/>
              <a:gd name="connsiteY205" fmla="*/ 2850596 h 4267200"/>
              <a:gd name="connsiteX206" fmla="*/ 9854151 w 12192000"/>
              <a:gd name="connsiteY206" fmla="*/ 2642862 h 4267200"/>
              <a:gd name="connsiteX207" fmla="*/ 9871341 w 12192000"/>
              <a:gd name="connsiteY207" fmla="*/ 2659697 h 4267200"/>
              <a:gd name="connsiteX208" fmla="*/ 9966678 w 12192000"/>
              <a:gd name="connsiteY208" fmla="*/ 3423399 h 4267200"/>
              <a:gd name="connsiteX209" fmla="*/ 9880832 w 12192000"/>
              <a:gd name="connsiteY209" fmla="*/ 3700562 h 4267200"/>
              <a:gd name="connsiteX210" fmla="*/ 9896024 w 12192000"/>
              <a:gd name="connsiteY210" fmla="*/ 4178295 h 4267200"/>
              <a:gd name="connsiteX211" fmla="*/ 10028060 w 12192000"/>
              <a:gd name="connsiteY211" fmla="*/ 4267200 h 4267200"/>
              <a:gd name="connsiteX212" fmla="*/ 9651813 w 12192000"/>
              <a:gd name="connsiteY212" fmla="*/ 4267200 h 4267200"/>
              <a:gd name="connsiteX213" fmla="*/ 9814527 w 12192000"/>
              <a:gd name="connsiteY213" fmla="*/ 4248048 h 4267200"/>
              <a:gd name="connsiteX214" fmla="*/ 9615182 w 12192000"/>
              <a:gd name="connsiteY214" fmla="*/ 4220499 h 4267200"/>
              <a:gd name="connsiteX215" fmla="*/ 9465210 w 12192000"/>
              <a:gd name="connsiteY215" fmla="*/ 4242240 h 4267200"/>
              <a:gd name="connsiteX216" fmla="*/ 9387108 w 12192000"/>
              <a:gd name="connsiteY216" fmla="*/ 4267200 h 4267200"/>
              <a:gd name="connsiteX217" fmla="*/ 9268441 w 12192000"/>
              <a:gd name="connsiteY217" fmla="*/ 4267200 h 4267200"/>
              <a:gd name="connsiteX218" fmla="*/ 9307676 w 12192000"/>
              <a:gd name="connsiteY218" fmla="*/ 4251276 h 4267200"/>
              <a:gd name="connsiteX219" fmla="*/ 9761570 w 12192000"/>
              <a:gd name="connsiteY219" fmla="*/ 4182283 h 4267200"/>
              <a:gd name="connsiteX220" fmla="*/ 9368237 w 12192000"/>
              <a:gd name="connsiteY220" fmla="*/ 3949470 h 4267200"/>
              <a:gd name="connsiteX221" fmla="*/ 9354614 w 12192000"/>
              <a:gd name="connsiteY221" fmla="*/ 3951288 h 4267200"/>
              <a:gd name="connsiteX222" fmla="*/ 8364351 w 12192000"/>
              <a:gd name="connsiteY222" fmla="*/ 4159267 h 4267200"/>
              <a:gd name="connsiteX223" fmla="*/ 8386567 w 12192000"/>
              <a:gd name="connsiteY223" fmla="*/ 4119760 h 4267200"/>
              <a:gd name="connsiteX224" fmla="*/ 9231713 w 12192000"/>
              <a:gd name="connsiteY224" fmla="*/ 3873539 h 4267200"/>
              <a:gd name="connsiteX225" fmla="*/ 9023301 w 12192000"/>
              <a:gd name="connsiteY225" fmla="*/ 3763109 h 4267200"/>
              <a:gd name="connsiteX226" fmla="*/ 9010556 w 12192000"/>
              <a:gd name="connsiteY226" fmla="*/ 3758998 h 4267200"/>
              <a:gd name="connsiteX227" fmla="*/ 8604324 w 12192000"/>
              <a:gd name="connsiteY227" fmla="*/ 3417171 h 4267200"/>
              <a:gd name="connsiteX228" fmla="*/ 8218577 w 12192000"/>
              <a:gd name="connsiteY228" fmla="*/ 2770227 h 4267200"/>
              <a:gd name="connsiteX229" fmla="*/ 8222774 w 12192000"/>
              <a:gd name="connsiteY229" fmla="*/ 2749954 h 4267200"/>
              <a:gd name="connsiteX230" fmla="*/ 8297623 w 12192000"/>
              <a:gd name="connsiteY230" fmla="*/ 2731935 h 4267200"/>
              <a:gd name="connsiteX231" fmla="*/ 9090618 w 12192000"/>
              <a:gd name="connsiteY231" fmla="*/ 3716225 h 4267200"/>
              <a:gd name="connsiteX232" fmla="*/ 9762441 w 12192000"/>
              <a:gd name="connsiteY232" fmla="*/ 4093587 h 4267200"/>
              <a:gd name="connsiteX233" fmla="*/ 9717826 w 12192000"/>
              <a:gd name="connsiteY233" fmla="*/ 3916719 h 4267200"/>
              <a:gd name="connsiteX234" fmla="*/ 9713123 w 12192000"/>
              <a:gd name="connsiteY234" fmla="*/ 3916663 h 4267200"/>
              <a:gd name="connsiteX235" fmla="*/ 9175594 w 12192000"/>
              <a:gd name="connsiteY235" fmla="*/ 3326950 h 4267200"/>
              <a:gd name="connsiteX236" fmla="*/ 9253941 w 12192000"/>
              <a:gd name="connsiteY236" fmla="*/ 3287566 h 4267200"/>
              <a:gd name="connsiteX237" fmla="*/ 9625671 w 12192000"/>
              <a:gd name="connsiteY237" fmla="*/ 3639960 h 4267200"/>
              <a:gd name="connsiteX238" fmla="*/ 9656881 w 12192000"/>
              <a:gd name="connsiteY238" fmla="*/ 3333361 h 4267200"/>
              <a:gd name="connsiteX239" fmla="*/ 9782066 w 12192000"/>
              <a:gd name="connsiteY239" fmla="*/ 2680771 h 4267200"/>
              <a:gd name="connsiteX240" fmla="*/ 9854151 w 12192000"/>
              <a:gd name="connsiteY240" fmla="*/ 2642862 h 4267200"/>
              <a:gd name="connsiteX241" fmla="*/ 11114299 w 12192000"/>
              <a:gd name="connsiteY241" fmla="*/ 2390555 h 4267200"/>
              <a:gd name="connsiteX242" fmla="*/ 11113373 w 12192000"/>
              <a:gd name="connsiteY242" fmla="*/ 2392739 h 4267200"/>
              <a:gd name="connsiteX243" fmla="*/ 11117197 w 12192000"/>
              <a:gd name="connsiteY243" fmla="*/ 2394358 h 4267200"/>
              <a:gd name="connsiteX244" fmla="*/ 11114299 w 12192000"/>
              <a:gd name="connsiteY244" fmla="*/ 2390555 h 4267200"/>
              <a:gd name="connsiteX245" fmla="*/ 10506276 w 12192000"/>
              <a:gd name="connsiteY245" fmla="*/ 2118977 h 4267200"/>
              <a:gd name="connsiteX246" fmla="*/ 10431542 w 12192000"/>
              <a:gd name="connsiteY246" fmla="*/ 2525128 h 4267200"/>
              <a:gd name="connsiteX247" fmla="*/ 10391375 w 12192000"/>
              <a:gd name="connsiteY247" fmla="*/ 2667145 h 4267200"/>
              <a:gd name="connsiteX248" fmla="*/ 10355047 w 12192000"/>
              <a:gd name="connsiteY248" fmla="*/ 2832031 h 4267200"/>
              <a:gd name="connsiteX249" fmla="*/ 10336080 w 12192000"/>
              <a:gd name="connsiteY249" fmla="*/ 2927011 h 4267200"/>
              <a:gd name="connsiteX250" fmla="*/ 10389394 w 12192000"/>
              <a:gd name="connsiteY250" fmla="*/ 2782834 h 4267200"/>
              <a:gd name="connsiteX251" fmla="*/ 10506276 w 12192000"/>
              <a:gd name="connsiteY251" fmla="*/ 2118977 h 4267200"/>
              <a:gd name="connsiteX252" fmla="*/ 11538179 w 12192000"/>
              <a:gd name="connsiteY252" fmla="*/ 2090376 h 4267200"/>
              <a:gd name="connsiteX253" fmla="*/ 11577479 w 12192000"/>
              <a:gd name="connsiteY253" fmla="*/ 2228695 h 4267200"/>
              <a:gd name="connsiteX254" fmla="*/ 11586754 w 12192000"/>
              <a:gd name="connsiteY254" fmla="*/ 2266098 h 4267200"/>
              <a:gd name="connsiteX255" fmla="*/ 11609011 w 12192000"/>
              <a:gd name="connsiteY255" fmla="*/ 2353427 h 4267200"/>
              <a:gd name="connsiteX256" fmla="*/ 11761579 w 12192000"/>
              <a:gd name="connsiteY256" fmla="*/ 2703223 h 4267200"/>
              <a:gd name="connsiteX257" fmla="*/ 11877711 w 12192000"/>
              <a:gd name="connsiteY257" fmla="*/ 2947465 h 4267200"/>
              <a:gd name="connsiteX258" fmla="*/ 11538179 w 12192000"/>
              <a:gd name="connsiteY258" fmla="*/ 2090376 h 4267200"/>
              <a:gd name="connsiteX259" fmla="*/ 6604735 w 12192000"/>
              <a:gd name="connsiteY259" fmla="*/ 2041381 h 4267200"/>
              <a:gd name="connsiteX260" fmla="*/ 7204487 w 12192000"/>
              <a:gd name="connsiteY260" fmla="*/ 2742112 h 4267200"/>
              <a:gd name="connsiteX261" fmla="*/ 7131592 w 12192000"/>
              <a:gd name="connsiteY261" fmla="*/ 2672096 h 4267200"/>
              <a:gd name="connsiteX262" fmla="*/ 6996344 w 12192000"/>
              <a:gd name="connsiteY262" fmla="*/ 2518310 h 4267200"/>
              <a:gd name="connsiteX263" fmla="*/ 6735495 w 12192000"/>
              <a:gd name="connsiteY263" fmla="*/ 2196890 h 4267200"/>
              <a:gd name="connsiteX264" fmla="*/ 6721901 w 12192000"/>
              <a:gd name="connsiteY264" fmla="*/ 2179274 h 4267200"/>
              <a:gd name="connsiteX265" fmla="*/ 6604735 w 12192000"/>
              <a:gd name="connsiteY265" fmla="*/ 2041381 h 4267200"/>
              <a:gd name="connsiteX266" fmla="*/ 11488421 w 12192000"/>
              <a:gd name="connsiteY266" fmla="*/ 2034549 h 4267200"/>
              <a:gd name="connsiteX267" fmla="*/ 11840356 w 12192000"/>
              <a:gd name="connsiteY267" fmla="*/ 2932293 h 4267200"/>
              <a:gd name="connsiteX268" fmla="*/ 11736331 w 12192000"/>
              <a:gd name="connsiteY268" fmla="*/ 2715710 h 4267200"/>
              <a:gd name="connsiteX269" fmla="*/ 11581560 w 12192000"/>
              <a:gd name="connsiteY269" fmla="*/ 2360474 h 4267200"/>
              <a:gd name="connsiteX270" fmla="*/ 11558442 w 12192000"/>
              <a:gd name="connsiteY270" fmla="*/ 2272139 h 4267200"/>
              <a:gd name="connsiteX271" fmla="*/ 11549169 w 12192000"/>
              <a:gd name="connsiteY271" fmla="*/ 2234734 h 4267200"/>
              <a:gd name="connsiteX272" fmla="*/ 11488421 w 12192000"/>
              <a:gd name="connsiteY272" fmla="*/ 2034549 h 4267200"/>
              <a:gd name="connsiteX273" fmla="*/ 10468916 w 12192000"/>
              <a:gd name="connsiteY273" fmla="*/ 2032338 h 4267200"/>
              <a:gd name="connsiteX274" fmla="*/ 10421480 w 12192000"/>
              <a:gd name="connsiteY274" fmla="*/ 2185446 h 4267200"/>
              <a:gd name="connsiteX275" fmla="*/ 10351264 w 12192000"/>
              <a:gd name="connsiteY275" fmla="*/ 2591574 h 4267200"/>
              <a:gd name="connsiteX276" fmla="*/ 10294485 w 12192000"/>
              <a:gd name="connsiteY276" fmla="*/ 2991809 h 4267200"/>
              <a:gd name="connsiteX277" fmla="*/ 10327850 w 12192000"/>
              <a:gd name="connsiteY277" fmla="*/ 2826310 h 4267200"/>
              <a:gd name="connsiteX278" fmla="*/ 10364099 w 12192000"/>
              <a:gd name="connsiteY278" fmla="*/ 2660098 h 4267200"/>
              <a:gd name="connsiteX279" fmla="*/ 10404725 w 12192000"/>
              <a:gd name="connsiteY279" fmla="*/ 2516991 h 4267200"/>
              <a:gd name="connsiteX280" fmla="*/ 10478071 w 12192000"/>
              <a:gd name="connsiteY280" fmla="*/ 2114122 h 4267200"/>
              <a:gd name="connsiteX281" fmla="*/ 10468916 w 12192000"/>
              <a:gd name="connsiteY281" fmla="*/ 2032338 h 4267200"/>
              <a:gd name="connsiteX282" fmla="*/ 10573132 w 12192000"/>
              <a:gd name="connsiteY282" fmla="*/ 1991479 h 4267200"/>
              <a:gd name="connsiteX283" fmla="*/ 11066880 w 12192000"/>
              <a:gd name="connsiteY283" fmla="*/ 2371770 h 4267200"/>
              <a:gd name="connsiteX284" fmla="*/ 10573132 w 12192000"/>
              <a:gd name="connsiteY284" fmla="*/ 1991479 h 4267200"/>
              <a:gd name="connsiteX285" fmla="*/ 6591670 w 12192000"/>
              <a:gd name="connsiteY285" fmla="*/ 1988277 h 4267200"/>
              <a:gd name="connsiteX286" fmla="*/ 6747349 w 12192000"/>
              <a:gd name="connsiteY286" fmla="*/ 2160069 h 4267200"/>
              <a:gd name="connsiteX287" fmla="*/ 6760943 w 12192000"/>
              <a:gd name="connsiteY287" fmla="*/ 2177686 h 4267200"/>
              <a:gd name="connsiteX288" fmla="*/ 7021065 w 12192000"/>
              <a:gd name="connsiteY288" fmla="*/ 2498102 h 4267200"/>
              <a:gd name="connsiteX289" fmla="*/ 7155223 w 12192000"/>
              <a:gd name="connsiteY289" fmla="*/ 2650386 h 4267200"/>
              <a:gd name="connsiteX290" fmla="*/ 7203167 w 12192000"/>
              <a:gd name="connsiteY290" fmla="*/ 2697288 h 4267200"/>
              <a:gd name="connsiteX291" fmla="*/ 6937703 w 12192000"/>
              <a:gd name="connsiteY291" fmla="*/ 2321981 h 4267200"/>
              <a:gd name="connsiteX292" fmla="*/ 6591670 w 12192000"/>
              <a:gd name="connsiteY292" fmla="*/ 1988277 h 4267200"/>
              <a:gd name="connsiteX293" fmla="*/ 5798671 w 12192000"/>
              <a:gd name="connsiteY293" fmla="*/ 1981601 h 4267200"/>
              <a:gd name="connsiteX294" fmla="*/ 5754709 w 12192000"/>
              <a:gd name="connsiteY294" fmla="*/ 2071454 h 4267200"/>
              <a:gd name="connsiteX295" fmla="*/ 5763044 w 12192000"/>
              <a:gd name="connsiteY295" fmla="*/ 2842206 h 4267200"/>
              <a:gd name="connsiteX296" fmla="*/ 5764974 w 12192000"/>
              <a:gd name="connsiteY296" fmla="*/ 2799609 h 4267200"/>
              <a:gd name="connsiteX297" fmla="*/ 5767665 w 12192000"/>
              <a:gd name="connsiteY297" fmla="*/ 2666409 h 4267200"/>
              <a:gd name="connsiteX298" fmla="*/ 5763055 w 12192000"/>
              <a:gd name="connsiteY298" fmla="*/ 2579705 h 4267200"/>
              <a:gd name="connsiteX299" fmla="*/ 5758079 w 12192000"/>
              <a:gd name="connsiteY299" fmla="*/ 2492508 h 4267200"/>
              <a:gd name="connsiteX300" fmla="*/ 5779325 w 12192000"/>
              <a:gd name="connsiteY300" fmla="*/ 2197069 h 4267200"/>
              <a:gd name="connsiteX301" fmla="*/ 5798671 w 12192000"/>
              <a:gd name="connsiteY301" fmla="*/ 1981601 h 4267200"/>
              <a:gd name="connsiteX302" fmla="*/ 5829202 w 12192000"/>
              <a:gd name="connsiteY302" fmla="*/ 1971679 h 4267200"/>
              <a:gd name="connsiteX303" fmla="*/ 5809558 w 12192000"/>
              <a:gd name="connsiteY303" fmla="*/ 2198043 h 4267200"/>
              <a:gd name="connsiteX304" fmla="*/ 5788653 w 12192000"/>
              <a:gd name="connsiteY304" fmla="*/ 2489430 h 4267200"/>
              <a:gd name="connsiteX305" fmla="*/ 5793439 w 12192000"/>
              <a:gd name="connsiteY305" fmla="*/ 2575235 h 4267200"/>
              <a:gd name="connsiteX306" fmla="*/ 5796837 w 12192000"/>
              <a:gd name="connsiteY306" fmla="*/ 2637633 h 4267200"/>
              <a:gd name="connsiteX307" fmla="*/ 5818614 w 12192000"/>
              <a:gd name="connsiteY307" fmla="*/ 2473055 h 4267200"/>
              <a:gd name="connsiteX308" fmla="*/ 5829202 w 12192000"/>
              <a:gd name="connsiteY308" fmla="*/ 1971679 h 4267200"/>
              <a:gd name="connsiteX309" fmla="*/ 10578769 w 12192000"/>
              <a:gd name="connsiteY309" fmla="*/ 1962963 h 4267200"/>
              <a:gd name="connsiteX310" fmla="*/ 11073823 w 12192000"/>
              <a:gd name="connsiteY310" fmla="*/ 2338658 h 4267200"/>
              <a:gd name="connsiteX311" fmla="*/ 10578769 w 12192000"/>
              <a:gd name="connsiteY311" fmla="*/ 1962963 h 4267200"/>
              <a:gd name="connsiteX312" fmla="*/ 5911389 w 12192000"/>
              <a:gd name="connsiteY312" fmla="*/ 1898371 h 4267200"/>
              <a:gd name="connsiteX313" fmla="*/ 6237627 w 12192000"/>
              <a:gd name="connsiteY313" fmla="*/ 2231921 h 4267200"/>
              <a:gd name="connsiteX314" fmla="*/ 5911389 w 12192000"/>
              <a:gd name="connsiteY314" fmla="*/ 1898371 h 4267200"/>
              <a:gd name="connsiteX315" fmla="*/ 6944437 w 12192000"/>
              <a:gd name="connsiteY315" fmla="*/ 1575402 h 4267200"/>
              <a:gd name="connsiteX316" fmla="*/ 6304730 w 12192000"/>
              <a:gd name="connsiteY316" fmla="*/ 1766654 h 4267200"/>
              <a:gd name="connsiteX317" fmla="*/ 6944437 w 12192000"/>
              <a:gd name="connsiteY317" fmla="*/ 1575402 h 4267200"/>
              <a:gd name="connsiteX318" fmla="*/ 7019523 w 12192000"/>
              <a:gd name="connsiteY318" fmla="*/ 1519450 h 4267200"/>
              <a:gd name="connsiteX319" fmla="*/ 6298091 w 12192000"/>
              <a:gd name="connsiteY319" fmla="*/ 1737122 h 4267200"/>
              <a:gd name="connsiteX320" fmla="*/ 7019523 w 12192000"/>
              <a:gd name="connsiteY320" fmla="*/ 1519450 h 4267200"/>
              <a:gd name="connsiteX321" fmla="*/ 2399523 w 12192000"/>
              <a:gd name="connsiteY321" fmla="*/ 1428234 h 4267200"/>
              <a:gd name="connsiteX322" fmla="*/ 2224982 w 12192000"/>
              <a:gd name="connsiteY322" fmla="*/ 1826201 h 4267200"/>
              <a:gd name="connsiteX323" fmla="*/ 2096099 w 12192000"/>
              <a:gd name="connsiteY323" fmla="*/ 2345900 h 4267200"/>
              <a:gd name="connsiteX324" fmla="*/ 2283317 w 12192000"/>
              <a:gd name="connsiteY324" fmla="*/ 1796925 h 4267200"/>
              <a:gd name="connsiteX325" fmla="*/ 2448558 w 12192000"/>
              <a:gd name="connsiteY325" fmla="*/ 1373435 h 4267200"/>
              <a:gd name="connsiteX326" fmla="*/ 2312521 w 12192000"/>
              <a:gd name="connsiteY326" fmla="*/ 1806140 h 4267200"/>
              <a:gd name="connsiteX327" fmla="*/ 2127533 w 12192000"/>
              <a:gd name="connsiteY327" fmla="*/ 2348380 h 4267200"/>
              <a:gd name="connsiteX328" fmla="*/ 2358080 w 12192000"/>
              <a:gd name="connsiteY328" fmla="*/ 1866134 h 4267200"/>
              <a:gd name="connsiteX329" fmla="*/ 2407436 w 12192000"/>
              <a:gd name="connsiteY329" fmla="*/ 1651070 h 4267200"/>
              <a:gd name="connsiteX330" fmla="*/ 2448558 w 12192000"/>
              <a:gd name="connsiteY330" fmla="*/ 1373435 h 4267200"/>
              <a:gd name="connsiteX331" fmla="*/ 278707 w 12192000"/>
              <a:gd name="connsiteY331" fmla="*/ 1352270 h 4267200"/>
              <a:gd name="connsiteX332" fmla="*/ 321570 w 12192000"/>
              <a:gd name="connsiteY332" fmla="*/ 1861610 h 4267200"/>
              <a:gd name="connsiteX333" fmla="*/ 294281 w 12192000"/>
              <a:gd name="connsiteY333" fmla="*/ 1440658 h 4267200"/>
              <a:gd name="connsiteX334" fmla="*/ 1423821 w 12192000"/>
              <a:gd name="connsiteY334" fmla="*/ 1351958 h 4267200"/>
              <a:gd name="connsiteX335" fmla="*/ 1638521 w 12192000"/>
              <a:gd name="connsiteY335" fmla="*/ 1908470 h 4267200"/>
              <a:gd name="connsiteX336" fmla="*/ 1754199 w 12192000"/>
              <a:gd name="connsiteY336" fmla="*/ 2149284 h 4267200"/>
              <a:gd name="connsiteX337" fmla="*/ 1908359 w 12192000"/>
              <a:gd name="connsiteY337" fmla="*/ 2364988 h 4267200"/>
              <a:gd name="connsiteX338" fmla="*/ 1647661 w 12192000"/>
              <a:gd name="connsiteY338" fmla="*/ 1825945 h 4267200"/>
              <a:gd name="connsiteX339" fmla="*/ 1423821 w 12192000"/>
              <a:gd name="connsiteY339" fmla="*/ 1351958 h 4267200"/>
              <a:gd name="connsiteX340" fmla="*/ 9518298 w 12192000"/>
              <a:gd name="connsiteY340" fmla="*/ 1338235 h 4267200"/>
              <a:gd name="connsiteX341" fmla="*/ 9838009 w 12192000"/>
              <a:gd name="connsiteY341" fmla="*/ 2272553 h 4267200"/>
              <a:gd name="connsiteX342" fmla="*/ 9805906 w 12192000"/>
              <a:gd name="connsiteY342" fmla="*/ 2159819 h 4267200"/>
              <a:gd name="connsiteX343" fmla="*/ 9801623 w 12192000"/>
              <a:gd name="connsiteY343" fmla="*/ 2142555 h 4267200"/>
              <a:gd name="connsiteX344" fmla="*/ 9628671 w 12192000"/>
              <a:gd name="connsiteY344" fmla="*/ 1617375 h 4267200"/>
              <a:gd name="connsiteX345" fmla="*/ 9598299 w 12192000"/>
              <a:gd name="connsiteY345" fmla="*/ 1544643 h 4267200"/>
              <a:gd name="connsiteX346" fmla="*/ 9518298 w 12192000"/>
              <a:gd name="connsiteY346" fmla="*/ 1338235 h 4267200"/>
              <a:gd name="connsiteX347" fmla="*/ 1431890 w 12192000"/>
              <a:gd name="connsiteY347" fmla="*/ 1306475 h 4267200"/>
              <a:gd name="connsiteX348" fmla="*/ 1507597 w 12192000"/>
              <a:gd name="connsiteY348" fmla="*/ 1446132 h 4267200"/>
              <a:gd name="connsiteX349" fmla="*/ 1674586 w 12192000"/>
              <a:gd name="connsiteY349" fmla="*/ 1813832 h 4267200"/>
              <a:gd name="connsiteX350" fmla="*/ 1815950 w 12192000"/>
              <a:gd name="connsiteY350" fmla="*/ 2128564 h 4267200"/>
              <a:gd name="connsiteX351" fmla="*/ 1984242 w 12192000"/>
              <a:gd name="connsiteY351" fmla="*/ 2430829 h 4267200"/>
              <a:gd name="connsiteX352" fmla="*/ 2014023 w 12192000"/>
              <a:gd name="connsiteY352" fmla="*/ 2450995 h 4267200"/>
              <a:gd name="connsiteX353" fmla="*/ 1747337 w 12192000"/>
              <a:gd name="connsiteY353" fmla="*/ 1855264 h 4267200"/>
              <a:gd name="connsiteX354" fmla="*/ 1533749 w 12192000"/>
              <a:gd name="connsiteY354" fmla="*/ 1478656 h 4267200"/>
              <a:gd name="connsiteX355" fmla="*/ 1431890 w 12192000"/>
              <a:gd name="connsiteY355" fmla="*/ 1306475 h 4267200"/>
              <a:gd name="connsiteX356" fmla="*/ 5052692 w 12192000"/>
              <a:gd name="connsiteY356" fmla="*/ 1292994 h 4267200"/>
              <a:gd name="connsiteX357" fmla="*/ 5200661 w 12192000"/>
              <a:gd name="connsiteY357" fmla="*/ 1635186 h 4267200"/>
              <a:gd name="connsiteX358" fmla="*/ 5297138 w 12192000"/>
              <a:gd name="connsiteY358" fmla="*/ 1906351 h 4267200"/>
              <a:gd name="connsiteX359" fmla="*/ 5052692 w 12192000"/>
              <a:gd name="connsiteY359" fmla="*/ 1292994 h 4267200"/>
              <a:gd name="connsiteX360" fmla="*/ 9528078 w 12192000"/>
              <a:gd name="connsiteY360" fmla="*/ 1278636 h 4267200"/>
              <a:gd name="connsiteX361" fmla="*/ 9623946 w 12192000"/>
              <a:gd name="connsiteY361" fmla="*/ 1534260 h 4267200"/>
              <a:gd name="connsiteX362" fmla="*/ 9654858 w 12192000"/>
              <a:gd name="connsiteY362" fmla="*/ 1607218 h 4267200"/>
              <a:gd name="connsiteX363" fmla="*/ 9826304 w 12192000"/>
              <a:gd name="connsiteY363" fmla="*/ 2125320 h 4267200"/>
              <a:gd name="connsiteX364" fmla="*/ 9701198 w 12192000"/>
              <a:gd name="connsiteY364" fmla="*/ 1646797 h 4267200"/>
              <a:gd name="connsiteX365" fmla="*/ 9528078 w 12192000"/>
              <a:gd name="connsiteY365" fmla="*/ 1278636 h 4267200"/>
              <a:gd name="connsiteX366" fmla="*/ 5009948 w 12192000"/>
              <a:gd name="connsiteY366" fmla="*/ 1273619 h 4267200"/>
              <a:gd name="connsiteX367" fmla="*/ 5121777 w 12192000"/>
              <a:gd name="connsiteY367" fmla="*/ 1654213 h 4267200"/>
              <a:gd name="connsiteX368" fmla="*/ 5293545 w 12192000"/>
              <a:gd name="connsiteY368" fmla="*/ 2072247 h 4267200"/>
              <a:gd name="connsiteX369" fmla="*/ 5294042 w 12192000"/>
              <a:gd name="connsiteY369" fmla="*/ 2065019 h 4267200"/>
              <a:gd name="connsiteX370" fmla="*/ 5171936 w 12192000"/>
              <a:gd name="connsiteY370" fmla="*/ 1647613 h 4267200"/>
              <a:gd name="connsiteX371" fmla="*/ 5009948 w 12192000"/>
              <a:gd name="connsiteY371" fmla="*/ 1273619 h 4267200"/>
              <a:gd name="connsiteX372" fmla="*/ 655236 w 12192000"/>
              <a:gd name="connsiteY372" fmla="*/ 1268632 h 4267200"/>
              <a:gd name="connsiteX373" fmla="*/ 839521 w 12192000"/>
              <a:gd name="connsiteY373" fmla="*/ 1685315 h 4267200"/>
              <a:gd name="connsiteX374" fmla="*/ 1109416 w 12192000"/>
              <a:gd name="connsiteY374" fmla="*/ 2061663 h 4267200"/>
              <a:gd name="connsiteX375" fmla="*/ 1298300 w 12192000"/>
              <a:gd name="connsiteY375" fmla="*/ 2247742 h 4267200"/>
              <a:gd name="connsiteX376" fmla="*/ 1125871 w 12192000"/>
              <a:gd name="connsiteY376" fmla="*/ 1989513 h 4267200"/>
              <a:gd name="connsiteX377" fmla="*/ 981574 w 12192000"/>
              <a:gd name="connsiteY377" fmla="*/ 1783157 h 4267200"/>
              <a:gd name="connsiteX378" fmla="*/ 922198 w 12192000"/>
              <a:gd name="connsiteY378" fmla="*/ 1677437 h 4267200"/>
              <a:gd name="connsiteX379" fmla="*/ 869293 w 12192000"/>
              <a:gd name="connsiteY379" fmla="*/ 1583214 h 4267200"/>
              <a:gd name="connsiteX380" fmla="*/ 751431 w 12192000"/>
              <a:gd name="connsiteY380" fmla="*/ 1405731 h 4267200"/>
              <a:gd name="connsiteX381" fmla="*/ 6516292 w 12192000"/>
              <a:gd name="connsiteY381" fmla="*/ 1263064 h 4267200"/>
              <a:gd name="connsiteX382" fmla="*/ 5736320 w 12192000"/>
              <a:gd name="connsiteY382" fmla="*/ 1501803 h 4267200"/>
              <a:gd name="connsiteX383" fmla="*/ 6516292 w 12192000"/>
              <a:gd name="connsiteY383" fmla="*/ 1263064 h 4267200"/>
              <a:gd name="connsiteX384" fmla="*/ 291466 w 12192000"/>
              <a:gd name="connsiteY384" fmla="*/ 1250369 h 4267200"/>
              <a:gd name="connsiteX385" fmla="*/ 323180 w 12192000"/>
              <a:gd name="connsiteY385" fmla="*/ 1435283 h 4267200"/>
              <a:gd name="connsiteX386" fmla="*/ 349381 w 12192000"/>
              <a:gd name="connsiteY386" fmla="*/ 1875041 h 4267200"/>
              <a:gd name="connsiteX387" fmla="*/ 374363 w 12192000"/>
              <a:gd name="connsiteY387" fmla="*/ 1506494 h 4267200"/>
              <a:gd name="connsiteX388" fmla="*/ 302168 w 12192000"/>
              <a:gd name="connsiteY388" fmla="*/ 1274495 h 4267200"/>
              <a:gd name="connsiteX389" fmla="*/ 291466 w 12192000"/>
              <a:gd name="connsiteY389" fmla="*/ 1250369 h 4267200"/>
              <a:gd name="connsiteX390" fmla="*/ 678222 w 12192000"/>
              <a:gd name="connsiteY390" fmla="*/ 1248670 h 4267200"/>
              <a:gd name="connsiteX391" fmla="*/ 775536 w 12192000"/>
              <a:gd name="connsiteY391" fmla="*/ 1388015 h 4267200"/>
              <a:gd name="connsiteX392" fmla="*/ 894529 w 12192000"/>
              <a:gd name="connsiteY392" fmla="*/ 1567739 h 4267200"/>
              <a:gd name="connsiteX393" fmla="*/ 948000 w 12192000"/>
              <a:gd name="connsiteY393" fmla="*/ 1663088 h 4267200"/>
              <a:gd name="connsiteX394" fmla="*/ 1006812 w 12192000"/>
              <a:gd name="connsiteY394" fmla="*/ 1767683 h 4267200"/>
              <a:gd name="connsiteX395" fmla="*/ 1149133 w 12192000"/>
              <a:gd name="connsiteY395" fmla="*/ 1971513 h 4267200"/>
              <a:gd name="connsiteX396" fmla="*/ 1333952 w 12192000"/>
              <a:gd name="connsiteY396" fmla="*/ 2251620 h 4267200"/>
              <a:gd name="connsiteX397" fmla="*/ 1337329 w 12192000"/>
              <a:gd name="connsiteY397" fmla="*/ 2258350 h 4267200"/>
              <a:gd name="connsiteX398" fmla="*/ 1014726 w 12192000"/>
              <a:gd name="connsiteY398" fmla="*/ 1615556 h 4267200"/>
              <a:gd name="connsiteX399" fmla="*/ 678222 w 12192000"/>
              <a:gd name="connsiteY399" fmla="*/ 1248670 h 4267200"/>
              <a:gd name="connsiteX400" fmla="*/ 9441752 w 12192000"/>
              <a:gd name="connsiteY400" fmla="*/ 1245311 h 4267200"/>
              <a:gd name="connsiteX401" fmla="*/ 9278979 w 12192000"/>
              <a:gd name="connsiteY401" fmla="*/ 1406236 h 4267200"/>
              <a:gd name="connsiteX402" fmla="*/ 9235540 w 12192000"/>
              <a:gd name="connsiteY402" fmla="*/ 1546869 h 4267200"/>
              <a:gd name="connsiteX403" fmla="*/ 9264074 w 12192000"/>
              <a:gd name="connsiteY403" fmla="*/ 1557016 h 4267200"/>
              <a:gd name="connsiteX404" fmla="*/ 9441752 w 12192000"/>
              <a:gd name="connsiteY404" fmla="*/ 1245311 h 4267200"/>
              <a:gd name="connsiteX405" fmla="*/ 6691602 w 12192000"/>
              <a:gd name="connsiteY405" fmla="*/ 1140573 h 4267200"/>
              <a:gd name="connsiteX406" fmla="*/ 6571100 w 12192000"/>
              <a:gd name="connsiteY406" fmla="*/ 1183662 h 4267200"/>
              <a:gd name="connsiteX407" fmla="*/ 6241687 w 12192000"/>
              <a:gd name="connsiteY407" fmla="*/ 1257600 h 4267200"/>
              <a:gd name="connsiteX408" fmla="*/ 5693009 w 12192000"/>
              <a:gd name="connsiteY408" fmla="*/ 1478256 h 4267200"/>
              <a:gd name="connsiteX409" fmla="*/ 6548420 w 12192000"/>
              <a:gd name="connsiteY409" fmla="*/ 1214599 h 4267200"/>
              <a:gd name="connsiteX410" fmla="*/ 6605473 w 12192000"/>
              <a:gd name="connsiteY410" fmla="*/ 1184686 h 4267200"/>
              <a:gd name="connsiteX411" fmla="*/ 6691602 w 12192000"/>
              <a:gd name="connsiteY411" fmla="*/ 1140573 h 4267200"/>
              <a:gd name="connsiteX412" fmla="*/ 4002475 w 12192000"/>
              <a:gd name="connsiteY412" fmla="*/ 1037802 h 4267200"/>
              <a:gd name="connsiteX413" fmla="*/ 4000324 w 12192000"/>
              <a:gd name="connsiteY413" fmla="*/ 1039362 h 4267200"/>
              <a:gd name="connsiteX414" fmla="*/ 4002862 w 12192000"/>
              <a:gd name="connsiteY414" fmla="*/ 1042866 h 4267200"/>
              <a:gd name="connsiteX415" fmla="*/ 4002475 w 12192000"/>
              <a:gd name="connsiteY415" fmla="*/ 1037802 h 4267200"/>
              <a:gd name="connsiteX416" fmla="*/ 506322 w 12192000"/>
              <a:gd name="connsiteY416" fmla="*/ 1020997 h 4267200"/>
              <a:gd name="connsiteX417" fmla="*/ 533068 w 12192000"/>
              <a:gd name="connsiteY417" fmla="*/ 1029409 h 4267200"/>
              <a:gd name="connsiteX418" fmla="*/ 1232525 w 12192000"/>
              <a:gd name="connsiteY418" fmla="*/ 1804675 h 4267200"/>
              <a:gd name="connsiteX419" fmla="*/ 1388858 w 12192000"/>
              <a:gd name="connsiteY419" fmla="*/ 2368011 h 4267200"/>
              <a:gd name="connsiteX420" fmla="*/ 1384098 w 12192000"/>
              <a:gd name="connsiteY420" fmla="*/ 2378125 h 4267200"/>
              <a:gd name="connsiteX421" fmla="*/ 1425393 w 12192000"/>
              <a:gd name="connsiteY421" fmla="*/ 2589124 h 4267200"/>
              <a:gd name="connsiteX422" fmla="*/ 1424001 w 12192000"/>
              <a:gd name="connsiteY422" fmla="*/ 2597541 h 4267200"/>
              <a:gd name="connsiteX423" fmla="*/ 2152729 w 12192000"/>
              <a:gd name="connsiteY423" fmla="*/ 2864487 h 4267200"/>
              <a:gd name="connsiteX424" fmla="*/ 2020609 w 12192000"/>
              <a:gd name="connsiteY424" fmla="*/ 2539671 h 4267200"/>
              <a:gd name="connsiteX425" fmla="*/ 2018920 w 12192000"/>
              <a:gd name="connsiteY425" fmla="*/ 2536309 h 4267200"/>
              <a:gd name="connsiteX426" fmla="*/ 1342441 w 12192000"/>
              <a:gd name="connsiteY426" fmla="*/ 1173017 h 4267200"/>
              <a:gd name="connsiteX427" fmla="*/ 1367925 w 12192000"/>
              <a:gd name="connsiteY427" fmla="*/ 1135648 h 4267200"/>
              <a:gd name="connsiteX428" fmla="*/ 1771401 w 12192000"/>
              <a:gd name="connsiteY428" fmla="*/ 1806673 h 4267200"/>
              <a:gd name="connsiteX429" fmla="*/ 1972385 w 12192000"/>
              <a:gd name="connsiteY429" fmla="*/ 2198735 h 4267200"/>
              <a:gd name="connsiteX430" fmla="*/ 2040892 w 12192000"/>
              <a:gd name="connsiteY430" fmla="*/ 2405205 h 4267200"/>
              <a:gd name="connsiteX431" fmla="*/ 2131689 w 12192000"/>
              <a:gd name="connsiteY431" fmla="*/ 1936926 h 4267200"/>
              <a:gd name="connsiteX432" fmla="*/ 2454820 w 12192000"/>
              <a:gd name="connsiteY432" fmla="*/ 1248808 h 4267200"/>
              <a:gd name="connsiteX433" fmla="*/ 2492512 w 12192000"/>
              <a:gd name="connsiteY433" fmla="*/ 1302920 h 4267200"/>
              <a:gd name="connsiteX434" fmla="*/ 2081216 w 12192000"/>
              <a:gd name="connsiteY434" fmla="*/ 2527513 h 4267200"/>
              <a:gd name="connsiteX435" fmla="*/ 2081211 w 12192000"/>
              <a:gd name="connsiteY435" fmla="*/ 2528916 h 4267200"/>
              <a:gd name="connsiteX436" fmla="*/ 2199067 w 12192000"/>
              <a:gd name="connsiteY436" fmla="*/ 2884061 h 4267200"/>
              <a:gd name="connsiteX437" fmla="*/ 3192586 w 12192000"/>
              <a:gd name="connsiteY437" fmla="*/ 3411496 h 4267200"/>
              <a:gd name="connsiteX438" fmla="*/ 3182620 w 12192000"/>
              <a:gd name="connsiteY438" fmla="*/ 3483279 h 4267200"/>
              <a:gd name="connsiteX439" fmla="*/ 2435119 w 12192000"/>
              <a:gd name="connsiteY439" fmla="*/ 3080173 h 4267200"/>
              <a:gd name="connsiteX440" fmla="*/ 2410152 w 12192000"/>
              <a:gd name="connsiteY440" fmla="*/ 3063751 h 4267200"/>
              <a:gd name="connsiteX441" fmla="*/ 2408099 w 12192000"/>
              <a:gd name="connsiteY441" fmla="*/ 3064403 h 4267200"/>
              <a:gd name="connsiteX442" fmla="*/ 2407218 w 12192000"/>
              <a:gd name="connsiteY442" fmla="*/ 3070324 h 4267200"/>
              <a:gd name="connsiteX443" fmla="*/ 2380138 w 12192000"/>
              <a:gd name="connsiteY443" fmla="*/ 3099341 h 4267200"/>
              <a:gd name="connsiteX444" fmla="*/ 1765923 w 12192000"/>
              <a:gd name="connsiteY444" fmla="*/ 3581043 h 4267200"/>
              <a:gd name="connsiteX445" fmla="*/ 1702258 w 12192000"/>
              <a:gd name="connsiteY445" fmla="*/ 3612286 h 4267200"/>
              <a:gd name="connsiteX446" fmla="*/ 1538370 w 12192000"/>
              <a:gd name="connsiteY446" fmla="*/ 3811804 h 4267200"/>
              <a:gd name="connsiteX447" fmla="*/ 1325720 w 12192000"/>
              <a:gd name="connsiteY447" fmla="*/ 4125411 h 4267200"/>
              <a:gd name="connsiteX448" fmla="*/ 1206279 w 12192000"/>
              <a:gd name="connsiteY448" fmla="*/ 4267200 h 4267200"/>
              <a:gd name="connsiteX449" fmla="*/ 1115040 w 12192000"/>
              <a:gd name="connsiteY449" fmla="*/ 4267200 h 4267200"/>
              <a:gd name="connsiteX450" fmla="*/ 1258195 w 12192000"/>
              <a:gd name="connsiteY450" fmla="*/ 4099624 h 4267200"/>
              <a:gd name="connsiteX451" fmla="*/ 1423113 w 12192000"/>
              <a:gd name="connsiteY451" fmla="*/ 3874565 h 4267200"/>
              <a:gd name="connsiteX452" fmla="*/ 1260565 w 12192000"/>
              <a:gd name="connsiteY452" fmla="*/ 4031982 h 4267200"/>
              <a:gd name="connsiteX453" fmla="*/ 1073327 w 12192000"/>
              <a:gd name="connsiteY453" fmla="*/ 4218727 h 4267200"/>
              <a:gd name="connsiteX454" fmla="*/ 1032294 w 12192000"/>
              <a:gd name="connsiteY454" fmla="*/ 4267200 h 4267200"/>
              <a:gd name="connsiteX455" fmla="*/ 993830 w 12192000"/>
              <a:gd name="connsiteY455" fmla="*/ 4267200 h 4267200"/>
              <a:gd name="connsiteX456" fmla="*/ 1051860 w 12192000"/>
              <a:gd name="connsiteY456" fmla="*/ 4198693 h 4267200"/>
              <a:gd name="connsiteX457" fmla="*/ 1240607 w 12192000"/>
              <a:gd name="connsiteY457" fmla="*/ 4010401 h 4267200"/>
              <a:gd name="connsiteX458" fmla="*/ 1310106 w 12192000"/>
              <a:gd name="connsiteY458" fmla="*/ 3943217 h 4267200"/>
              <a:gd name="connsiteX459" fmla="*/ 952103 w 12192000"/>
              <a:gd name="connsiteY459" fmla="*/ 4265972 h 4267200"/>
              <a:gd name="connsiteX460" fmla="*/ 951207 w 12192000"/>
              <a:gd name="connsiteY460" fmla="*/ 4267200 h 4267200"/>
              <a:gd name="connsiteX461" fmla="*/ 862760 w 12192000"/>
              <a:gd name="connsiteY461" fmla="*/ 4267200 h 4267200"/>
              <a:gd name="connsiteX462" fmla="*/ 909145 w 12192000"/>
              <a:gd name="connsiteY462" fmla="*/ 4199225 h 4267200"/>
              <a:gd name="connsiteX463" fmla="*/ 1214067 w 12192000"/>
              <a:gd name="connsiteY463" fmla="*/ 3908561 h 4267200"/>
              <a:gd name="connsiteX464" fmla="*/ 640967 w 12192000"/>
              <a:gd name="connsiteY464" fmla="*/ 4105601 h 4267200"/>
              <a:gd name="connsiteX465" fmla="*/ 372807 w 12192000"/>
              <a:gd name="connsiteY465" fmla="*/ 4243651 h 4267200"/>
              <a:gd name="connsiteX466" fmla="*/ 332830 w 12192000"/>
              <a:gd name="connsiteY466" fmla="*/ 4267200 h 4267200"/>
              <a:gd name="connsiteX467" fmla="*/ 168301 w 12192000"/>
              <a:gd name="connsiteY467" fmla="*/ 4267200 h 4267200"/>
              <a:gd name="connsiteX468" fmla="*/ 278002 w 12192000"/>
              <a:gd name="connsiteY468" fmla="*/ 4201399 h 4267200"/>
              <a:gd name="connsiteX469" fmla="*/ 527241 w 12192000"/>
              <a:gd name="connsiteY469" fmla="*/ 4065078 h 4267200"/>
              <a:gd name="connsiteX470" fmla="*/ 1510397 w 12192000"/>
              <a:gd name="connsiteY470" fmla="*/ 3684705 h 4267200"/>
              <a:gd name="connsiteX471" fmla="*/ 1146550 w 12192000"/>
              <a:gd name="connsiteY471" fmla="*/ 3802012 h 4267200"/>
              <a:gd name="connsiteX472" fmla="*/ 698834 w 12192000"/>
              <a:gd name="connsiteY472" fmla="*/ 3952272 h 4267200"/>
              <a:gd name="connsiteX473" fmla="*/ 192528 w 12192000"/>
              <a:gd name="connsiteY473" fmla="*/ 4236299 h 4267200"/>
              <a:gd name="connsiteX474" fmla="*/ 148586 w 12192000"/>
              <a:gd name="connsiteY474" fmla="*/ 4267200 h 4267200"/>
              <a:gd name="connsiteX475" fmla="*/ 98116 w 12192000"/>
              <a:gd name="connsiteY475" fmla="*/ 4267200 h 4267200"/>
              <a:gd name="connsiteX476" fmla="*/ 169669 w 12192000"/>
              <a:gd name="connsiteY476" fmla="*/ 4216852 h 4267200"/>
              <a:gd name="connsiteX477" fmla="*/ 687572 w 12192000"/>
              <a:gd name="connsiteY477" fmla="*/ 3925629 h 4267200"/>
              <a:gd name="connsiteX478" fmla="*/ 1138365 w 12192000"/>
              <a:gd name="connsiteY478" fmla="*/ 3774515 h 4267200"/>
              <a:gd name="connsiteX479" fmla="*/ 1505579 w 12192000"/>
              <a:gd name="connsiteY479" fmla="*/ 3655526 h 4267200"/>
              <a:gd name="connsiteX480" fmla="*/ 1313114 w 12192000"/>
              <a:gd name="connsiteY480" fmla="*/ 3655216 h 4267200"/>
              <a:gd name="connsiteX481" fmla="*/ 1109304 w 12192000"/>
              <a:gd name="connsiteY481" fmla="*/ 3669030 h 4267200"/>
              <a:gd name="connsiteX482" fmla="*/ 258951 w 12192000"/>
              <a:gd name="connsiteY482" fmla="*/ 4111994 h 4267200"/>
              <a:gd name="connsiteX483" fmla="*/ 80807 w 12192000"/>
              <a:gd name="connsiteY483" fmla="*/ 4267200 h 4267200"/>
              <a:gd name="connsiteX484" fmla="*/ 0 w 12192000"/>
              <a:gd name="connsiteY484" fmla="*/ 4267200 h 4267200"/>
              <a:gd name="connsiteX485" fmla="*/ 0 w 12192000"/>
              <a:gd name="connsiteY485" fmla="*/ 4233763 h 4267200"/>
              <a:gd name="connsiteX486" fmla="*/ 36881 w 12192000"/>
              <a:gd name="connsiteY486" fmla="*/ 4200118 h 4267200"/>
              <a:gd name="connsiteX487" fmla="*/ 910534 w 12192000"/>
              <a:gd name="connsiteY487" fmla="*/ 3629753 h 4267200"/>
              <a:gd name="connsiteX488" fmla="*/ 1578717 w 12192000"/>
              <a:gd name="connsiteY488" fmla="*/ 3575982 h 4267200"/>
              <a:gd name="connsiteX489" fmla="*/ 2338780 w 12192000"/>
              <a:gd name="connsiteY489" fmla="*/ 3033725 h 4267200"/>
              <a:gd name="connsiteX490" fmla="*/ 1807991 w 12192000"/>
              <a:gd name="connsiteY490" fmla="*/ 2807184 h 4267200"/>
              <a:gd name="connsiteX491" fmla="*/ 1416358 w 12192000"/>
              <a:gd name="connsiteY491" fmla="*/ 3112571 h 4267200"/>
              <a:gd name="connsiteX492" fmla="*/ 939066 w 12192000"/>
              <a:gd name="connsiteY492" fmla="*/ 3378798 h 4267200"/>
              <a:gd name="connsiteX493" fmla="*/ 115099 w 12192000"/>
              <a:gd name="connsiteY493" fmla="*/ 3607650 h 4267200"/>
              <a:gd name="connsiteX494" fmla="*/ 97284 w 12192000"/>
              <a:gd name="connsiteY494" fmla="*/ 3520393 h 4267200"/>
              <a:gd name="connsiteX495" fmla="*/ 922050 w 12192000"/>
              <a:gd name="connsiteY495" fmla="*/ 3074867 h 4267200"/>
              <a:gd name="connsiteX496" fmla="*/ 1405265 w 12192000"/>
              <a:gd name="connsiteY496" fmla="*/ 3016319 h 4267200"/>
              <a:gd name="connsiteX497" fmla="*/ 1407512 w 12192000"/>
              <a:gd name="connsiteY497" fmla="*/ 3018001 h 4267200"/>
              <a:gd name="connsiteX498" fmla="*/ 1726266 w 12192000"/>
              <a:gd name="connsiteY498" fmla="*/ 2777274 h 4267200"/>
              <a:gd name="connsiteX499" fmla="*/ 625390 w 12192000"/>
              <a:gd name="connsiteY499" fmla="*/ 2514541 h 4267200"/>
              <a:gd name="connsiteX500" fmla="*/ 619799 w 12192000"/>
              <a:gd name="connsiteY500" fmla="*/ 2527180 h 4267200"/>
              <a:gd name="connsiteX501" fmla="*/ 310030 w 12192000"/>
              <a:gd name="connsiteY501" fmla="*/ 2771818 h 4267200"/>
              <a:gd name="connsiteX502" fmla="*/ 173877 w 12192000"/>
              <a:gd name="connsiteY502" fmla="*/ 2937056 h 4267200"/>
              <a:gd name="connsiteX503" fmla="*/ 77889 w 12192000"/>
              <a:gd name="connsiteY503" fmla="*/ 3138440 h 4267200"/>
              <a:gd name="connsiteX504" fmla="*/ 0 w 12192000"/>
              <a:gd name="connsiteY504" fmla="*/ 3271395 h 4267200"/>
              <a:gd name="connsiteX505" fmla="*/ 0 w 12192000"/>
              <a:gd name="connsiteY505" fmla="*/ 3153002 h 4267200"/>
              <a:gd name="connsiteX506" fmla="*/ 2386 w 12192000"/>
              <a:gd name="connsiteY506" fmla="*/ 3149203 h 4267200"/>
              <a:gd name="connsiteX507" fmla="*/ 89753 w 12192000"/>
              <a:gd name="connsiteY507" fmla="*/ 2987702 h 4267200"/>
              <a:gd name="connsiteX508" fmla="*/ 76869 w 12192000"/>
              <a:gd name="connsiteY508" fmla="*/ 3005404 h 4267200"/>
              <a:gd name="connsiteX509" fmla="*/ 32049 w 12192000"/>
              <a:gd name="connsiteY509" fmla="*/ 3065814 h 4267200"/>
              <a:gd name="connsiteX510" fmla="*/ 0 w 12192000"/>
              <a:gd name="connsiteY510" fmla="*/ 3108744 h 4267200"/>
              <a:gd name="connsiteX511" fmla="*/ 0 w 12192000"/>
              <a:gd name="connsiteY511" fmla="*/ 3058059 h 4267200"/>
              <a:gd name="connsiteX512" fmla="*/ 7610 w 12192000"/>
              <a:gd name="connsiteY512" fmla="*/ 3047889 h 4267200"/>
              <a:gd name="connsiteX513" fmla="*/ 52419 w 12192000"/>
              <a:gd name="connsiteY513" fmla="*/ 2987479 h 4267200"/>
              <a:gd name="connsiteX514" fmla="*/ 59142 w 12192000"/>
              <a:gd name="connsiteY514" fmla="*/ 2978488 h 4267200"/>
              <a:gd name="connsiteX515" fmla="*/ 0 w 12192000"/>
              <a:gd name="connsiteY515" fmla="*/ 3015334 h 4267200"/>
              <a:gd name="connsiteX516" fmla="*/ 0 w 12192000"/>
              <a:gd name="connsiteY516" fmla="*/ 2914286 h 4267200"/>
              <a:gd name="connsiteX517" fmla="*/ 36383 w 12192000"/>
              <a:gd name="connsiteY517" fmla="*/ 2901128 h 4267200"/>
              <a:gd name="connsiteX518" fmla="*/ 156329 w 12192000"/>
              <a:gd name="connsiteY518" fmla="*/ 2840533 h 4267200"/>
              <a:gd name="connsiteX519" fmla="*/ 358355 w 12192000"/>
              <a:gd name="connsiteY519" fmla="*/ 2620471 h 4267200"/>
              <a:gd name="connsiteX520" fmla="*/ 510577 w 12192000"/>
              <a:gd name="connsiteY520" fmla="*/ 2501244 h 4267200"/>
              <a:gd name="connsiteX521" fmla="*/ 211967 w 12192000"/>
              <a:gd name="connsiteY521" fmla="*/ 2479171 h 4267200"/>
              <a:gd name="connsiteX522" fmla="*/ 0 w 12192000"/>
              <a:gd name="connsiteY522" fmla="*/ 2476398 h 4267200"/>
              <a:gd name="connsiteX523" fmla="*/ 0 w 12192000"/>
              <a:gd name="connsiteY523" fmla="*/ 2389189 h 4267200"/>
              <a:gd name="connsiteX524" fmla="*/ 103062 w 12192000"/>
              <a:gd name="connsiteY524" fmla="*/ 2389518 h 4267200"/>
              <a:gd name="connsiteX525" fmla="*/ 510734 w 12192000"/>
              <a:gd name="connsiteY525" fmla="*/ 2416201 h 4267200"/>
              <a:gd name="connsiteX526" fmla="*/ 279257 w 12192000"/>
              <a:gd name="connsiteY526" fmla="*/ 2092102 h 4267200"/>
              <a:gd name="connsiteX527" fmla="*/ 65265 w 12192000"/>
              <a:gd name="connsiteY527" fmla="*/ 2006049 h 4267200"/>
              <a:gd name="connsiteX528" fmla="*/ 0 w 12192000"/>
              <a:gd name="connsiteY528" fmla="*/ 1982532 h 4267200"/>
              <a:gd name="connsiteX529" fmla="*/ 0 w 12192000"/>
              <a:gd name="connsiteY529" fmla="*/ 1912789 h 4267200"/>
              <a:gd name="connsiteX530" fmla="*/ 97460 w 12192000"/>
              <a:gd name="connsiteY530" fmla="*/ 1953725 h 4267200"/>
              <a:gd name="connsiteX531" fmla="*/ 221272 w 12192000"/>
              <a:gd name="connsiteY531" fmla="*/ 1980766 h 4267200"/>
              <a:gd name="connsiteX532" fmla="*/ 116765 w 12192000"/>
              <a:gd name="connsiteY532" fmla="*/ 1911033 h 4267200"/>
              <a:gd name="connsiteX533" fmla="*/ 16405 w 12192000"/>
              <a:gd name="connsiteY533" fmla="*/ 1803412 h 4267200"/>
              <a:gd name="connsiteX534" fmla="*/ 0 w 12192000"/>
              <a:gd name="connsiteY534" fmla="*/ 1784777 h 4267200"/>
              <a:gd name="connsiteX535" fmla="*/ 0 w 12192000"/>
              <a:gd name="connsiteY535" fmla="*/ 1740082 h 4267200"/>
              <a:gd name="connsiteX536" fmla="*/ 39394 w 12192000"/>
              <a:gd name="connsiteY536" fmla="*/ 1784856 h 4267200"/>
              <a:gd name="connsiteX537" fmla="*/ 135813 w 12192000"/>
              <a:gd name="connsiteY537" fmla="*/ 1888838 h 4267200"/>
              <a:gd name="connsiteX538" fmla="*/ 242575 w 12192000"/>
              <a:gd name="connsiteY538" fmla="*/ 1958841 h 4267200"/>
              <a:gd name="connsiteX539" fmla="*/ 82197 w 12192000"/>
              <a:gd name="connsiteY539" fmla="*/ 1754826 h 4267200"/>
              <a:gd name="connsiteX540" fmla="*/ 0 w 12192000"/>
              <a:gd name="connsiteY540" fmla="*/ 1679650 h 4267200"/>
              <a:gd name="connsiteX541" fmla="*/ 0 w 12192000"/>
              <a:gd name="connsiteY541" fmla="*/ 1602463 h 4267200"/>
              <a:gd name="connsiteX542" fmla="*/ 84689 w 12192000"/>
              <a:gd name="connsiteY542" fmla="*/ 1677442 h 4267200"/>
              <a:gd name="connsiteX543" fmla="*/ 298437 w 12192000"/>
              <a:gd name="connsiteY543" fmla="*/ 1968019 h 4267200"/>
              <a:gd name="connsiteX544" fmla="*/ 227269 w 12192000"/>
              <a:gd name="connsiteY544" fmla="*/ 1114064 h 4267200"/>
              <a:gd name="connsiteX545" fmla="*/ 248003 w 12192000"/>
              <a:gd name="connsiteY545" fmla="*/ 1089613 h 4267200"/>
              <a:gd name="connsiteX546" fmla="*/ 427020 w 12192000"/>
              <a:gd name="connsiteY546" fmla="*/ 1619803 h 4267200"/>
              <a:gd name="connsiteX547" fmla="*/ 340345 w 12192000"/>
              <a:gd name="connsiteY547" fmla="*/ 2027739 h 4267200"/>
              <a:gd name="connsiteX548" fmla="*/ 360865 w 12192000"/>
              <a:gd name="connsiteY548" fmla="*/ 2044827 h 4267200"/>
              <a:gd name="connsiteX549" fmla="*/ 560414 w 12192000"/>
              <a:gd name="connsiteY549" fmla="*/ 2421457 h 4267200"/>
              <a:gd name="connsiteX550" fmla="*/ 1359703 w 12192000"/>
              <a:gd name="connsiteY550" fmla="*/ 2578554 h 4267200"/>
              <a:gd name="connsiteX551" fmla="*/ 1359422 w 12192000"/>
              <a:gd name="connsiteY551" fmla="*/ 2577994 h 4267200"/>
              <a:gd name="connsiteX552" fmla="*/ 828701 w 12192000"/>
              <a:gd name="connsiteY552" fmla="*/ 1839520 h 4267200"/>
              <a:gd name="connsiteX553" fmla="*/ 494427 w 12192000"/>
              <a:gd name="connsiteY553" fmla="*/ 1092333 h 4267200"/>
              <a:gd name="connsiteX554" fmla="*/ 506322 w 12192000"/>
              <a:gd name="connsiteY554" fmla="*/ 1020997 h 4267200"/>
              <a:gd name="connsiteX555" fmla="*/ 4570198 w 12192000"/>
              <a:gd name="connsiteY555" fmla="*/ 978081 h 4267200"/>
              <a:gd name="connsiteX556" fmla="*/ 4523691 w 12192000"/>
              <a:gd name="connsiteY556" fmla="*/ 1127776 h 4267200"/>
              <a:gd name="connsiteX557" fmla="*/ 4509875 w 12192000"/>
              <a:gd name="connsiteY557" fmla="*/ 1167552 h 4267200"/>
              <a:gd name="connsiteX558" fmla="*/ 4478168 w 12192000"/>
              <a:gd name="connsiteY558" fmla="*/ 1260735 h 4267200"/>
              <a:gd name="connsiteX559" fmla="*/ 4409309 w 12192000"/>
              <a:gd name="connsiteY559" fmla="*/ 1666996 h 4267200"/>
              <a:gd name="connsiteX560" fmla="*/ 4370031 w 12192000"/>
              <a:gd name="connsiteY560" fmla="*/ 1955666 h 4267200"/>
              <a:gd name="connsiteX561" fmla="*/ 4570198 w 12192000"/>
              <a:gd name="connsiteY561" fmla="*/ 978081 h 4267200"/>
              <a:gd name="connsiteX562" fmla="*/ 12149131 w 12192000"/>
              <a:gd name="connsiteY562" fmla="*/ 959050 h 4267200"/>
              <a:gd name="connsiteX563" fmla="*/ 12105664 w 12192000"/>
              <a:gd name="connsiteY563" fmla="*/ 1006960 h 4267200"/>
              <a:gd name="connsiteX564" fmla="*/ 11883102 w 12192000"/>
              <a:gd name="connsiteY564" fmla="*/ 1184424 h 4267200"/>
              <a:gd name="connsiteX565" fmla="*/ 11665174 w 12192000"/>
              <a:gd name="connsiteY565" fmla="*/ 1317493 h 4267200"/>
              <a:gd name="connsiteX566" fmla="*/ 11590337 w 12192000"/>
              <a:gd name="connsiteY566" fmla="*/ 1348256 h 4267200"/>
              <a:gd name="connsiteX567" fmla="*/ 11492588 w 12192000"/>
              <a:gd name="connsiteY567" fmla="*/ 1390573 h 4267200"/>
              <a:gd name="connsiteX568" fmla="*/ 11888865 w 12192000"/>
              <a:gd name="connsiteY568" fmla="*/ 1220988 h 4267200"/>
              <a:gd name="connsiteX569" fmla="*/ 12149131 w 12192000"/>
              <a:gd name="connsiteY569" fmla="*/ 959050 h 4267200"/>
              <a:gd name="connsiteX570" fmla="*/ 4557898 w 12192000"/>
              <a:gd name="connsiteY570" fmla="*/ 900011 h 4267200"/>
              <a:gd name="connsiteX571" fmla="*/ 4344840 w 12192000"/>
              <a:gd name="connsiteY571" fmla="*/ 1922038 h 4267200"/>
              <a:gd name="connsiteX572" fmla="*/ 4378710 w 12192000"/>
              <a:gd name="connsiteY572" fmla="*/ 1665516 h 4267200"/>
              <a:gd name="connsiteX573" fmla="*/ 4448798 w 12192000"/>
              <a:gd name="connsiteY573" fmla="*/ 1253024 h 4267200"/>
              <a:gd name="connsiteX574" fmla="*/ 4480315 w 12192000"/>
              <a:gd name="connsiteY574" fmla="*/ 1158454 h 4267200"/>
              <a:gd name="connsiteX575" fmla="*/ 4494133 w 12192000"/>
              <a:gd name="connsiteY575" fmla="*/ 1118676 h 4267200"/>
              <a:gd name="connsiteX576" fmla="*/ 4557898 w 12192000"/>
              <a:gd name="connsiteY576" fmla="*/ 900011 h 4267200"/>
              <a:gd name="connsiteX577" fmla="*/ 5870151 w 12192000"/>
              <a:gd name="connsiteY577" fmla="*/ 898890 h 4267200"/>
              <a:gd name="connsiteX578" fmla="*/ 5861335 w 12192000"/>
              <a:gd name="connsiteY578" fmla="*/ 899177 h 4267200"/>
              <a:gd name="connsiteX579" fmla="*/ 5843702 w 12192000"/>
              <a:gd name="connsiteY579" fmla="*/ 899748 h 4267200"/>
              <a:gd name="connsiteX580" fmla="*/ 5651107 w 12192000"/>
              <a:gd name="connsiteY580" fmla="*/ 920306 h 4267200"/>
              <a:gd name="connsiteX581" fmla="*/ 5459407 w 12192000"/>
              <a:gd name="connsiteY581" fmla="*/ 940975 h 4267200"/>
              <a:gd name="connsiteX582" fmla="*/ 5374846 w 12192000"/>
              <a:gd name="connsiteY582" fmla="*/ 941988 h 4267200"/>
              <a:gd name="connsiteX583" fmla="*/ 5256105 w 12192000"/>
              <a:gd name="connsiteY583" fmla="*/ 945632 h 4267200"/>
              <a:gd name="connsiteX584" fmla="*/ 5107071 w 12192000"/>
              <a:gd name="connsiteY584" fmla="*/ 969720 h 4267200"/>
              <a:gd name="connsiteX585" fmla="*/ 4998681 w 12192000"/>
              <a:gd name="connsiteY585" fmla="*/ 988771 h 4267200"/>
              <a:gd name="connsiteX586" fmla="*/ 5870151 w 12192000"/>
              <a:gd name="connsiteY586" fmla="*/ 898890 h 4267200"/>
              <a:gd name="connsiteX587" fmla="*/ 12190084 w 12192000"/>
              <a:gd name="connsiteY587" fmla="*/ 854709 h 4267200"/>
              <a:gd name="connsiteX588" fmla="*/ 12162947 w 12192000"/>
              <a:gd name="connsiteY588" fmla="*/ 879275 h 4267200"/>
              <a:gd name="connsiteX589" fmla="*/ 11721478 w 12192000"/>
              <a:gd name="connsiteY589" fmla="*/ 1216434 h 4267200"/>
              <a:gd name="connsiteX590" fmla="*/ 11680712 w 12192000"/>
              <a:gd name="connsiteY590" fmla="*/ 1239730 h 4267200"/>
              <a:gd name="connsiteX591" fmla="*/ 11505347 w 12192000"/>
              <a:gd name="connsiteY591" fmla="*/ 1352837 h 4267200"/>
              <a:gd name="connsiteX592" fmla="*/ 11580962 w 12192000"/>
              <a:gd name="connsiteY592" fmla="*/ 1321759 h 4267200"/>
              <a:gd name="connsiteX593" fmla="*/ 11654234 w 12192000"/>
              <a:gd name="connsiteY593" fmla="*/ 1291618 h 4267200"/>
              <a:gd name="connsiteX594" fmla="*/ 11867274 w 12192000"/>
              <a:gd name="connsiteY594" fmla="*/ 1160983 h 4267200"/>
              <a:gd name="connsiteX595" fmla="*/ 12086035 w 12192000"/>
              <a:gd name="connsiteY595" fmla="*/ 986418 h 4267200"/>
              <a:gd name="connsiteX596" fmla="*/ 12190084 w 12192000"/>
              <a:gd name="connsiteY596" fmla="*/ 854709 h 4267200"/>
              <a:gd name="connsiteX597" fmla="*/ 5504425 w 12192000"/>
              <a:gd name="connsiteY597" fmla="*/ 848067 h 4267200"/>
              <a:gd name="connsiteX598" fmla="*/ 4968849 w 12192000"/>
              <a:gd name="connsiteY598" fmla="*/ 962318 h 4267200"/>
              <a:gd name="connsiteX599" fmla="*/ 5104039 w 12192000"/>
              <a:gd name="connsiteY599" fmla="*/ 940634 h 4267200"/>
              <a:gd name="connsiteX600" fmla="*/ 5256311 w 12192000"/>
              <a:gd name="connsiteY600" fmla="*/ 916490 h 4267200"/>
              <a:gd name="connsiteX601" fmla="*/ 5377381 w 12192000"/>
              <a:gd name="connsiteY601" fmla="*/ 912671 h 4267200"/>
              <a:gd name="connsiteX602" fmla="*/ 5460148 w 12192000"/>
              <a:gd name="connsiteY602" fmla="*/ 911442 h 4267200"/>
              <a:gd name="connsiteX603" fmla="*/ 5648971 w 12192000"/>
              <a:gd name="connsiteY603" fmla="*/ 891331 h 4267200"/>
              <a:gd name="connsiteX604" fmla="*/ 5844807 w 12192000"/>
              <a:gd name="connsiteY604" fmla="*/ 870718 h 4267200"/>
              <a:gd name="connsiteX605" fmla="*/ 5862975 w 12192000"/>
              <a:gd name="connsiteY605" fmla="*/ 869756 h 4267200"/>
              <a:gd name="connsiteX606" fmla="*/ 5920887 w 12192000"/>
              <a:gd name="connsiteY606" fmla="*/ 865929 h 4267200"/>
              <a:gd name="connsiteX607" fmla="*/ 5504425 w 12192000"/>
              <a:gd name="connsiteY607" fmla="*/ 848067 h 4267200"/>
              <a:gd name="connsiteX608" fmla="*/ 8924104 w 12192000"/>
              <a:gd name="connsiteY608" fmla="*/ 777000 h 4267200"/>
              <a:gd name="connsiteX609" fmla="*/ 8921999 w 12192000"/>
              <a:gd name="connsiteY609" fmla="*/ 794136 h 4267200"/>
              <a:gd name="connsiteX610" fmla="*/ 8916066 w 12192000"/>
              <a:gd name="connsiteY610" fmla="*/ 843129 h 4267200"/>
              <a:gd name="connsiteX611" fmla="*/ 8909852 w 12192000"/>
              <a:gd name="connsiteY611" fmla="*/ 1005313 h 4267200"/>
              <a:gd name="connsiteX612" fmla="*/ 8936982 w 12192000"/>
              <a:gd name="connsiteY612" fmla="*/ 1614896 h 4267200"/>
              <a:gd name="connsiteX613" fmla="*/ 8939706 w 12192000"/>
              <a:gd name="connsiteY613" fmla="*/ 1632791 h 4267200"/>
              <a:gd name="connsiteX614" fmla="*/ 8946691 w 12192000"/>
              <a:gd name="connsiteY614" fmla="*/ 1680170 h 4267200"/>
              <a:gd name="connsiteX615" fmla="*/ 8947643 w 12192000"/>
              <a:gd name="connsiteY615" fmla="*/ 1649028 h 4267200"/>
              <a:gd name="connsiteX616" fmla="*/ 8931687 w 12192000"/>
              <a:gd name="connsiteY616" fmla="*/ 871628 h 4267200"/>
              <a:gd name="connsiteX617" fmla="*/ 8929804 w 12192000"/>
              <a:gd name="connsiteY617" fmla="*/ 850229 h 4267200"/>
              <a:gd name="connsiteX618" fmla="*/ 8924104 w 12192000"/>
              <a:gd name="connsiteY618" fmla="*/ 777000 h 4267200"/>
              <a:gd name="connsiteX619" fmla="*/ 8951219 w 12192000"/>
              <a:gd name="connsiteY619" fmla="*/ 764662 h 4267200"/>
              <a:gd name="connsiteX620" fmla="*/ 8957270 w 12192000"/>
              <a:gd name="connsiteY620" fmla="*/ 847698 h 4267200"/>
              <a:gd name="connsiteX621" fmla="*/ 8959153 w 12192000"/>
              <a:gd name="connsiteY621" fmla="*/ 869097 h 4267200"/>
              <a:gd name="connsiteX622" fmla="*/ 8976081 w 12192000"/>
              <a:gd name="connsiteY622" fmla="*/ 1619865 h 4267200"/>
              <a:gd name="connsiteX623" fmla="*/ 8951219 w 12192000"/>
              <a:gd name="connsiteY623" fmla="*/ 764662 h 4267200"/>
              <a:gd name="connsiteX624" fmla="*/ 8898081 w 12192000"/>
              <a:gd name="connsiteY624" fmla="*/ 630137 h 4267200"/>
              <a:gd name="connsiteX625" fmla="*/ 8910095 w 12192000"/>
              <a:gd name="connsiteY625" fmla="*/ 1626691 h 4267200"/>
              <a:gd name="connsiteX626" fmla="*/ 8908822 w 12192000"/>
              <a:gd name="connsiteY626" fmla="*/ 1619067 h 4267200"/>
              <a:gd name="connsiteX627" fmla="*/ 8881669 w 12192000"/>
              <a:gd name="connsiteY627" fmla="*/ 1004967 h 4267200"/>
              <a:gd name="connsiteX628" fmla="*/ 8888265 w 12192000"/>
              <a:gd name="connsiteY628" fmla="*/ 840369 h 4267200"/>
              <a:gd name="connsiteX629" fmla="*/ 8894429 w 12192000"/>
              <a:gd name="connsiteY629" fmla="*/ 790831 h 4267200"/>
              <a:gd name="connsiteX630" fmla="*/ 8898081 w 12192000"/>
              <a:gd name="connsiteY630" fmla="*/ 630137 h 4267200"/>
              <a:gd name="connsiteX631" fmla="*/ 11491396 w 12192000"/>
              <a:gd name="connsiteY631" fmla="*/ 623931 h 4267200"/>
              <a:gd name="connsiteX632" fmla="*/ 11413329 w 12192000"/>
              <a:gd name="connsiteY632" fmla="*/ 662344 h 4267200"/>
              <a:gd name="connsiteX633" fmla="*/ 10966547 w 12192000"/>
              <a:gd name="connsiteY633" fmla="*/ 818916 h 4267200"/>
              <a:gd name="connsiteX634" fmla="*/ 10498883 w 12192000"/>
              <a:gd name="connsiteY634" fmla="*/ 1111507 h 4267200"/>
              <a:gd name="connsiteX635" fmla="*/ 10671292 w 12192000"/>
              <a:gd name="connsiteY635" fmla="*/ 1035777 h 4267200"/>
              <a:gd name="connsiteX636" fmla="*/ 10685894 w 12192000"/>
              <a:gd name="connsiteY636" fmla="*/ 1027151 h 4267200"/>
              <a:gd name="connsiteX637" fmla="*/ 11104337 w 12192000"/>
              <a:gd name="connsiteY637" fmla="*/ 817377 h 4267200"/>
              <a:gd name="connsiteX638" fmla="*/ 11491396 w 12192000"/>
              <a:gd name="connsiteY638" fmla="*/ 623931 h 4267200"/>
              <a:gd name="connsiteX639" fmla="*/ 10779304 w 12192000"/>
              <a:gd name="connsiteY639" fmla="*/ 584486 h 4267200"/>
              <a:gd name="connsiteX640" fmla="*/ 10658378 w 12192000"/>
              <a:gd name="connsiteY640" fmla="*/ 772788 h 4267200"/>
              <a:gd name="connsiteX641" fmla="*/ 10475581 w 12192000"/>
              <a:gd name="connsiteY641" fmla="*/ 1070739 h 4267200"/>
              <a:gd name="connsiteX642" fmla="*/ 10735178 w 12192000"/>
              <a:gd name="connsiteY642" fmla="*/ 693281 h 4267200"/>
              <a:gd name="connsiteX643" fmla="*/ 10132488 w 12192000"/>
              <a:gd name="connsiteY643" fmla="*/ 518596 h 4267200"/>
              <a:gd name="connsiteX644" fmla="*/ 9879465 w 12192000"/>
              <a:gd name="connsiteY644" fmla="*/ 567273 h 4267200"/>
              <a:gd name="connsiteX645" fmla="*/ 9364243 w 12192000"/>
              <a:gd name="connsiteY645" fmla="*/ 809468 h 4267200"/>
              <a:gd name="connsiteX646" fmla="*/ 9366655 w 12192000"/>
              <a:gd name="connsiteY646" fmla="*/ 809848 h 4267200"/>
              <a:gd name="connsiteX647" fmla="*/ 9914233 w 12192000"/>
              <a:gd name="connsiteY647" fmla="*/ 596159 h 4267200"/>
              <a:gd name="connsiteX648" fmla="*/ 10264524 w 12192000"/>
              <a:gd name="connsiteY648" fmla="*/ 501747 h 4267200"/>
              <a:gd name="connsiteX649" fmla="*/ 9922837 w 12192000"/>
              <a:gd name="connsiteY649" fmla="*/ 622979 h 4267200"/>
              <a:gd name="connsiteX650" fmla="*/ 9416908 w 12192000"/>
              <a:gd name="connsiteY650" fmla="*/ 818889 h 4267200"/>
              <a:gd name="connsiteX651" fmla="*/ 9418234 w 12192000"/>
              <a:gd name="connsiteY651" fmla="*/ 818810 h 4267200"/>
              <a:gd name="connsiteX652" fmla="*/ 10264524 w 12192000"/>
              <a:gd name="connsiteY652" fmla="*/ 501747 h 4267200"/>
              <a:gd name="connsiteX653" fmla="*/ 10802699 w 12192000"/>
              <a:gd name="connsiteY653" fmla="*/ 488163 h 4267200"/>
              <a:gd name="connsiteX654" fmla="*/ 10618739 w 12192000"/>
              <a:gd name="connsiteY654" fmla="*/ 734118 h 4267200"/>
              <a:gd name="connsiteX655" fmla="*/ 10604580 w 12192000"/>
              <a:gd name="connsiteY655" fmla="*/ 753877 h 4267200"/>
              <a:gd name="connsiteX656" fmla="*/ 10529643 w 12192000"/>
              <a:gd name="connsiteY656" fmla="*/ 867004 h 4267200"/>
              <a:gd name="connsiteX657" fmla="*/ 10462194 w 12192000"/>
              <a:gd name="connsiteY657" fmla="*/ 1035452 h 4267200"/>
              <a:gd name="connsiteX658" fmla="*/ 10635117 w 12192000"/>
              <a:gd name="connsiteY658" fmla="*/ 757788 h 4267200"/>
              <a:gd name="connsiteX659" fmla="*/ 10802699 w 12192000"/>
              <a:gd name="connsiteY659" fmla="*/ 488163 h 4267200"/>
              <a:gd name="connsiteX660" fmla="*/ 10359107 w 12192000"/>
              <a:gd name="connsiteY660" fmla="*/ 485136 h 4267200"/>
              <a:gd name="connsiteX661" fmla="*/ 9515108 w 12192000"/>
              <a:gd name="connsiteY661" fmla="*/ 825701 h 4267200"/>
              <a:gd name="connsiteX662" fmla="*/ 10359107 w 12192000"/>
              <a:gd name="connsiteY662" fmla="*/ 485136 h 4267200"/>
              <a:gd name="connsiteX663" fmla="*/ 11886089 w 12192000"/>
              <a:gd name="connsiteY663" fmla="*/ 483936 h 4267200"/>
              <a:gd name="connsiteX664" fmla="*/ 11622890 w 12192000"/>
              <a:gd name="connsiteY664" fmla="*/ 661575 h 4267200"/>
              <a:gd name="connsiteX665" fmla="*/ 11038640 w 12192000"/>
              <a:gd name="connsiteY665" fmla="*/ 996875 h 4267200"/>
              <a:gd name="connsiteX666" fmla="*/ 10561310 w 12192000"/>
              <a:gd name="connsiteY666" fmla="*/ 1145020 h 4267200"/>
              <a:gd name="connsiteX667" fmla="*/ 10675127 w 12192000"/>
              <a:gd name="connsiteY667" fmla="*/ 1163586 h 4267200"/>
              <a:gd name="connsiteX668" fmla="*/ 11120351 w 12192000"/>
              <a:gd name="connsiteY668" fmla="*/ 990907 h 4267200"/>
              <a:gd name="connsiteX669" fmla="*/ 11648506 w 12192000"/>
              <a:gd name="connsiteY669" fmla="*/ 680145 h 4267200"/>
              <a:gd name="connsiteX670" fmla="*/ 11886089 w 12192000"/>
              <a:gd name="connsiteY670" fmla="*/ 483936 h 4267200"/>
              <a:gd name="connsiteX671" fmla="*/ 3607114 w 12192000"/>
              <a:gd name="connsiteY671" fmla="*/ 467441 h 4267200"/>
              <a:gd name="connsiteX672" fmla="*/ 3296242 w 12192000"/>
              <a:gd name="connsiteY672" fmla="*/ 807991 h 4267200"/>
              <a:gd name="connsiteX673" fmla="*/ 3174674 w 12192000"/>
              <a:gd name="connsiteY673" fmla="*/ 919759 h 4267200"/>
              <a:gd name="connsiteX674" fmla="*/ 3042978 w 12192000"/>
              <a:gd name="connsiteY674" fmla="*/ 1054894 h 4267200"/>
              <a:gd name="connsiteX675" fmla="*/ 2968914 w 12192000"/>
              <a:gd name="connsiteY675" fmla="*/ 1133756 h 4267200"/>
              <a:gd name="connsiteX676" fmla="*/ 3103823 w 12192000"/>
              <a:gd name="connsiteY676" fmla="*/ 1026814 h 4267200"/>
              <a:gd name="connsiteX677" fmla="*/ 3607114 w 12192000"/>
              <a:gd name="connsiteY677" fmla="*/ 467441 h 4267200"/>
              <a:gd name="connsiteX678" fmla="*/ 10784544 w 12192000"/>
              <a:gd name="connsiteY678" fmla="*/ 465669 h 4267200"/>
              <a:gd name="connsiteX679" fmla="*/ 10426419 w 12192000"/>
              <a:gd name="connsiteY679" fmla="*/ 1062158 h 4267200"/>
              <a:gd name="connsiteX680" fmla="*/ 10471732 w 12192000"/>
              <a:gd name="connsiteY680" fmla="*/ 921679 h 4267200"/>
              <a:gd name="connsiteX681" fmla="*/ 10504824 w 12192000"/>
              <a:gd name="connsiteY681" fmla="*/ 852631 h 4267200"/>
              <a:gd name="connsiteX682" fmla="*/ 10582237 w 12192000"/>
              <a:gd name="connsiteY682" fmla="*/ 736692 h 4267200"/>
              <a:gd name="connsiteX683" fmla="*/ 10596401 w 12192000"/>
              <a:gd name="connsiteY683" fmla="*/ 716935 h 4267200"/>
              <a:gd name="connsiteX684" fmla="*/ 10784544 w 12192000"/>
              <a:gd name="connsiteY684" fmla="*/ 465669 h 4267200"/>
              <a:gd name="connsiteX685" fmla="*/ 11916494 w 12192000"/>
              <a:gd name="connsiteY685" fmla="*/ 422768 h 4267200"/>
              <a:gd name="connsiteX686" fmla="*/ 11703185 w 12192000"/>
              <a:gd name="connsiteY686" fmla="*/ 528178 h 4267200"/>
              <a:gd name="connsiteX687" fmla="*/ 11680755 w 12192000"/>
              <a:gd name="connsiteY687" fmla="*/ 543149 h 4267200"/>
              <a:gd name="connsiteX688" fmla="*/ 11116818 w 12192000"/>
              <a:gd name="connsiteY688" fmla="*/ 842623 h 4267200"/>
              <a:gd name="connsiteX689" fmla="*/ 10700164 w 12192000"/>
              <a:gd name="connsiteY689" fmla="*/ 1051220 h 4267200"/>
              <a:gd name="connsiteX690" fmla="*/ 10685570 w 12192000"/>
              <a:gd name="connsiteY690" fmla="*/ 1059849 h 4267200"/>
              <a:gd name="connsiteX691" fmla="*/ 10584288 w 12192000"/>
              <a:gd name="connsiteY691" fmla="*/ 1113543 h 4267200"/>
              <a:gd name="connsiteX692" fmla="*/ 11026698 w 12192000"/>
              <a:gd name="connsiteY692" fmla="*/ 971858 h 4267200"/>
              <a:gd name="connsiteX693" fmla="*/ 11607604 w 12192000"/>
              <a:gd name="connsiteY693" fmla="*/ 638368 h 4267200"/>
              <a:gd name="connsiteX694" fmla="*/ 11919452 w 12192000"/>
              <a:gd name="connsiteY694" fmla="*/ 423380 h 4267200"/>
              <a:gd name="connsiteX695" fmla="*/ 11916494 w 12192000"/>
              <a:gd name="connsiteY695" fmla="*/ 422768 h 4267200"/>
              <a:gd name="connsiteX696" fmla="*/ 8148168 w 12192000"/>
              <a:gd name="connsiteY696" fmla="*/ 416949 h 4267200"/>
              <a:gd name="connsiteX697" fmla="*/ 7862052 w 12192000"/>
              <a:gd name="connsiteY697" fmla="*/ 694330 h 4267200"/>
              <a:gd name="connsiteX698" fmla="*/ 7808002 w 12192000"/>
              <a:gd name="connsiteY698" fmla="*/ 759654 h 4267200"/>
              <a:gd name="connsiteX699" fmla="*/ 8295299 w 12192000"/>
              <a:gd name="connsiteY699" fmla="*/ 416143 h 4267200"/>
              <a:gd name="connsiteX700" fmla="*/ 8309124 w 12192000"/>
              <a:gd name="connsiteY700" fmla="*/ 534021 h 4267200"/>
              <a:gd name="connsiteX701" fmla="*/ 8293154 w 12192000"/>
              <a:gd name="connsiteY701" fmla="*/ 672115 h 4267200"/>
              <a:gd name="connsiteX702" fmla="*/ 8279099 w 12192000"/>
              <a:gd name="connsiteY702" fmla="*/ 769176 h 4267200"/>
              <a:gd name="connsiteX703" fmla="*/ 8309186 w 12192000"/>
              <a:gd name="connsiteY703" fmla="*/ 1060039 h 4267200"/>
              <a:gd name="connsiteX704" fmla="*/ 8410512 w 12192000"/>
              <a:gd name="connsiteY704" fmla="*/ 1511108 h 4267200"/>
              <a:gd name="connsiteX705" fmla="*/ 8351657 w 12192000"/>
              <a:gd name="connsiteY705" fmla="*/ 521768 h 4267200"/>
              <a:gd name="connsiteX706" fmla="*/ 8295299 w 12192000"/>
              <a:gd name="connsiteY706" fmla="*/ 416143 h 4267200"/>
              <a:gd name="connsiteX707" fmla="*/ 8266483 w 12192000"/>
              <a:gd name="connsiteY707" fmla="*/ 414244 h 4267200"/>
              <a:gd name="connsiteX708" fmla="*/ 8343425 w 12192000"/>
              <a:gd name="connsiteY708" fmla="*/ 1357811 h 4267200"/>
              <a:gd name="connsiteX709" fmla="*/ 8282114 w 12192000"/>
              <a:gd name="connsiteY709" fmla="*/ 1064671 h 4267200"/>
              <a:gd name="connsiteX710" fmla="*/ 8251298 w 12192000"/>
              <a:gd name="connsiteY710" fmla="*/ 766414 h 4267200"/>
              <a:gd name="connsiteX711" fmla="*/ 8265729 w 12192000"/>
              <a:gd name="connsiteY711" fmla="*/ 666939 h 4267200"/>
              <a:gd name="connsiteX712" fmla="*/ 8281494 w 12192000"/>
              <a:gd name="connsiteY712" fmla="*/ 533909 h 4267200"/>
              <a:gd name="connsiteX713" fmla="*/ 8266483 w 12192000"/>
              <a:gd name="connsiteY713" fmla="*/ 414244 h 4267200"/>
              <a:gd name="connsiteX714" fmla="*/ 8140802 w 12192000"/>
              <a:gd name="connsiteY714" fmla="*/ 388720 h 4267200"/>
              <a:gd name="connsiteX715" fmla="*/ 7860379 w 12192000"/>
              <a:gd name="connsiteY715" fmla="*/ 596411 h 4267200"/>
              <a:gd name="connsiteX716" fmla="*/ 7737688 w 12192000"/>
              <a:gd name="connsiteY716" fmla="*/ 790400 h 4267200"/>
              <a:gd name="connsiteX717" fmla="*/ 7726885 w 12192000"/>
              <a:gd name="connsiteY717" fmla="*/ 812869 h 4267200"/>
              <a:gd name="connsiteX718" fmla="*/ 7840490 w 12192000"/>
              <a:gd name="connsiteY718" fmla="*/ 676832 h 4267200"/>
              <a:gd name="connsiteX719" fmla="*/ 8140802 w 12192000"/>
              <a:gd name="connsiteY719" fmla="*/ 388720 h 4267200"/>
              <a:gd name="connsiteX720" fmla="*/ 3744487 w 12192000"/>
              <a:gd name="connsiteY720" fmla="*/ 383136 h 4267200"/>
              <a:gd name="connsiteX721" fmla="*/ 3970213 w 12192000"/>
              <a:gd name="connsiteY721" fmla="*/ 995559 h 4267200"/>
              <a:gd name="connsiteX722" fmla="*/ 3744487 w 12192000"/>
              <a:gd name="connsiteY722" fmla="*/ 383136 h 4267200"/>
              <a:gd name="connsiteX723" fmla="*/ 3624562 w 12192000"/>
              <a:gd name="connsiteY723" fmla="*/ 367041 h 4267200"/>
              <a:gd name="connsiteX724" fmla="*/ 3489712 w 12192000"/>
              <a:gd name="connsiteY724" fmla="*/ 485386 h 4267200"/>
              <a:gd name="connsiteX725" fmla="*/ 3182994 w 12192000"/>
              <a:gd name="connsiteY725" fmla="*/ 828265 h 4267200"/>
              <a:gd name="connsiteX726" fmla="*/ 2892114 w 12192000"/>
              <a:gd name="connsiteY726" fmla="*/ 1172635 h 4267200"/>
              <a:gd name="connsiteX727" fmla="*/ 3021459 w 12192000"/>
              <a:gd name="connsiteY727" fmla="*/ 1035385 h 4267200"/>
              <a:gd name="connsiteX728" fmla="*/ 3153873 w 12192000"/>
              <a:gd name="connsiteY728" fmla="*/ 898971 h 4267200"/>
              <a:gd name="connsiteX729" fmla="*/ 3276511 w 12192000"/>
              <a:gd name="connsiteY729" fmla="*/ 786423 h 4267200"/>
              <a:gd name="connsiteX730" fmla="*/ 3584154 w 12192000"/>
              <a:gd name="connsiteY730" fmla="*/ 448218 h 4267200"/>
              <a:gd name="connsiteX731" fmla="*/ 3624562 w 12192000"/>
              <a:gd name="connsiteY731" fmla="*/ 367041 h 4267200"/>
              <a:gd name="connsiteX732" fmla="*/ 3766672 w 12192000"/>
              <a:gd name="connsiteY732" fmla="*/ 359429 h 4267200"/>
              <a:gd name="connsiteX733" fmla="*/ 3996338 w 12192000"/>
              <a:gd name="connsiteY733" fmla="*/ 968237 h 4267200"/>
              <a:gd name="connsiteX734" fmla="*/ 3766672 w 12192000"/>
              <a:gd name="connsiteY734" fmla="*/ 359429 h 4267200"/>
              <a:gd name="connsiteX735" fmla="*/ 5805386 w 12192000"/>
              <a:gd name="connsiteY735" fmla="*/ 239240 h 4267200"/>
              <a:gd name="connsiteX736" fmla="*/ 5736947 w 12192000"/>
              <a:gd name="connsiteY736" fmla="*/ 261367 h 4267200"/>
              <a:gd name="connsiteX737" fmla="*/ 5427012 w 12192000"/>
              <a:gd name="connsiteY737" fmla="*/ 311272 h 4267200"/>
              <a:gd name="connsiteX738" fmla="*/ 5147818 w 12192000"/>
              <a:gd name="connsiteY738" fmla="*/ 322112 h 4267200"/>
              <a:gd name="connsiteX739" fmla="*/ 5060854 w 12192000"/>
              <a:gd name="connsiteY739" fmla="*/ 311882 h 4267200"/>
              <a:gd name="connsiteX740" fmla="*/ 4945989 w 12192000"/>
              <a:gd name="connsiteY740" fmla="*/ 300516 h 4267200"/>
              <a:gd name="connsiteX741" fmla="*/ 5410479 w 12192000"/>
              <a:gd name="connsiteY741" fmla="*/ 348434 h 4267200"/>
              <a:gd name="connsiteX742" fmla="*/ 5805386 w 12192000"/>
              <a:gd name="connsiteY742" fmla="*/ 239240 h 4267200"/>
              <a:gd name="connsiteX743" fmla="*/ 5905192 w 12192000"/>
              <a:gd name="connsiteY743" fmla="*/ 163079 h 4267200"/>
              <a:gd name="connsiteX744" fmla="*/ 5865655 w 12192000"/>
              <a:gd name="connsiteY744" fmla="*/ 171901 h 4267200"/>
              <a:gd name="connsiteX745" fmla="*/ 5259740 w 12192000"/>
              <a:gd name="connsiteY745" fmla="*/ 257013 h 4267200"/>
              <a:gd name="connsiteX746" fmla="*/ 5208466 w 12192000"/>
              <a:gd name="connsiteY746" fmla="*/ 257550 h 4267200"/>
              <a:gd name="connsiteX747" fmla="*/ 4980204 w 12192000"/>
              <a:gd name="connsiteY747" fmla="*/ 271903 h 4267200"/>
              <a:gd name="connsiteX748" fmla="*/ 5068068 w 12192000"/>
              <a:gd name="connsiteY748" fmla="*/ 282244 h 4267200"/>
              <a:gd name="connsiteX749" fmla="*/ 5153231 w 12192000"/>
              <a:gd name="connsiteY749" fmla="*/ 292240 h 4267200"/>
              <a:gd name="connsiteX750" fmla="*/ 5426491 w 12192000"/>
              <a:gd name="connsiteY750" fmla="*/ 281128 h 4267200"/>
              <a:gd name="connsiteX751" fmla="*/ 5731212 w 12192000"/>
              <a:gd name="connsiteY751" fmla="*/ 231951 h 4267200"/>
              <a:gd name="connsiteX752" fmla="*/ 5905192 w 12192000"/>
              <a:gd name="connsiteY752" fmla="*/ 163079 h 4267200"/>
              <a:gd name="connsiteX753" fmla="*/ 5944437 w 12192000"/>
              <a:gd name="connsiteY753" fmla="*/ 113829 h 4267200"/>
              <a:gd name="connsiteX754" fmla="*/ 5825032 w 12192000"/>
              <a:gd name="connsiteY754" fmla="*/ 146405 h 4267200"/>
              <a:gd name="connsiteX755" fmla="*/ 4955599 w 12192000"/>
              <a:gd name="connsiteY755" fmla="*/ 247008 h 4267200"/>
              <a:gd name="connsiteX756" fmla="*/ 5210104 w 12192000"/>
              <a:gd name="connsiteY756" fmla="*/ 228123 h 4267200"/>
              <a:gd name="connsiteX757" fmla="*/ 5261015 w 12192000"/>
              <a:gd name="connsiteY757" fmla="*/ 227087 h 4267200"/>
              <a:gd name="connsiteX758" fmla="*/ 5861181 w 12192000"/>
              <a:gd name="connsiteY758" fmla="*/ 143093 h 4267200"/>
              <a:gd name="connsiteX759" fmla="*/ 5961252 w 12192000"/>
              <a:gd name="connsiteY759" fmla="*/ 114820 h 4267200"/>
              <a:gd name="connsiteX760" fmla="*/ 5944437 w 12192000"/>
              <a:gd name="connsiteY760" fmla="*/ 113829 h 4267200"/>
              <a:gd name="connsiteX761" fmla="*/ 9095810 w 12192000"/>
              <a:gd name="connsiteY761" fmla="*/ 0 h 4267200"/>
              <a:gd name="connsiteX762" fmla="*/ 9215999 w 12192000"/>
              <a:gd name="connsiteY762" fmla="*/ 0 h 4267200"/>
              <a:gd name="connsiteX763" fmla="*/ 9250991 w 12192000"/>
              <a:gd name="connsiteY763" fmla="*/ 17650 h 4267200"/>
              <a:gd name="connsiteX764" fmla="*/ 9551793 w 12192000"/>
              <a:gd name="connsiteY764" fmla="*/ 69947 h 4267200"/>
              <a:gd name="connsiteX765" fmla="*/ 10211701 w 12192000"/>
              <a:gd name="connsiteY765" fmla="*/ 15192 h 4267200"/>
              <a:gd name="connsiteX766" fmla="*/ 9665014 w 12192000"/>
              <a:gd name="connsiteY766" fmla="*/ 41266 h 4267200"/>
              <a:gd name="connsiteX767" fmla="*/ 9382567 w 12192000"/>
              <a:gd name="connsiteY767" fmla="*/ 18583 h 4267200"/>
              <a:gd name="connsiteX768" fmla="*/ 9283159 w 12192000"/>
              <a:gd name="connsiteY768" fmla="*/ 0 h 4267200"/>
              <a:gd name="connsiteX769" fmla="*/ 9469266 w 12192000"/>
              <a:gd name="connsiteY769" fmla="*/ 0 h 4267200"/>
              <a:gd name="connsiteX770" fmla="*/ 9504117 w 12192000"/>
              <a:gd name="connsiteY770" fmla="*/ 4274 h 4267200"/>
              <a:gd name="connsiteX771" fmla="*/ 9667223 w 12192000"/>
              <a:gd name="connsiteY771" fmla="*/ 13232 h 4267200"/>
              <a:gd name="connsiteX772" fmla="*/ 9887703 w 12192000"/>
              <a:gd name="connsiteY772" fmla="*/ 12601 h 4267200"/>
              <a:gd name="connsiteX773" fmla="*/ 10088930 w 12192000"/>
              <a:gd name="connsiteY773" fmla="*/ 0 h 4267200"/>
              <a:gd name="connsiteX774" fmla="*/ 10544171 w 12192000"/>
              <a:gd name="connsiteY774" fmla="*/ 0 h 4267200"/>
              <a:gd name="connsiteX775" fmla="*/ 10392396 w 12192000"/>
              <a:gd name="connsiteY775" fmla="*/ 36772 h 4267200"/>
              <a:gd name="connsiteX776" fmla="*/ 9413803 w 12192000"/>
              <a:gd name="connsiteY776" fmla="*/ 131277 h 4267200"/>
              <a:gd name="connsiteX777" fmla="*/ 9174626 w 12192000"/>
              <a:gd name="connsiteY777" fmla="*/ 44983 h 4267200"/>
              <a:gd name="connsiteX778" fmla="*/ 8474998 w 12192000"/>
              <a:gd name="connsiteY778" fmla="*/ 0 h 4267200"/>
              <a:gd name="connsiteX779" fmla="*/ 8573502 w 12192000"/>
              <a:gd name="connsiteY779" fmla="*/ 0 h 4267200"/>
              <a:gd name="connsiteX780" fmla="*/ 8659539 w 12192000"/>
              <a:gd name="connsiteY780" fmla="*/ 117664 h 4267200"/>
              <a:gd name="connsiteX781" fmla="*/ 9248507 w 12192000"/>
              <a:gd name="connsiteY781" fmla="*/ 743734 h 4267200"/>
              <a:gd name="connsiteX782" fmla="*/ 9309457 w 12192000"/>
              <a:gd name="connsiteY782" fmla="*/ 795932 h 4267200"/>
              <a:gd name="connsiteX783" fmla="*/ 9785496 w 12192000"/>
              <a:gd name="connsiteY783" fmla="*/ 530713 h 4267200"/>
              <a:gd name="connsiteX784" fmla="*/ 10482828 w 12192000"/>
              <a:gd name="connsiteY784" fmla="*/ 399738 h 4267200"/>
              <a:gd name="connsiteX785" fmla="*/ 10468382 w 12192000"/>
              <a:gd name="connsiteY785" fmla="*/ 461219 h 4267200"/>
              <a:gd name="connsiteX786" fmla="*/ 9430790 w 12192000"/>
              <a:gd name="connsiteY786" fmla="*/ 895589 h 4267200"/>
              <a:gd name="connsiteX787" fmla="*/ 10019780 w 12192000"/>
              <a:gd name="connsiteY787" fmla="*/ 1298815 h 4267200"/>
              <a:gd name="connsiteX788" fmla="*/ 10372218 w 12192000"/>
              <a:gd name="connsiteY788" fmla="*/ 1146081 h 4267200"/>
              <a:gd name="connsiteX789" fmla="*/ 10896429 w 12192000"/>
              <a:gd name="connsiteY789" fmla="*/ 310883 h 4267200"/>
              <a:gd name="connsiteX790" fmla="*/ 10919735 w 12192000"/>
              <a:gd name="connsiteY790" fmla="*/ 318176 h 4267200"/>
              <a:gd name="connsiteX791" fmla="*/ 10637064 w 12192000"/>
              <a:gd name="connsiteY791" fmla="*/ 935661 h 4267200"/>
              <a:gd name="connsiteX792" fmla="*/ 10516995 w 12192000"/>
              <a:gd name="connsiteY792" fmla="*/ 1070245 h 4267200"/>
              <a:gd name="connsiteX793" fmla="*/ 10868835 w 12192000"/>
              <a:gd name="connsiteY793" fmla="*/ 815534 h 4267200"/>
              <a:gd name="connsiteX794" fmla="*/ 11704547 w 12192000"/>
              <a:gd name="connsiteY794" fmla="*/ 465665 h 4267200"/>
              <a:gd name="connsiteX795" fmla="*/ 12033562 w 12192000"/>
              <a:gd name="connsiteY795" fmla="*/ 350012 h 4267200"/>
              <a:gd name="connsiteX796" fmla="*/ 12025537 w 12192000"/>
              <a:gd name="connsiteY796" fmla="*/ 382666 h 4267200"/>
              <a:gd name="connsiteX797" fmla="*/ 11088649 w 12192000"/>
              <a:gd name="connsiteY797" fmla="*/ 1056676 h 4267200"/>
              <a:gd name="connsiteX798" fmla="*/ 10561600 w 12192000"/>
              <a:gd name="connsiteY798" fmla="*/ 1229477 h 4267200"/>
              <a:gd name="connsiteX799" fmla="*/ 10280797 w 12192000"/>
              <a:gd name="connsiteY799" fmla="*/ 1263181 h 4267200"/>
              <a:gd name="connsiteX800" fmla="*/ 10083376 w 12192000"/>
              <a:gd name="connsiteY800" fmla="*/ 1334114 h 4267200"/>
              <a:gd name="connsiteX801" fmla="*/ 10832582 w 12192000"/>
              <a:gd name="connsiteY801" fmla="*/ 1687356 h 4267200"/>
              <a:gd name="connsiteX802" fmla="*/ 10839263 w 12192000"/>
              <a:gd name="connsiteY802" fmla="*/ 1683743 h 4267200"/>
              <a:gd name="connsiteX803" fmla="*/ 11350910 w 12192000"/>
              <a:gd name="connsiteY803" fmla="*/ 1443899 h 4267200"/>
              <a:gd name="connsiteX804" fmla="*/ 11360346 w 12192000"/>
              <a:gd name="connsiteY804" fmla="*/ 1429225 h 4267200"/>
              <a:gd name="connsiteX805" fmla="*/ 12167580 w 12192000"/>
              <a:gd name="connsiteY805" fmla="*/ 789523 h 4267200"/>
              <a:gd name="connsiteX806" fmla="*/ 12192000 w 12192000"/>
              <a:gd name="connsiteY806" fmla="*/ 769876 h 4267200"/>
              <a:gd name="connsiteX807" fmla="*/ 12192000 w 12192000"/>
              <a:gd name="connsiteY807" fmla="*/ 802845 h 4267200"/>
              <a:gd name="connsiteX808" fmla="*/ 12173558 w 12192000"/>
              <a:gd name="connsiteY808" fmla="*/ 821317 h 4267200"/>
              <a:gd name="connsiteX809" fmla="*/ 12117398 w 12192000"/>
              <a:gd name="connsiteY809" fmla="*/ 877374 h 4267200"/>
              <a:gd name="connsiteX810" fmla="*/ 11472926 w 12192000"/>
              <a:gd name="connsiteY810" fmla="*/ 1344259 h 4267200"/>
              <a:gd name="connsiteX811" fmla="*/ 11666978 w 12192000"/>
              <a:gd name="connsiteY811" fmla="*/ 1215889 h 4267200"/>
              <a:gd name="connsiteX812" fmla="*/ 11707200 w 12192000"/>
              <a:gd name="connsiteY812" fmla="*/ 1192361 h 4267200"/>
              <a:gd name="connsiteX813" fmla="*/ 12144637 w 12192000"/>
              <a:gd name="connsiteY813" fmla="*/ 858646 h 4267200"/>
              <a:gd name="connsiteX814" fmla="*/ 12192000 w 12192000"/>
              <a:gd name="connsiteY814" fmla="*/ 810414 h 4267200"/>
              <a:gd name="connsiteX815" fmla="*/ 12192000 w 12192000"/>
              <a:gd name="connsiteY815" fmla="*/ 916439 h 4267200"/>
              <a:gd name="connsiteX816" fmla="*/ 12150630 w 12192000"/>
              <a:gd name="connsiteY816" fmla="*/ 982925 h 4267200"/>
              <a:gd name="connsiteX817" fmla="*/ 11389484 w 12192000"/>
              <a:gd name="connsiteY817" fmla="*/ 1469889 h 4267200"/>
              <a:gd name="connsiteX818" fmla="*/ 10923736 w 12192000"/>
              <a:gd name="connsiteY818" fmla="*/ 1721439 h 4267200"/>
              <a:gd name="connsiteX819" fmla="*/ 11091913 w 12192000"/>
              <a:gd name="connsiteY819" fmla="*/ 1780406 h 4267200"/>
              <a:gd name="connsiteX820" fmla="*/ 11771238 w 12192000"/>
              <a:gd name="connsiteY820" fmla="*/ 1944400 h 4267200"/>
              <a:gd name="connsiteX821" fmla="*/ 11783166 w 12192000"/>
              <a:gd name="connsiteY821" fmla="*/ 1931422 h 4267200"/>
              <a:gd name="connsiteX822" fmla="*/ 12131988 w 12192000"/>
              <a:gd name="connsiteY822" fmla="*/ 1574357 h 4267200"/>
              <a:gd name="connsiteX823" fmla="*/ 12192000 w 12192000"/>
              <a:gd name="connsiteY823" fmla="*/ 1537429 h 4267200"/>
              <a:gd name="connsiteX824" fmla="*/ 12192000 w 12192000"/>
              <a:gd name="connsiteY824" fmla="*/ 1589108 h 4267200"/>
              <a:gd name="connsiteX825" fmla="*/ 12112105 w 12192000"/>
              <a:gd name="connsiteY825" fmla="*/ 1640352 h 4267200"/>
              <a:gd name="connsiteX826" fmla="*/ 11849203 w 12192000"/>
              <a:gd name="connsiteY826" fmla="*/ 1900149 h 4267200"/>
              <a:gd name="connsiteX827" fmla="*/ 11946326 w 12192000"/>
              <a:gd name="connsiteY827" fmla="*/ 1822808 h 4267200"/>
              <a:gd name="connsiteX828" fmla="*/ 12055863 w 12192000"/>
              <a:gd name="connsiteY828" fmla="*/ 1735914 h 4267200"/>
              <a:gd name="connsiteX829" fmla="*/ 12150816 w 12192000"/>
              <a:gd name="connsiteY829" fmla="*/ 1678902 h 4267200"/>
              <a:gd name="connsiteX830" fmla="*/ 12192000 w 12192000"/>
              <a:gd name="connsiteY830" fmla="*/ 1655121 h 4267200"/>
              <a:gd name="connsiteX831" fmla="*/ 12192000 w 12192000"/>
              <a:gd name="connsiteY831" fmla="*/ 1686869 h 4267200"/>
              <a:gd name="connsiteX832" fmla="*/ 12163772 w 12192000"/>
              <a:gd name="connsiteY832" fmla="*/ 1703058 h 4267200"/>
              <a:gd name="connsiteX833" fmla="*/ 12070597 w 12192000"/>
              <a:gd name="connsiteY833" fmla="*/ 1758893 h 4267200"/>
              <a:gd name="connsiteX834" fmla="*/ 11963621 w 12192000"/>
              <a:gd name="connsiteY834" fmla="*/ 1844299 h 4267200"/>
              <a:gd name="connsiteX835" fmla="*/ 11886604 w 12192000"/>
              <a:gd name="connsiteY835" fmla="*/ 1907617 h 4267200"/>
              <a:gd name="connsiteX836" fmla="*/ 12153575 w 12192000"/>
              <a:gd name="connsiteY836" fmla="*/ 1786372 h 4267200"/>
              <a:gd name="connsiteX837" fmla="*/ 12192000 w 12192000"/>
              <a:gd name="connsiteY837" fmla="*/ 1759693 h 4267200"/>
              <a:gd name="connsiteX838" fmla="*/ 12192000 w 12192000"/>
              <a:gd name="connsiteY838" fmla="*/ 1809459 h 4267200"/>
              <a:gd name="connsiteX839" fmla="*/ 12121362 w 12192000"/>
              <a:gd name="connsiteY839" fmla="*/ 1857561 h 4267200"/>
              <a:gd name="connsiteX840" fmla="*/ 11895949 w 12192000"/>
              <a:gd name="connsiteY840" fmla="*/ 1963079 h 4267200"/>
              <a:gd name="connsiteX841" fmla="*/ 12192000 w 12192000"/>
              <a:gd name="connsiteY841" fmla="*/ 1990579 h 4267200"/>
              <a:gd name="connsiteX842" fmla="*/ 12192000 w 12192000"/>
              <a:gd name="connsiteY842" fmla="*/ 2065582 h 4267200"/>
              <a:gd name="connsiteX843" fmla="*/ 12153918 w 12192000"/>
              <a:gd name="connsiteY843" fmla="*/ 2063926 h 4267200"/>
              <a:gd name="connsiteX844" fmla="*/ 12192000 w 12192000"/>
              <a:gd name="connsiteY844" fmla="*/ 2085104 h 4267200"/>
              <a:gd name="connsiteX845" fmla="*/ 12192000 w 12192000"/>
              <a:gd name="connsiteY845" fmla="*/ 2178471 h 4267200"/>
              <a:gd name="connsiteX846" fmla="*/ 12085355 w 12192000"/>
              <a:gd name="connsiteY846" fmla="*/ 2122457 h 4267200"/>
              <a:gd name="connsiteX847" fmla="*/ 12192000 w 12192000"/>
              <a:gd name="connsiteY847" fmla="*/ 2196158 h 4267200"/>
              <a:gd name="connsiteX848" fmla="*/ 12192000 w 12192000"/>
              <a:gd name="connsiteY848" fmla="*/ 2230374 h 4267200"/>
              <a:gd name="connsiteX849" fmla="*/ 12041237 w 12192000"/>
              <a:gd name="connsiteY849" fmla="*/ 2126309 h 4267200"/>
              <a:gd name="connsiteX850" fmla="*/ 12174450 w 12192000"/>
              <a:gd name="connsiteY850" fmla="*/ 2262541 h 4267200"/>
              <a:gd name="connsiteX851" fmla="*/ 12192000 w 12192000"/>
              <a:gd name="connsiteY851" fmla="*/ 2275857 h 4267200"/>
              <a:gd name="connsiteX852" fmla="*/ 12192000 w 12192000"/>
              <a:gd name="connsiteY852" fmla="*/ 2377131 h 4267200"/>
              <a:gd name="connsiteX853" fmla="*/ 12155801 w 12192000"/>
              <a:gd name="connsiteY853" fmla="*/ 2349925 h 4267200"/>
              <a:gd name="connsiteX854" fmla="*/ 11930164 w 12192000"/>
              <a:gd name="connsiteY854" fmla="*/ 2041945 h 4267200"/>
              <a:gd name="connsiteX855" fmla="*/ 11561767 w 12192000"/>
              <a:gd name="connsiteY855" fmla="*/ 1984479 h 4267200"/>
              <a:gd name="connsiteX856" fmla="*/ 11987997 w 12192000"/>
              <a:gd name="connsiteY856" fmla="*/ 3153822 h 4267200"/>
              <a:gd name="connsiteX857" fmla="*/ 11926558 w 12192000"/>
              <a:gd name="connsiteY857" fmla="*/ 3203134 h 4267200"/>
              <a:gd name="connsiteX858" fmla="*/ 11440430 w 12192000"/>
              <a:gd name="connsiteY858" fmla="*/ 1973028 h 4267200"/>
              <a:gd name="connsiteX859" fmla="*/ 11446754 w 12192000"/>
              <a:gd name="connsiteY859" fmla="*/ 1959605 h 4267200"/>
              <a:gd name="connsiteX860" fmla="*/ 11050651 w 12192000"/>
              <a:gd name="connsiteY860" fmla="*/ 1850495 h 4267200"/>
              <a:gd name="connsiteX861" fmla="*/ 10389960 w 12192000"/>
              <a:gd name="connsiteY861" fmla="*/ 1586232 h 4267200"/>
              <a:gd name="connsiteX862" fmla="*/ 10500699 w 12192000"/>
              <a:gd name="connsiteY862" fmla="*/ 1913175 h 4267200"/>
              <a:gd name="connsiteX863" fmla="*/ 10507814 w 12192000"/>
              <a:gd name="connsiteY863" fmla="*/ 1920694 h 4267200"/>
              <a:gd name="connsiteX864" fmla="*/ 10518908 w 12192000"/>
              <a:gd name="connsiteY864" fmla="*/ 1911226 h 4267200"/>
              <a:gd name="connsiteX865" fmla="*/ 11258935 w 12192000"/>
              <a:gd name="connsiteY865" fmla="*/ 2442781 h 4267200"/>
              <a:gd name="connsiteX866" fmla="*/ 11211663 w 12192000"/>
              <a:gd name="connsiteY866" fmla="*/ 2510325 h 4267200"/>
              <a:gd name="connsiteX867" fmla="*/ 10571295 w 12192000"/>
              <a:gd name="connsiteY867" fmla="*/ 2105302 h 4267200"/>
              <a:gd name="connsiteX868" fmla="*/ 10435737 w 12192000"/>
              <a:gd name="connsiteY868" fmla="*/ 2805672 h 4267200"/>
              <a:gd name="connsiteX869" fmla="*/ 10206831 w 12192000"/>
              <a:gd name="connsiteY869" fmla="*/ 3151701 h 4267200"/>
              <a:gd name="connsiteX870" fmla="*/ 10196482 w 12192000"/>
              <a:gd name="connsiteY870" fmla="*/ 3135084 h 4267200"/>
              <a:gd name="connsiteX871" fmla="*/ 10381882 w 12192000"/>
              <a:gd name="connsiteY871" fmla="*/ 2155807 h 4267200"/>
              <a:gd name="connsiteX872" fmla="*/ 10439260 w 12192000"/>
              <a:gd name="connsiteY872" fmla="*/ 1962486 h 4267200"/>
              <a:gd name="connsiteX873" fmla="*/ 10439409 w 12192000"/>
              <a:gd name="connsiteY873" fmla="*/ 1960615 h 4267200"/>
              <a:gd name="connsiteX874" fmla="*/ 10439915 w 12192000"/>
              <a:gd name="connsiteY874" fmla="*/ 1951821 h 4267200"/>
              <a:gd name="connsiteX875" fmla="*/ 10314241 w 12192000"/>
              <a:gd name="connsiteY875" fmla="*/ 1556749 h 4267200"/>
              <a:gd name="connsiteX876" fmla="*/ 10315061 w 12192000"/>
              <a:gd name="connsiteY876" fmla="*/ 1548729 h 4267200"/>
              <a:gd name="connsiteX877" fmla="*/ 9526158 w 12192000"/>
              <a:gd name="connsiteY877" fmla="*/ 1071804 h 4267200"/>
              <a:gd name="connsiteX878" fmla="*/ 9758689 w 12192000"/>
              <a:gd name="connsiteY878" fmla="*/ 1585512 h 4267200"/>
              <a:gd name="connsiteX879" fmla="*/ 9941392 w 12192000"/>
              <a:gd name="connsiteY879" fmla="*/ 2432858 h 4267200"/>
              <a:gd name="connsiteX880" fmla="*/ 9887724 w 12192000"/>
              <a:gd name="connsiteY880" fmla="*/ 2495762 h 4267200"/>
              <a:gd name="connsiteX881" fmla="*/ 9587446 w 12192000"/>
              <a:gd name="connsiteY881" fmla="*/ 1872898 h 4267200"/>
              <a:gd name="connsiteX882" fmla="*/ 9462810 w 12192000"/>
              <a:gd name="connsiteY882" fmla="*/ 1288346 h 4267200"/>
              <a:gd name="connsiteX883" fmla="*/ 9318575 w 12192000"/>
              <a:gd name="connsiteY883" fmla="*/ 1540820 h 4267200"/>
              <a:gd name="connsiteX884" fmla="*/ 9191090 w 12192000"/>
              <a:gd name="connsiteY884" fmla="*/ 1688355 h 4267200"/>
              <a:gd name="connsiteX885" fmla="*/ 9177757 w 12192000"/>
              <a:gd name="connsiteY885" fmla="*/ 1683354 h 4267200"/>
              <a:gd name="connsiteX886" fmla="*/ 9274865 w 12192000"/>
              <a:gd name="connsiteY886" fmla="*/ 1336896 h 4267200"/>
              <a:gd name="connsiteX887" fmla="*/ 9478649 w 12192000"/>
              <a:gd name="connsiteY887" fmla="*/ 1173376 h 4267200"/>
              <a:gd name="connsiteX888" fmla="*/ 9482281 w 12192000"/>
              <a:gd name="connsiteY888" fmla="*/ 1167830 h 4267200"/>
              <a:gd name="connsiteX889" fmla="*/ 9438637 w 12192000"/>
              <a:gd name="connsiteY889" fmla="*/ 1015438 h 4267200"/>
              <a:gd name="connsiteX890" fmla="*/ 9439458 w 12192000"/>
              <a:gd name="connsiteY890" fmla="*/ 1007420 h 4267200"/>
              <a:gd name="connsiteX891" fmla="*/ 9197105 w 12192000"/>
              <a:gd name="connsiteY891" fmla="*/ 808882 h 4267200"/>
              <a:gd name="connsiteX892" fmla="*/ 8973607 w 12192000"/>
              <a:gd name="connsiteY892" fmla="*/ 597733 h 4267200"/>
              <a:gd name="connsiteX893" fmla="*/ 8967512 w 12192000"/>
              <a:gd name="connsiteY893" fmla="*/ 1795211 h 4267200"/>
              <a:gd name="connsiteX894" fmla="*/ 8912526 w 12192000"/>
              <a:gd name="connsiteY894" fmla="*/ 1841464 h 4267200"/>
              <a:gd name="connsiteX895" fmla="*/ 8893391 w 12192000"/>
              <a:gd name="connsiteY895" fmla="*/ 572788 h 4267200"/>
              <a:gd name="connsiteX896" fmla="*/ 8902990 w 12192000"/>
              <a:gd name="connsiteY896" fmla="*/ 560750 h 4267200"/>
              <a:gd name="connsiteX897" fmla="*/ 8919102 w 12192000"/>
              <a:gd name="connsiteY897" fmla="*/ 542471 h 4267200"/>
              <a:gd name="connsiteX898" fmla="*/ 8661728 w 12192000"/>
              <a:gd name="connsiteY898" fmla="*/ 250903 h 4267200"/>
              <a:gd name="connsiteX899" fmla="*/ 8357758 w 12192000"/>
              <a:gd name="connsiteY899" fmla="*/ 0 h 4267200"/>
              <a:gd name="connsiteX900" fmla="*/ 8405492 w 12192000"/>
              <a:gd name="connsiteY900" fmla="*/ 0 h 4267200"/>
              <a:gd name="connsiteX901" fmla="*/ 8392083 w 12192000"/>
              <a:gd name="connsiteY901" fmla="*/ 30495 h 4267200"/>
              <a:gd name="connsiteX902" fmla="*/ 8339888 w 12192000"/>
              <a:gd name="connsiteY902" fmla="*/ 306259 h 4267200"/>
              <a:gd name="connsiteX903" fmla="*/ 8473847 w 12192000"/>
              <a:gd name="connsiteY903" fmla="*/ 727373 h 4267200"/>
              <a:gd name="connsiteX904" fmla="*/ 8454081 w 12192000"/>
              <a:gd name="connsiteY904" fmla="*/ 1611960 h 4267200"/>
              <a:gd name="connsiteX905" fmla="*/ 8396000 w 12192000"/>
              <a:gd name="connsiteY905" fmla="*/ 1663986 h 4267200"/>
              <a:gd name="connsiteX906" fmla="*/ 8238881 w 12192000"/>
              <a:gd name="connsiteY906" fmla="*/ 368438 h 4267200"/>
              <a:gd name="connsiteX907" fmla="*/ 7668140 w 12192000"/>
              <a:gd name="connsiteY907" fmla="*/ 942511 h 4267200"/>
              <a:gd name="connsiteX908" fmla="*/ 7637853 w 12192000"/>
              <a:gd name="connsiteY908" fmla="*/ 942567 h 4267200"/>
              <a:gd name="connsiteX909" fmla="*/ 7909649 w 12192000"/>
              <a:gd name="connsiteY909" fmla="*/ 489150 h 4267200"/>
              <a:gd name="connsiteX910" fmla="*/ 8256182 w 12192000"/>
              <a:gd name="connsiteY910" fmla="*/ 301724 h 4267200"/>
              <a:gd name="connsiteX911" fmla="*/ 8255912 w 12192000"/>
              <a:gd name="connsiteY911" fmla="*/ 276498 h 4267200"/>
              <a:gd name="connsiteX912" fmla="*/ 8315225 w 12192000"/>
              <a:gd name="connsiteY912" fmla="*/ 89075 h 4267200"/>
              <a:gd name="connsiteX913" fmla="*/ 7497388 w 12192000"/>
              <a:gd name="connsiteY913" fmla="*/ 0 h 4267200"/>
              <a:gd name="connsiteX914" fmla="*/ 7560921 w 12192000"/>
              <a:gd name="connsiteY914" fmla="*/ 0 h 4267200"/>
              <a:gd name="connsiteX915" fmla="*/ 7546742 w 12192000"/>
              <a:gd name="connsiteY915" fmla="*/ 68966 h 4267200"/>
              <a:gd name="connsiteX916" fmla="*/ 7488853 w 12192000"/>
              <a:gd name="connsiteY916" fmla="*/ 535687 h 4267200"/>
              <a:gd name="connsiteX917" fmla="*/ 7529509 w 12192000"/>
              <a:gd name="connsiteY917" fmla="*/ 380358 h 4267200"/>
              <a:gd name="connsiteX918" fmla="*/ 7585939 w 12192000"/>
              <a:gd name="connsiteY918" fmla="*/ 184712 h 4267200"/>
              <a:gd name="connsiteX919" fmla="*/ 7621792 w 12192000"/>
              <a:gd name="connsiteY919" fmla="*/ 87864 h 4267200"/>
              <a:gd name="connsiteX920" fmla="*/ 7654204 w 12192000"/>
              <a:gd name="connsiteY920" fmla="*/ 0 h 4267200"/>
              <a:gd name="connsiteX921" fmla="*/ 7683986 w 12192000"/>
              <a:gd name="connsiteY921" fmla="*/ 0 h 4267200"/>
              <a:gd name="connsiteX922" fmla="*/ 7647914 w 12192000"/>
              <a:gd name="connsiteY922" fmla="*/ 97640 h 4267200"/>
              <a:gd name="connsiteX923" fmla="*/ 7612524 w 12192000"/>
              <a:gd name="connsiteY923" fmla="*/ 193392 h 4267200"/>
              <a:gd name="connsiteX924" fmla="*/ 7557013 w 12192000"/>
              <a:gd name="connsiteY924" fmla="*/ 386853 h 4267200"/>
              <a:gd name="connsiteX925" fmla="*/ 7517286 w 12192000"/>
              <a:gd name="connsiteY925" fmla="*/ 539999 h 4267200"/>
              <a:gd name="connsiteX926" fmla="*/ 7704204 w 12192000"/>
              <a:gd name="connsiteY926" fmla="*/ 152292 h 4267200"/>
              <a:gd name="connsiteX927" fmla="*/ 7756975 w 12192000"/>
              <a:gd name="connsiteY927" fmla="*/ 0 h 4267200"/>
              <a:gd name="connsiteX928" fmla="*/ 7837329 w 12192000"/>
              <a:gd name="connsiteY928" fmla="*/ 0 h 4267200"/>
              <a:gd name="connsiteX929" fmla="*/ 7821760 w 12192000"/>
              <a:gd name="connsiteY929" fmla="*/ 65656 h 4267200"/>
              <a:gd name="connsiteX930" fmla="*/ 7488925 w 12192000"/>
              <a:gd name="connsiteY930" fmla="*/ 763628 h 4267200"/>
              <a:gd name="connsiteX931" fmla="*/ 7419999 w 12192000"/>
              <a:gd name="connsiteY931" fmla="*/ 774360 h 4267200"/>
              <a:gd name="connsiteX932" fmla="*/ 7487820 w 12192000"/>
              <a:gd name="connsiteY932" fmla="*/ 37416 h 4267200"/>
              <a:gd name="connsiteX933" fmla="*/ 3882765 w 12192000"/>
              <a:gd name="connsiteY933" fmla="*/ 0 h 4267200"/>
              <a:gd name="connsiteX934" fmla="*/ 3995099 w 12192000"/>
              <a:gd name="connsiteY934" fmla="*/ 0 h 4267200"/>
              <a:gd name="connsiteX935" fmla="*/ 4163818 w 12192000"/>
              <a:gd name="connsiteY935" fmla="*/ 234104 h 4267200"/>
              <a:gd name="connsiteX936" fmla="*/ 4172099 w 12192000"/>
              <a:gd name="connsiteY936" fmla="*/ 234207 h 4267200"/>
              <a:gd name="connsiteX937" fmla="*/ 4784282 w 12192000"/>
              <a:gd name="connsiteY937" fmla="*/ 276561 h 4267200"/>
              <a:gd name="connsiteX938" fmla="*/ 4801687 w 12192000"/>
              <a:gd name="connsiteY938" fmla="*/ 267764 h 4267200"/>
              <a:gd name="connsiteX939" fmla="*/ 6082788 w 12192000"/>
              <a:gd name="connsiteY939" fmla="*/ 64119 h 4267200"/>
              <a:gd name="connsiteX940" fmla="*/ 6099442 w 12192000"/>
              <a:gd name="connsiteY940" fmla="*/ 82568 h 4267200"/>
              <a:gd name="connsiteX941" fmla="*/ 4804137 w 12192000"/>
              <a:gd name="connsiteY941" fmla="*/ 320931 h 4267200"/>
              <a:gd name="connsiteX942" fmla="*/ 4227047 w 12192000"/>
              <a:gd name="connsiteY942" fmla="*/ 313415 h 4267200"/>
              <a:gd name="connsiteX943" fmla="*/ 4346041 w 12192000"/>
              <a:gd name="connsiteY943" fmla="*/ 456086 h 4267200"/>
              <a:gd name="connsiteX944" fmla="*/ 4870967 w 12192000"/>
              <a:gd name="connsiteY944" fmla="*/ 963061 h 4267200"/>
              <a:gd name="connsiteX945" fmla="*/ 4889647 w 12192000"/>
              <a:gd name="connsiteY945" fmla="*/ 957147 h 4267200"/>
              <a:gd name="connsiteX946" fmla="*/ 5422504 w 12192000"/>
              <a:gd name="connsiteY946" fmla="*/ 805191 h 4267200"/>
              <a:gd name="connsiteX947" fmla="*/ 6087656 w 12192000"/>
              <a:gd name="connsiteY947" fmla="*/ 826703 h 4267200"/>
              <a:gd name="connsiteX948" fmla="*/ 6058717 w 12192000"/>
              <a:gd name="connsiteY948" fmla="*/ 865992 h 4267200"/>
              <a:gd name="connsiteX949" fmla="*/ 4974153 w 12192000"/>
              <a:gd name="connsiteY949" fmla="*/ 1045456 h 4267200"/>
              <a:gd name="connsiteX950" fmla="*/ 5627835 w 12192000"/>
              <a:gd name="connsiteY950" fmla="*/ 1472077 h 4267200"/>
              <a:gd name="connsiteX951" fmla="*/ 5629817 w 12192000"/>
              <a:gd name="connsiteY951" fmla="*/ 1471412 h 4267200"/>
              <a:gd name="connsiteX952" fmla="*/ 5634124 w 12192000"/>
              <a:gd name="connsiteY952" fmla="*/ 1470572 h 4267200"/>
              <a:gd name="connsiteX953" fmla="*/ 5755832 w 12192000"/>
              <a:gd name="connsiteY953" fmla="*/ 1383886 h 4267200"/>
              <a:gd name="connsiteX954" fmla="*/ 6014186 w 12192000"/>
              <a:gd name="connsiteY954" fmla="*/ 1279799 h 4267200"/>
              <a:gd name="connsiteX955" fmla="*/ 6901619 w 12192000"/>
              <a:gd name="connsiteY955" fmla="*/ 1047874 h 4267200"/>
              <a:gd name="connsiteX956" fmla="*/ 6931566 w 12192000"/>
              <a:gd name="connsiteY956" fmla="*/ 1062034 h 4267200"/>
              <a:gd name="connsiteX957" fmla="*/ 5790982 w 12192000"/>
              <a:gd name="connsiteY957" fmla="*/ 1561380 h 4267200"/>
              <a:gd name="connsiteX958" fmla="*/ 6188971 w 12192000"/>
              <a:gd name="connsiteY958" fmla="*/ 1755168 h 4267200"/>
              <a:gd name="connsiteX959" fmla="*/ 6202446 w 12192000"/>
              <a:gd name="connsiteY959" fmla="*/ 1752268 h 4267200"/>
              <a:gd name="connsiteX960" fmla="*/ 7179560 w 12192000"/>
              <a:gd name="connsiteY960" fmla="*/ 1467551 h 4267200"/>
              <a:gd name="connsiteX961" fmla="*/ 7158730 w 12192000"/>
              <a:gd name="connsiteY961" fmla="*/ 1507835 h 4267200"/>
              <a:gd name="connsiteX962" fmla="*/ 6326959 w 12192000"/>
              <a:gd name="connsiteY962" fmla="*/ 1817686 h 4267200"/>
              <a:gd name="connsiteX963" fmla="*/ 6537433 w 12192000"/>
              <a:gd name="connsiteY963" fmla="*/ 1907790 h 4267200"/>
              <a:gd name="connsiteX964" fmla="*/ 6550221 w 12192000"/>
              <a:gd name="connsiteY964" fmla="*/ 1910729 h 4267200"/>
              <a:gd name="connsiteX965" fmla="*/ 6964438 w 12192000"/>
              <a:gd name="connsiteY965" fmla="*/ 2209505 h 4267200"/>
              <a:gd name="connsiteX966" fmla="*/ 7367862 w 12192000"/>
              <a:gd name="connsiteY966" fmla="*/ 2806833 h 4267200"/>
              <a:gd name="connsiteX967" fmla="*/ 7364329 w 12192000"/>
              <a:gd name="connsiteY967" fmla="*/ 2826907 h 4267200"/>
              <a:gd name="connsiteX968" fmla="*/ 7290545 w 12192000"/>
              <a:gd name="connsiteY968" fmla="*/ 2850663 h 4267200"/>
              <a:gd name="connsiteX969" fmla="*/ 6472036 w 12192000"/>
              <a:gd name="connsiteY969" fmla="*/ 1959003 h 4267200"/>
              <a:gd name="connsiteX970" fmla="*/ 5792897 w 12192000"/>
              <a:gd name="connsiteY970" fmla="*/ 1647747 h 4267200"/>
              <a:gd name="connsiteX971" fmla="*/ 5842751 w 12192000"/>
              <a:gd name="connsiteY971" fmla="*/ 1816112 h 4267200"/>
              <a:gd name="connsiteX972" fmla="*/ 5847424 w 12192000"/>
              <a:gd name="connsiteY972" fmla="*/ 1815776 h 4267200"/>
              <a:gd name="connsiteX973" fmla="*/ 6399821 w 12192000"/>
              <a:gd name="connsiteY973" fmla="*/ 2344799 h 4267200"/>
              <a:gd name="connsiteX974" fmla="*/ 6323232 w 12192000"/>
              <a:gd name="connsiteY974" fmla="*/ 2389634 h 4267200"/>
              <a:gd name="connsiteX975" fmla="*/ 5942958 w 12192000"/>
              <a:gd name="connsiteY975" fmla="*/ 2077708 h 4267200"/>
              <a:gd name="connsiteX976" fmla="*/ 5921559 w 12192000"/>
              <a:gd name="connsiteY976" fmla="*/ 2378596 h 4267200"/>
              <a:gd name="connsiteX977" fmla="*/ 5817651 w 12192000"/>
              <a:gd name="connsiteY977" fmla="*/ 3023919 h 4267200"/>
              <a:gd name="connsiteX978" fmla="*/ 5729634 w 12192000"/>
              <a:gd name="connsiteY978" fmla="*/ 3051849 h 4267200"/>
              <a:gd name="connsiteX979" fmla="*/ 5611018 w 12192000"/>
              <a:gd name="connsiteY979" fmla="*/ 2316769 h 4267200"/>
              <a:gd name="connsiteX980" fmla="*/ 5687608 w 12192000"/>
              <a:gd name="connsiteY980" fmla="*/ 2039972 h 4267200"/>
              <a:gd name="connsiteX981" fmla="*/ 5657554 w 12192000"/>
              <a:gd name="connsiteY981" fmla="*/ 1576445 h 4267200"/>
              <a:gd name="connsiteX982" fmla="*/ 5150475 w 12192000"/>
              <a:gd name="connsiteY982" fmla="*/ 1274012 h 4267200"/>
              <a:gd name="connsiteX983" fmla="*/ 5349142 w 12192000"/>
              <a:gd name="connsiteY983" fmla="*/ 2204405 h 4267200"/>
              <a:gd name="connsiteX984" fmla="*/ 5262214 w 12192000"/>
              <a:gd name="connsiteY984" fmla="*/ 2233836 h 4267200"/>
              <a:gd name="connsiteX985" fmla="*/ 4981539 w 12192000"/>
              <a:gd name="connsiteY985" fmla="*/ 1542201 h 4267200"/>
              <a:gd name="connsiteX986" fmla="*/ 4958461 w 12192000"/>
              <a:gd name="connsiteY986" fmla="*/ 1136957 h 4267200"/>
              <a:gd name="connsiteX987" fmla="*/ 4655015 w 12192000"/>
              <a:gd name="connsiteY987" fmla="*/ 891426 h 4267200"/>
              <a:gd name="connsiteX988" fmla="*/ 4348002 w 12192000"/>
              <a:gd name="connsiteY988" fmla="*/ 2205895 h 4267200"/>
              <a:gd name="connsiteX989" fmla="*/ 4262250 w 12192000"/>
              <a:gd name="connsiteY989" fmla="*/ 2219972 h 4267200"/>
              <a:gd name="connsiteX990" fmla="*/ 4550611 w 12192000"/>
              <a:gd name="connsiteY990" fmla="*/ 817540 h 4267200"/>
              <a:gd name="connsiteX991" fmla="*/ 4564418 w 12192000"/>
              <a:gd name="connsiteY991" fmla="*/ 808293 h 4267200"/>
              <a:gd name="connsiteX992" fmla="*/ 4266388 w 12192000"/>
              <a:gd name="connsiteY992" fmla="*/ 500083 h 4267200"/>
              <a:gd name="connsiteX993" fmla="*/ 4032842 w 12192000"/>
              <a:gd name="connsiteY993" fmla="*/ 211809 h 4267200"/>
              <a:gd name="connsiteX994" fmla="*/ 3721337 w 12192000"/>
              <a:gd name="connsiteY994" fmla="*/ 0 h 4267200"/>
              <a:gd name="connsiteX995" fmla="*/ 3797544 w 12192000"/>
              <a:gd name="connsiteY995" fmla="*/ 0 h 4267200"/>
              <a:gd name="connsiteX996" fmla="*/ 3775734 w 12192000"/>
              <a:gd name="connsiteY996" fmla="*/ 95131 h 4267200"/>
              <a:gd name="connsiteX997" fmla="*/ 3724807 w 12192000"/>
              <a:gd name="connsiteY997" fmla="*/ 272257 h 4267200"/>
              <a:gd name="connsiteX998" fmla="*/ 3726844 w 12192000"/>
              <a:gd name="connsiteY998" fmla="*/ 282988 h 4267200"/>
              <a:gd name="connsiteX999" fmla="*/ 3742664 w 12192000"/>
              <a:gd name="connsiteY999" fmla="*/ 279918 h 4267200"/>
              <a:gd name="connsiteX1000" fmla="*/ 4103910 w 12192000"/>
              <a:gd name="connsiteY1000" fmla="*/ 1161917 h 4267200"/>
              <a:gd name="connsiteX1001" fmla="*/ 4020269 w 12192000"/>
              <a:gd name="connsiteY1001" fmla="*/ 1200406 h 4267200"/>
              <a:gd name="connsiteX1002" fmla="*/ 3674882 w 12192000"/>
              <a:gd name="connsiteY1002" fmla="*/ 488524 h 4267200"/>
              <a:gd name="connsiteX1003" fmla="*/ 3132682 w 12192000"/>
              <a:gd name="connsiteY1003" fmla="*/ 1072284 h 4267200"/>
              <a:gd name="connsiteX1004" fmla="*/ 2716346 w 12192000"/>
              <a:gd name="connsiteY1004" fmla="*/ 1276376 h 4267200"/>
              <a:gd name="connsiteX1005" fmla="*/ 2716772 w 12192000"/>
              <a:gd name="connsiteY1005" fmla="*/ 1255462 h 4267200"/>
              <a:gd name="connsiteX1006" fmla="*/ 3471096 w 12192000"/>
              <a:gd name="connsiteY1006" fmla="*/ 437072 h 4267200"/>
              <a:gd name="connsiteX1007" fmla="*/ 3639057 w 12192000"/>
              <a:gd name="connsiteY1007" fmla="*/ 286334 h 4267200"/>
              <a:gd name="connsiteX1008" fmla="*/ 3640309 w 12192000"/>
              <a:gd name="connsiteY1008" fmla="*/ 284664 h 4267200"/>
              <a:gd name="connsiteX1009" fmla="*/ 3646022 w 12192000"/>
              <a:gd name="connsiteY1009" fmla="*/ 276711 h 4267200"/>
              <a:gd name="connsiteX1010" fmla="*/ 3707943 w 12192000"/>
              <a:gd name="connsiteY1010" fmla="*/ 65958 h 4267200"/>
              <a:gd name="connsiteX1011" fmla="*/ 2867960 w 12192000"/>
              <a:gd name="connsiteY1011" fmla="*/ 0 h 4267200"/>
              <a:gd name="connsiteX1012" fmla="*/ 2926351 w 12192000"/>
              <a:gd name="connsiteY1012" fmla="*/ 0 h 4267200"/>
              <a:gd name="connsiteX1013" fmla="*/ 2902823 w 12192000"/>
              <a:gd name="connsiteY1013" fmla="*/ 262929 h 4267200"/>
              <a:gd name="connsiteX1014" fmla="*/ 2940663 w 12192000"/>
              <a:gd name="connsiteY1014" fmla="*/ 140884 h 4267200"/>
              <a:gd name="connsiteX1015" fmla="*/ 2947039 w 12192000"/>
              <a:gd name="connsiteY1015" fmla="*/ 122524 h 4267200"/>
              <a:gd name="connsiteX1016" fmla="*/ 2984316 w 12192000"/>
              <a:gd name="connsiteY1016" fmla="*/ 0 h 4267200"/>
              <a:gd name="connsiteX1017" fmla="*/ 3016114 w 12192000"/>
              <a:gd name="connsiteY1017" fmla="*/ 0 h 4267200"/>
              <a:gd name="connsiteX1018" fmla="*/ 2979949 w 12192000"/>
              <a:gd name="connsiteY1018" fmla="*/ 119274 h 4267200"/>
              <a:gd name="connsiteX1019" fmla="*/ 3023879 w 12192000"/>
              <a:gd name="connsiteY1019" fmla="*/ 0 h 4267200"/>
              <a:gd name="connsiteX1020" fmla="*/ 3105400 w 12192000"/>
              <a:gd name="connsiteY1020" fmla="*/ 0 h 4267200"/>
              <a:gd name="connsiteX1021" fmla="*/ 3094669 w 12192000"/>
              <a:gd name="connsiteY1021" fmla="*/ 30308 h 4267200"/>
              <a:gd name="connsiteX1022" fmla="*/ 2901945 w 12192000"/>
              <a:gd name="connsiteY1022" fmla="*/ 466538 h 4267200"/>
              <a:gd name="connsiteX1023" fmla="*/ 2815209 w 12192000"/>
              <a:gd name="connsiteY1023" fmla="*/ 497361 h 4267200"/>
              <a:gd name="connsiteX1024" fmla="*/ 2844845 w 12192000"/>
              <a:gd name="connsiteY1024" fmla="*/ 127638 h 4267200"/>
              <a:gd name="connsiteX1025" fmla="*/ 1057230 w 12192000"/>
              <a:gd name="connsiteY1025" fmla="*/ 0 h 4267200"/>
              <a:gd name="connsiteX1026" fmla="*/ 1111003 w 12192000"/>
              <a:gd name="connsiteY1026" fmla="*/ 0 h 4267200"/>
              <a:gd name="connsiteX1027" fmla="*/ 1125553 w 12192000"/>
              <a:gd name="connsiteY1027" fmla="*/ 52588 h 4267200"/>
              <a:gd name="connsiteX1028" fmla="*/ 1304276 w 12192000"/>
              <a:gd name="connsiteY1028" fmla="*/ 476275 h 4267200"/>
              <a:gd name="connsiteX1029" fmla="*/ 1492066 w 12192000"/>
              <a:gd name="connsiteY1029" fmla="*/ 886333 h 4267200"/>
              <a:gd name="connsiteX1030" fmla="*/ 1423698 w 12192000"/>
              <a:gd name="connsiteY1030" fmla="*/ 710817 h 4267200"/>
              <a:gd name="connsiteX1031" fmla="*/ 1357609 w 12192000"/>
              <a:gd name="connsiteY1031" fmla="*/ 532892 h 4267200"/>
              <a:gd name="connsiteX1032" fmla="*/ 1309550 w 12192000"/>
              <a:gd name="connsiteY1032" fmla="*/ 374031 h 4267200"/>
              <a:gd name="connsiteX1033" fmla="*/ 1193673 w 12192000"/>
              <a:gd name="connsiteY1033" fmla="*/ 49533 h 4267200"/>
              <a:gd name="connsiteX1034" fmla="*/ 1164391 w 12192000"/>
              <a:gd name="connsiteY1034" fmla="*/ 0 h 4267200"/>
              <a:gd name="connsiteX1035" fmla="*/ 1200666 w 12192000"/>
              <a:gd name="connsiteY1035" fmla="*/ 0 h 4267200"/>
              <a:gd name="connsiteX1036" fmla="*/ 1223408 w 12192000"/>
              <a:gd name="connsiteY1036" fmla="*/ 38996 h 4267200"/>
              <a:gd name="connsiteX1037" fmla="*/ 1339635 w 12192000"/>
              <a:gd name="connsiteY1037" fmla="*/ 365517 h 4267200"/>
              <a:gd name="connsiteX1038" fmla="*/ 1387469 w 12192000"/>
              <a:gd name="connsiteY1038" fmla="*/ 523079 h 4267200"/>
              <a:gd name="connsiteX1039" fmla="*/ 1452685 w 12192000"/>
              <a:gd name="connsiteY1039" fmla="*/ 699806 h 4267200"/>
              <a:gd name="connsiteX1040" fmla="*/ 1492092 w 12192000"/>
              <a:gd name="connsiteY1040" fmla="*/ 800424 h 4267200"/>
              <a:gd name="connsiteX1041" fmla="*/ 1455302 w 12192000"/>
              <a:gd name="connsiteY1041" fmla="*/ 632913 h 4267200"/>
              <a:gd name="connsiteX1042" fmla="*/ 1222336 w 12192000"/>
              <a:gd name="connsiteY1042" fmla="*/ 9480 h 4267200"/>
              <a:gd name="connsiteX1043" fmla="*/ 1214634 w 12192000"/>
              <a:gd name="connsiteY1043" fmla="*/ 0 h 4267200"/>
              <a:gd name="connsiteX1044" fmla="*/ 1289827 w 12192000"/>
              <a:gd name="connsiteY1044" fmla="*/ 0 h 4267200"/>
              <a:gd name="connsiteX1045" fmla="*/ 1321076 w 12192000"/>
              <a:gd name="connsiteY1045" fmla="*/ 59722 h 4267200"/>
              <a:gd name="connsiteX1046" fmla="*/ 1512579 w 12192000"/>
              <a:gd name="connsiteY1046" fmla="*/ 626441 h 4267200"/>
              <a:gd name="connsiteX1047" fmla="*/ 1506076 w 12192000"/>
              <a:gd name="connsiteY1047" fmla="*/ 1089289 h 4267200"/>
              <a:gd name="connsiteX1048" fmla="*/ 1486346 w 12192000"/>
              <a:gd name="connsiteY1048" fmla="*/ 1079919 h 4267200"/>
              <a:gd name="connsiteX1049" fmla="*/ 1070511 w 12192000"/>
              <a:gd name="connsiteY1049" fmla="*/ 48609 h 4267200"/>
              <a:gd name="connsiteX1050" fmla="*/ 43151 w 12192000"/>
              <a:gd name="connsiteY1050" fmla="*/ 0 h 4267200"/>
              <a:gd name="connsiteX1051" fmla="*/ 95283 w 12192000"/>
              <a:gd name="connsiteY1051" fmla="*/ 0 h 4267200"/>
              <a:gd name="connsiteX1052" fmla="*/ 300708 w 12192000"/>
              <a:gd name="connsiteY1052" fmla="*/ 154571 h 4267200"/>
              <a:gd name="connsiteX1053" fmla="*/ 530414 w 12192000"/>
              <a:gd name="connsiteY1053" fmla="*/ 354673 h 4267200"/>
              <a:gd name="connsiteX1054" fmla="*/ 333785 w 12192000"/>
              <a:gd name="connsiteY1054" fmla="*/ 161564 h 4267200"/>
              <a:gd name="connsiteX1055" fmla="*/ 147005 w 12192000"/>
              <a:gd name="connsiteY1055" fmla="*/ 0 h 4267200"/>
              <a:gd name="connsiteX1056" fmla="*/ 272509 w 12192000"/>
              <a:gd name="connsiteY1056" fmla="*/ 0 h 4267200"/>
              <a:gd name="connsiteX1057" fmla="*/ 326276 w 12192000"/>
              <a:gd name="connsiteY1057" fmla="*/ 45847 h 4267200"/>
              <a:gd name="connsiteX1058" fmla="*/ 823759 w 12192000"/>
              <a:gd name="connsiteY1058" fmla="*/ 574145 h 4267200"/>
              <a:gd name="connsiteX1059" fmla="*/ 811254 w 12192000"/>
              <a:gd name="connsiteY1059" fmla="*/ 665546 h 4267200"/>
              <a:gd name="connsiteX1060" fmla="*/ 154042 w 12192000"/>
              <a:gd name="connsiteY1060" fmla="*/ 261522 h 4267200"/>
              <a:gd name="connsiteX1061" fmla="*/ 13550 w 12192000"/>
              <a:gd name="connsiteY1061" fmla="*/ 158423 h 4267200"/>
              <a:gd name="connsiteX1062" fmla="*/ 0 w 12192000"/>
              <a:gd name="connsiteY1062" fmla="*/ 146618 h 4267200"/>
              <a:gd name="connsiteX1063" fmla="*/ 0 w 12192000"/>
              <a:gd name="connsiteY1063" fmla="*/ 59161 h 4267200"/>
              <a:gd name="connsiteX1064" fmla="*/ 45427 w 12192000"/>
              <a:gd name="connsiteY1064" fmla="*/ 101078 h 4267200"/>
              <a:gd name="connsiteX1065" fmla="*/ 630103 w 12192000"/>
              <a:gd name="connsiteY1065" fmla="*/ 485885 h 4267200"/>
              <a:gd name="connsiteX1066" fmla="*/ 532040 w 12192000"/>
              <a:gd name="connsiteY1066" fmla="*/ 399359 h 4267200"/>
              <a:gd name="connsiteX1067" fmla="*/ 517618 w 12192000"/>
              <a:gd name="connsiteY1067" fmla="*/ 385726 h 4267200"/>
              <a:gd name="connsiteX1068" fmla="*/ 285074 w 12192000"/>
              <a:gd name="connsiteY1068" fmla="*/ 182755 h 426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Lst>
            <a:rect l="l" t="t" r="r" b="b"/>
            <a:pathLst>
              <a:path w="12192000" h="4267200">
                <a:moveTo>
                  <a:pt x="2537169" y="4125568"/>
                </a:moveTo>
                <a:cubicBezTo>
                  <a:pt x="2788218" y="4126068"/>
                  <a:pt x="3025872" y="4161336"/>
                  <a:pt x="3246267" y="4262961"/>
                </a:cubicBezTo>
                <a:lnTo>
                  <a:pt x="3253970" y="4267200"/>
                </a:lnTo>
                <a:lnTo>
                  <a:pt x="3071791" y="4267200"/>
                </a:lnTo>
                <a:lnTo>
                  <a:pt x="2975095" y="4243356"/>
                </a:lnTo>
                <a:cubicBezTo>
                  <a:pt x="2862058" y="4220032"/>
                  <a:pt x="2745568" y="4209031"/>
                  <a:pt x="2626982" y="4206450"/>
                </a:cubicBezTo>
                <a:cubicBezTo>
                  <a:pt x="2581807" y="4205467"/>
                  <a:pt x="2536327" y="4205706"/>
                  <a:pt x="2490617" y="4206951"/>
                </a:cubicBezTo>
                <a:cubicBezTo>
                  <a:pt x="2601507" y="4219748"/>
                  <a:pt x="2711611" y="4236309"/>
                  <a:pt x="2819869" y="4252936"/>
                </a:cubicBezTo>
                <a:lnTo>
                  <a:pt x="2900997" y="4267200"/>
                </a:lnTo>
                <a:lnTo>
                  <a:pt x="2705858" y="4267200"/>
                </a:lnTo>
                <a:lnTo>
                  <a:pt x="2561467" y="4246270"/>
                </a:lnTo>
                <a:cubicBezTo>
                  <a:pt x="2476258" y="4235123"/>
                  <a:pt x="2390533" y="4225627"/>
                  <a:pt x="2305292" y="4219492"/>
                </a:cubicBezTo>
                <a:lnTo>
                  <a:pt x="2409349" y="4267200"/>
                </a:lnTo>
                <a:lnTo>
                  <a:pt x="2266705" y="4267200"/>
                </a:lnTo>
                <a:lnTo>
                  <a:pt x="2183576" y="4227150"/>
                </a:lnTo>
                <a:cubicBezTo>
                  <a:pt x="2170260" y="4220226"/>
                  <a:pt x="2115765" y="4150220"/>
                  <a:pt x="2151029" y="4146947"/>
                </a:cubicBezTo>
                <a:cubicBezTo>
                  <a:pt x="2282770" y="4133761"/>
                  <a:pt x="2411644" y="4125319"/>
                  <a:pt x="2537169" y="4125568"/>
                </a:cubicBezTo>
                <a:close/>
                <a:moveTo>
                  <a:pt x="9258094" y="3958602"/>
                </a:moveTo>
                <a:cubicBezTo>
                  <a:pt x="9013678" y="4006086"/>
                  <a:pt x="8768731" y="4060051"/>
                  <a:pt x="8526712" y="4119804"/>
                </a:cubicBezTo>
                <a:cubicBezTo>
                  <a:pt x="8781748" y="4123003"/>
                  <a:pt x="9026494" y="4069940"/>
                  <a:pt x="9258094" y="3958602"/>
                </a:cubicBezTo>
                <a:close/>
                <a:moveTo>
                  <a:pt x="9168987" y="3919232"/>
                </a:moveTo>
                <a:cubicBezTo>
                  <a:pt x="8975366" y="3912045"/>
                  <a:pt x="8788341" y="3989836"/>
                  <a:pt x="8603910" y="4068895"/>
                </a:cubicBezTo>
                <a:cubicBezTo>
                  <a:pt x="8818554" y="4017452"/>
                  <a:pt x="9035976" y="3970366"/>
                  <a:pt x="9252382" y="3927759"/>
                </a:cubicBezTo>
                <a:cubicBezTo>
                  <a:pt x="9224441" y="3923020"/>
                  <a:pt x="9196646" y="3920259"/>
                  <a:pt x="9168987" y="3919232"/>
                </a:cubicBezTo>
                <a:close/>
                <a:moveTo>
                  <a:pt x="1635889" y="3709494"/>
                </a:moveTo>
                <a:lnTo>
                  <a:pt x="1634800" y="3731111"/>
                </a:lnTo>
                <a:cubicBezTo>
                  <a:pt x="1634800" y="3731111"/>
                  <a:pt x="1635342" y="3716795"/>
                  <a:pt x="1635889" y="3709494"/>
                </a:cubicBezTo>
                <a:close/>
                <a:moveTo>
                  <a:pt x="3174829" y="3620110"/>
                </a:moveTo>
                <a:cubicBezTo>
                  <a:pt x="3177710" y="3619202"/>
                  <a:pt x="3182308" y="3620648"/>
                  <a:pt x="3189263" y="3625726"/>
                </a:cubicBezTo>
                <a:cubicBezTo>
                  <a:pt x="3348177" y="3744655"/>
                  <a:pt x="3463235" y="3908187"/>
                  <a:pt x="3560912" y="4079863"/>
                </a:cubicBezTo>
                <a:cubicBezTo>
                  <a:pt x="3582321" y="4117314"/>
                  <a:pt x="3599153" y="4153173"/>
                  <a:pt x="3611854" y="4188366"/>
                </a:cubicBezTo>
                <a:lnTo>
                  <a:pt x="3631583" y="4267200"/>
                </a:lnTo>
                <a:lnTo>
                  <a:pt x="3575699" y="4267200"/>
                </a:lnTo>
                <a:lnTo>
                  <a:pt x="3575567" y="4263588"/>
                </a:lnTo>
                <a:cubicBezTo>
                  <a:pt x="3563792" y="4170010"/>
                  <a:pt x="3527316" y="4081090"/>
                  <a:pt x="3467355" y="3988130"/>
                </a:cubicBezTo>
                <a:cubicBezTo>
                  <a:pt x="3420192" y="3915029"/>
                  <a:pt x="3371016" y="3849934"/>
                  <a:pt x="3310753" y="3787140"/>
                </a:cubicBezTo>
                <a:cubicBezTo>
                  <a:pt x="3303466" y="3779509"/>
                  <a:pt x="3297626" y="3773227"/>
                  <a:pt x="3291335" y="3767420"/>
                </a:cubicBezTo>
                <a:cubicBezTo>
                  <a:pt x="3324815" y="3824296"/>
                  <a:pt x="3358740" y="3880691"/>
                  <a:pt x="3390805" y="3937163"/>
                </a:cubicBezTo>
                <a:cubicBezTo>
                  <a:pt x="3450145" y="4040978"/>
                  <a:pt x="3506325" y="4144397"/>
                  <a:pt x="3545740" y="4251102"/>
                </a:cubicBezTo>
                <a:lnTo>
                  <a:pt x="3550709" y="4267200"/>
                </a:lnTo>
                <a:lnTo>
                  <a:pt x="3513586" y="4267200"/>
                </a:lnTo>
                <a:lnTo>
                  <a:pt x="3470728" y="4152456"/>
                </a:lnTo>
                <a:cubicBezTo>
                  <a:pt x="3439124" y="4085665"/>
                  <a:pt x="3402484" y="4019598"/>
                  <a:pt x="3364433" y="3953121"/>
                </a:cubicBezTo>
                <a:lnTo>
                  <a:pt x="3316479" y="3872136"/>
                </a:lnTo>
                <a:lnTo>
                  <a:pt x="3504482" y="4267200"/>
                </a:lnTo>
                <a:lnTo>
                  <a:pt x="3467547" y="4267200"/>
                </a:lnTo>
                <a:lnTo>
                  <a:pt x="3177952" y="3657386"/>
                </a:lnTo>
                <a:cubicBezTo>
                  <a:pt x="3172991" y="3646754"/>
                  <a:pt x="3166185" y="3622836"/>
                  <a:pt x="3174829" y="3620110"/>
                </a:cubicBezTo>
                <a:close/>
                <a:moveTo>
                  <a:pt x="11279315" y="3618448"/>
                </a:moveTo>
                <a:cubicBezTo>
                  <a:pt x="11299830" y="3614620"/>
                  <a:pt x="11318737" y="3618623"/>
                  <a:pt x="11317765" y="3638405"/>
                </a:cubicBezTo>
                <a:cubicBezTo>
                  <a:pt x="11309587" y="3820966"/>
                  <a:pt x="11315203" y="4012597"/>
                  <a:pt x="11304886" y="4200582"/>
                </a:cubicBezTo>
                <a:lnTo>
                  <a:pt x="11298904" y="4267200"/>
                </a:lnTo>
                <a:lnTo>
                  <a:pt x="11213088" y="4267200"/>
                </a:lnTo>
                <a:lnTo>
                  <a:pt x="11219157" y="4210725"/>
                </a:lnTo>
                <a:cubicBezTo>
                  <a:pt x="11223807" y="4119600"/>
                  <a:pt x="11224640" y="4027718"/>
                  <a:pt x="11225213" y="3936722"/>
                </a:cubicBezTo>
                <a:cubicBezTo>
                  <a:pt x="11207028" y="4022695"/>
                  <a:pt x="11194593" y="4110355"/>
                  <a:pt x="11182914" y="4196771"/>
                </a:cubicBezTo>
                <a:lnTo>
                  <a:pt x="11172266" y="4267200"/>
                </a:lnTo>
                <a:lnTo>
                  <a:pt x="11140975" y="4267200"/>
                </a:lnTo>
                <a:lnTo>
                  <a:pt x="11152239" y="4192628"/>
                </a:lnTo>
                <a:cubicBezTo>
                  <a:pt x="11165272" y="4096160"/>
                  <a:pt x="11178361" y="3997344"/>
                  <a:pt x="11201005" y="3900089"/>
                </a:cubicBezTo>
                <a:cubicBezTo>
                  <a:pt x="11166930" y="3979173"/>
                  <a:pt x="11134730" y="4058831"/>
                  <a:pt x="11105754" y="4139192"/>
                </a:cubicBezTo>
                <a:lnTo>
                  <a:pt x="11065821" y="4267200"/>
                </a:lnTo>
                <a:lnTo>
                  <a:pt x="10978133" y="4267200"/>
                </a:lnTo>
                <a:lnTo>
                  <a:pt x="11088889" y="3963916"/>
                </a:lnTo>
                <a:cubicBezTo>
                  <a:pt x="11133459" y="3856779"/>
                  <a:pt x="11181967" y="3750740"/>
                  <a:pt x="11231212" y="3645474"/>
                </a:cubicBezTo>
                <a:cubicBezTo>
                  <a:pt x="11236675" y="3633934"/>
                  <a:pt x="11258799" y="3622276"/>
                  <a:pt x="11279315" y="3618448"/>
                </a:cubicBezTo>
                <a:close/>
                <a:moveTo>
                  <a:pt x="10296877" y="3526602"/>
                </a:moveTo>
                <a:cubicBezTo>
                  <a:pt x="10305089" y="3527517"/>
                  <a:pt x="10311503" y="3531079"/>
                  <a:pt x="10314210" y="3538353"/>
                </a:cubicBezTo>
                <a:cubicBezTo>
                  <a:pt x="10361472" y="3659113"/>
                  <a:pt x="10407318" y="3780392"/>
                  <a:pt x="10450858" y="3902477"/>
                </a:cubicBezTo>
                <a:lnTo>
                  <a:pt x="10572255" y="4267200"/>
                </a:lnTo>
                <a:lnTo>
                  <a:pt x="10477642" y="4267200"/>
                </a:lnTo>
                <a:lnTo>
                  <a:pt x="10436479" y="4144570"/>
                </a:lnTo>
                <a:cubicBezTo>
                  <a:pt x="10386976" y="3995354"/>
                  <a:pt x="10333255" y="3848072"/>
                  <a:pt x="10277529" y="3701307"/>
                </a:cubicBezTo>
                <a:cubicBezTo>
                  <a:pt x="10277467" y="3703640"/>
                  <a:pt x="10276853" y="3706334"/>
                  <a:pt x="10276797" y="3708672"/>
                </a:cubicBezTo>
                <a:cubicBezTo>
                  <a:pt x="10284209" y="3854149"/>
                  <a:pt x="10331835" y="3999199"/>
                  <a:pt x="10385906" y="4147031"/>
                </a:cubicBezTo>
                <a:lnTo>
                  <a:pt x="10431445" y="4267200"/>
                </a:lnTo>
                <a:lnTo>
                  <a:pt x="10398237" y="4267200"/>
                </a:lnTo>
                <a:lnTo>
                  <a:pt x="10356661" y="4157302"/>
                </a:lnTo>
                <a:cubicBezTo>
                  <a:pt x="10321871" y="4061517"/>
                  <a:pt x="10289232" y="3966669"/>
                  <a:pt x="10268559" y="3871054"/>
                </a:cubicBezTo>
                <a:cubicBezTo>
                  <a:pt x="10272790" y="3985997"/>
                  <a:pt x="10299544" y="4094770"/>
                  <a:pt x="10340065" y="4201637"/>
                </a:cubicBezTo>
                <a:lnTo>
                  <a:pt x="10368861" y="4267200"/>
                </a:lnTo>
                <a:lnTo>
                  <a:pt x="10267862" y="4267200"/>
                </a:lnTo>
                <a:lnTo>
                  <a:pt x="10236210" y="4185635"/>
                </a:lnTo>
                <a:cubicBezTo>
                  <a:pt x="10169925" y="3991261"/>
                  <a:pt x="10150284" y="3789583"/>
                  <a:pt x="10225980" y="3561061"/>
                </a:cubicBezTo>
                <a:cubicBezTo>
                  <a:pt x="10231424" y="3544935"/>
                  <a:pt x="10272241" y="3523857"/>
                  <a:pt x="10296877" y="3526602"/>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19140" y="4267200"/>
                </a:lnTo>
                <a:lnTo>
                  <a:pt x="4641222" y="4267200"/>
                </a:lnTo>
                <a:lnTo>
                  <a:pt x="4599968" y="4207074"/>
                </a:lnTo>
                <a:cubicBezTo>
                  <a:pt x="4478590" y="4057581"/>
                  <a:pt x="4278987" y="3946713"/>
                  <a:pt x="4136093" y="3858466"/>
                </a:cubicBezTo>
                <a:cubicBezTo>
                  <a:pt x="3985171" y="3764831"/>
                  <a:pt x="3831168" y="3687155"/>
                  <a:pt x="3670252" y="3622798"/>
                </a:cubicBez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48555" y="4189447"/>
                  <a:pt x="4498141" y="4221114"/>
                  <a:pt x="4546299" y="4254934"/>
                </a:cubicBezTo>
                <a:lnTo>
                  <a:pt x="4561743" y="4267200"/>
                </a:lnTo>
                <a:lnTo>
                  <a:pt x="4509274" y="4267200"/>
                </a:lnTo>
                <a:lnTo>
                  <a:pt x="4383389" y="4184369"/>
                </a:ln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lnTo>
                  <a:pt x="3655073" y="3650884"/>
                </a:lnTo>
                <a:cubicBezTo>
                  <a:pt x="3768399" y="3765347"/>
                  <a:pt x="3873410" y="3884450"/>
                  <a:pt x="3989938" y="3991685"/>
                </a:cubicBezTo>
                <a:cubicBezTo>
                  <a:pt x="4106468" y="4098916"/>
                  <a:pt x="4234512" y="4194281"/>
                  <a:pt x="4393907" y="4261258"/>
                </a:cubicBezTo>
                <a:lnTo>
                  <a:pt x="4408201" y="4267200"/>
                </a:lnTo>
                <a:lnTo>
                  <a:pt x="4250346" y="4267200"/>
                </a:lnTo>
                <a:lnTo>
                  <a:pt x="4245269" y="4265040"/>
                </a:lnTo>
                <a:cubicBezTo>
                  <a:pt x="4167858" y="4230709"/>
                  <a:pt x="4095232" y="4193560"/>
                  <a:pt x="4036318" y="4147013"/>
                </a:cubicBezTo>
                <a:cubicBezTo>
                  <a:pt x="3810777" y="3969273"/>
                  <a:pt x="3654591" y="3720297"/>
                  <a:pt x="3432098" y="3537312"/>
                </a:cubicBezTo>
                <a:cubicBezTo>
                  <a:pt x="3408505" y="3517876"/>
                  <a:pt x="3395188" y="3461306"/>
                  <a:pt x="3429186" y="3458784"/>
                </a:cubicBezTo>
                <a:close/>
                <a:moveTo>
                  <a:pt x="9334796" y="3456584"/>
                </a:moveTo>
                <a:cubicBezTo>
                  <a:pt x="9406875" y="3608228"/>
                  <a:pt x="9503788" y="3758542"/>
                  <a:pt x="9651570" y="3826505"/>
                </a:cubicBezTo>
                <a:cubicBezTo>
                  <a:pt x="9559808" y="3686686"/>
                  <a:pt x="9456900" y="3564734"/>
                  <a:pt x="9334796" y="3456584"/>
                </a:cubicBezTo>
                <a:close/>
                <a:moveTo>
                  <a:pt x="4440129" y="3448571"/>
                </a:moveTo>
                <a:cubicBezTo>
                  <a:pt x="4500684" y="3600308"/>
                  <a:pt x="4765312" y="3823987"/>
                  <a:pt x="4856525" y="3915351"/>
                </a:cubicBezTo>
                <a:cubicBezTo>
                  <a:pt x="4921046" y="3979838"/>
                  <a:pt x="4987678" y="4047617"/>
                  <a:pt x="5059055" y="4108918"/>
                </a:cubicBezTo>
                <a:cubicBezTo>
                  <a:pt x="5130436" y="4170218"/>
                  <a:pt x="5206561" y="4225043"/>
                  <a:pt x="5290070" y="4263619"/>
                </a:cubicBezTo>
                <a:cubicBezTo>
                  <a:pt x="5126032" y="4132785"/>
                  <a:pt x="4978794" y="3979858"/>
                  <a:pt x="4834991" y="3830985"/>
                </a:cubicBezTo>
                <a:cubicBezTo>
                  <a:pt x="4709629" y="3700933"/>
                  <a:pt x="4579958" y="3567796"/>
                  <a:pt x="4440129" y="3448571"/>
                </a:cubicBezTo>
                <a:close/>
                <a:moveTo>
                  <a:pt x="5425834" y="3162785"/>
                </a:moveTo>
                <a:cubicBezTo>
                  <a:pt x="5393133" y="3300089"/>
                  <a:pt x="5401723" y="3491623"/>
                  <a:pt x="5401644" y="3617847"/>
                </a:cubicBezTo>
                <a:cubicBezTo>
                  <a:pt x="5401790" y="3807859"/>
                  <a:pt x="5425483" y="3992734"/>
                  <a:pt x="5467256" y="4175494"/>
                </a:cubicBezTo>
                <a:cubicBezTo>
                  <a:pt x="5469824" y="3971868"/>
                  <a:pt x="5459296" y="3766904"/>
                  <a:pt x="5448069" y="3567554"/>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5453702" y="3090882"/>
                </a:moveTo>
                <a:lnTo>
                  <a:pt x="5480135" y="3565802"/>
                </a:lnTo>
                <a:cubicBezTo>
                  <a:pt x="5490809" y="3762845"/>
                  <a:pt x="5501220" y="3965024"/>
                  <a:pt x="5499023" y="4166310"/>
                </a:cubicBezTo>
                <a:cubicBezTo>
                  <a:pt x="5546233" y="3984186"/>
                  <a:pt x="5562118" y="3799116"/>
                  <a:pt x="5547022" y="3607838"/>
                </a:cubicBezTo>
                <a:cubicBezTo>
                  <a:pt x="5541143" y="3530760"/>
                  <a:pt x="5529684" y="3453908"/>
                  <a:pt x="5515964" y="3378541"/>
                </a:cubicBezTo>
                <a:cubicBezTo>
                  <a:pt x="5505773" y="3321668"/>
                  <a:pt x="5475310" y="3095607"/>
                  <a:pt x="5453702" y="3090882"/>
                </a:cubicBezTo>
                <a:close/>
                <a:moveTo>
                  <a:pt x="9790480" y="3078533"/>
                </a:moveTo>
                <a:cubicBezTo>
                  <a:pt x="9782502" y="3134217"/>
                  <a:pt x="9773626" y="3189710"/>
                  <a:pt x="9763295" y="3245370"/>
                </a:cubicBezTo>
                <a:cubicBezTo>
                  <a:pt x="9730259" y="3421320"/>
                  <a:pt x="9693170" y="3586065"/>
                  <a:pt x="9736458" y="3758413"/>
                </a:cubicBezTo>
                <a:cubicBezTo>
                  <a:pt x="9741385" y="3680922"/>
                  <a:pt x="9752472" y="3603320"/>
                  <a:pt x="9763499" y="3528057"/>
                </a:cubicBezTo>
                <a:cubicBezTo>
                  <a:pt x="9778184" y="3430521"/>
                  <a:pt x="9793478" y="3330298"/>
                  <a:pt x="9793906" y="3231157"/>
                </a:cubicBezTo>
                <a:cubicBezTo>
                  <a:pt x="9793949" y="3202011"/>
                  <a:pt x="9792735" y="3172131"/>
                  <a:pt x="9791874" y="3142788"/>
                </a:cubicBezTo>
                <a:cubicBezTo>
                  <a:pt x="9791175" y="3121009"/>
                  <a:pt x="9790832" y="3099770"/>
                  <a:pt x="9790480" y="3078533"/>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5425627" y="2954192"/>
                </a:moveTo>
                <a:cubicBezTo>
                  <a:pt x="5441934" y="2956815"/>
                  <a:pt x="5467954" y="2996115"/>
                  <a:pt x="5470770" y="3005435"/>
                </a:cubicBezTo>
                <a:cubicBezTo>
                  <a:pt x="5591522" y="3395900"/>
                  <a:pt x="5656650" y="3795361"/>
                  <a:pt x="5567647" y="4190286"/>
                </a:cubicBezTo>
                <a:lnTo>
                  <a:pt x="5545854" y="4267200"/>
                </a:lnTo>
                <a:lnTo>
                  <a:pt x="5391871" y="4267200"/>
                </a:lnTo>
                <a:lnTo>
                  <a:pt x="5318171" y="4175818"/>
                </a:lnTo>
                <a:cubicBezTo>
                  <a:pt x="5204859" y="4048423"/>
                  <a:pt x="5075331" y="3936412"/>
                  <a:pt x="4943646" y="3822916"/>
                </a:cubicBezTo>
                <a:cubicBezTo>
                  <a:pt x="4828850" y="3724110"/>
                  <a:pt x="4714058" y="3625311"/>
                  <a:pt x="4594837" y="3532274"/>
                </a:cubicBez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61606" y="3606446"/>
                  <a:pt x="4760255" y="3709152"/>
                  <a:pt x="4856936" y="3809146"/>
                </a:cubicBezTo>
                <a:cubicBezTo>
                  <a:pt x="4939779" y="3895025"/>
                  <a:pt x="5024071" y="3982240"/>
                  <a:pt x="5111996" y="4065759"/>
                </a:cubicBezTo>
                <a:cubicBezTo>
                  <a:pt x="5155961" y="4107518"/>
                  <a:pt x="5200834" y="4148352"/>
                  <a:pt x="5246890" y="4187633"/>
                </a:cubicBezTo>
                <a:lnTo>
                  <a:pt x="5347266" y="4267200"/>
                </a:lnTo>
                <a:lnTo>
                  <a:pt x="5164092" y="4267200"/>
                </a:lnTo>
                <a:lnTo>
                  <a:pt x="5108945" y="4232176"/>
                </a:lnTo>
                <a:cubicBezTo>
                  <a:pt x="4772838" y="3999708"/>
                  <a:pt x="4490756" y="3581960"/>
                  <a:pt x="4294126" y="3303048"/>
                </a:cubicBezTo>
                <a:cubicBezTo>
                  <a:pt x="4284225" y="3288537"/>
                  <a:pt x="4271318" y="3233630"/>
                  <a:pt x="4305321" y="3256953"/>
                </a:cubicBezTo>
                <a:cubicBezTo>
                  <a:pt x="4530520" y="3414680"/>
                  <a:pt x="4740956" y="3587440"/>
                  <a:pt x="4949299" y="3766336"/>
                </a:cubicBezTo>
                <a:cubicBezTo>
                  <a:pt x="5065543" y="3866477"/>
                  <a:pt x="5184542" y="3965579"/>
                  <a:pt x="5291452" y="4076801"/>
                </a:cubicBezTo>
                <a:cubicBezTo>
                  <a:pt x="5309900" y="4095629"/>
                  <a:pt x="5393714" y="4211504"/>
                  <a:pt x="5434998" y="4254100"/>
                </a:cubicBezTo>
                <a:cubicBezTo>
                  <a:pt x="5369347" y="4172892"/>
                  <a:pt x="5356822" y="3836202"/>
                  <a:pt x="5351015" y="3760989"/>
                </a:cubicBezTo>
                <a:cubicBezTo>
                  <a:pt x="5330486" y="3492147"/>
                  <a:pt x="5355823" y="3228927"/>
                  <a:pt x="5413780" y="2966265"/>
                </a:cubicBezTo>
                <a:cubicBezTo>
                  <a:pt x="5415835" y="2956520"/>
                  <a:pt x="5420191" y="2953318"/>
                  <a:pt x="5425627" y="2954192"/>
                </a:cubicBezTo>
                <a:close/>
                <a:moveTo>
                  <a:pt x="8380397" y="2896659"/>
                </a:moveTo>
                <a:cubicBezTo>
                  <a:pt x="8455275" y="3038078"/>
                  <a:pt x="8545153" y="3173735"/>
                  <a:pt x="8634801" y="3304169"/>
                </a:cubicBezTo>
                <a:cubicBezTo>
                  <a:pt x="8726195" y="3437326"/>
                  <a:pt x="8821496" y="3600936"/>
                  <a:pt x="8971448" y="3675946"/>
                </a:cubicBezTo>
                <a:cubicBezTo>
                  <a:pt x="8910775" y="3621244"/>
                  <a:pt x="8864937" y="3553231"/>
                  <a:pt x="8820691" y="3486482"/>
                </a:cubicBezTo>
                <a:cubicBezTo>
                  <a:pt x="8816331" y="3480073"/>
                  <a:pt x="8811972" y="3473665"/>
                  <a:pt x="8807612" y="3467256"/>
                </a:cubicBezTo>
                <a:cubicBezTo>
                  <a:pt x="8727274" y="3347730"/>
                  <a:pt x="8640362" y="3230102"/>
                  <a:pt x="8556796" y="3116474"/>
                </a:cubicBezTo>
                <a:cubicBezTo>
                  <a:pt x="8515702" y="3060746"/>
                  <a:pt x="8472667" y="3003195"/>
                  <a:pt x="8427018" y="2948853"/>
                </a:cubicBezTo>
                <a:cubicBezTo>
                  <a:pt x="8411728" y="2931040"/>
                  <a:pt x="8396239" y="2914119"/>
                  <a:pt x="8380397" y="2896659"/>
                </a:cubicBezTo>
                <a:close/>
                <a:moveTo>
                  <a:pt x="9831020" y="2871730"/>
                </a:moveTo>
                <a:lnTo>
                  <a:pt x="9827707" y="2915231"/>
                </a:lnTo>
                <a:cubicBezTo>
                  <a:pt x="9824540" y="2960178"/>
                  <a:pt x="9821168" y="3006017"/>
                  <a:pt x="9820699" y="3051540"/>
                </a:cubicBezTo>
                <a:cubicBezTo>
                  <a:pt x="9820458" y="3081589"/>
                  <a:pt x="9821664" y="3111470"/>
                  <a:pt x="9822525" y="3140814"/>
                </a:cubicBezTo>
                <a:cubicBezTo>
                  <a:pt x="9823738" y="3170696"/>
                  <a:pt x="9824947" y="3200579"/>
                  <a:pt x="9824704" y="3230628"/>
                </a:cubicBezTo>
                <a:cubicBezTo>
                  <a:pt x="9823869" y="3331557"/>
                  <a:pt x="9808712" y="3433224"/>
                  <a:pt x="9793821" y="3531652"/>
                </a:cubicBezTo>
                <a:cubicBezTo>
                  <a:pt x="9783066" y="3603683"/>
                  <a:pt x="9772446" y="3677150"/>
                  <a:pt x="9767436" y="3750864"/>
                </a:cubicBezTo>
                <a:cubicBezTo>
                  <a:pt x="9782786" y="3724954"/>
                  <a:pt x="9799440" y="3697443"/>
                  <a:pt x="9814477" y="3662531"/>
                </a:cubicBezTo>
                <a:cubicBezTo>
                  <a:pt x="9926754" y="3406015"/>
                  <a:pt x="9892054" y="3133900"/>
                  <a:pt x="9831020" y="2871730"/>
                </a:cubicBezTo>
                <a:close/>
                <a:moveTo>
                  <a:pt x="8380521" y="2850596"/>
                </a:moveTo>
                <a:cubicBezTo>
                  <a:pt x="8404481" y="2875897"/>
                  <a:pt x="8428794" y="2901731"/>
                  <a:pt x="8451446" y="2928627"/>
                </a:cubicBezTo>
                <a:cubicBezTo>
                  <a:pt x="8497446" y="2983517"/>
                  <a:pt x="8540828" y="3041610"/>
                  <a:pt x="8582269" y="3097880"/>
                </a:cubicBezTo>
                <a:cubicBezTo>
                  <a:pt x="8666744" y="3211700"/>
                  <a:pt x="8753998" y="3329876"/>
                  <a:pt x="8833783" y="3449753"/>
                </a:cubicBezTo>
                <a:cubicBezTo>
                  <a:pt x="8838143" y="3456162"/>
                  <a:pt x="8842503" y="3462572"/>
                  <a:pt x="8846863" y="3468981"/>
                </a:cubicBezTo>
                <a:cubicBezTo>
                  <a:pt x="8881714" y="3521040"/>
                  <a:pt x="8917610" y="3574725"/>
                  <a:pt x="8960046" y="3620389"/>
                </a:cubicBezTo>
                <a:cubicBezTo>
                  <a:pt x="8847240" y="3316219"/>
                  <a:pt x="8665033" y="3014288"/>
                  <a:pt x="8380521" y="2850596"/>
                </a:cubicBezTo>
                <a:close/>
                <a:moveTo>
                  <a:pt x="9854151" y="2642862"/>
                </a:moveTo>
                <a:cubicBezTo>
                  <a:pt x="9862376" y="2644690"/>
                  <a:pt x="9868748" y="2649859"/>
                  <a:pt x="9871341" y="2659697"/>
                </a:cubicBezTo>
                <a:cubicBezTo>
                  <a:pt x="9936549" y="2907705"/>
                  <a:pt x="10004418" y="3164740"/>
                  <a:pt x="9966678" y="3423399"/>
                </a:cubicBezTo>
                <a:cubicBezTo>
                  <a:pt x="9951724" y="3524170"/>
                  <a:pt x="9914841" y="3605244"/>
                  <a:pt x="9880832" y="3700562"/>
                </a:cubicBezTo>
                <a:cubicBezTo>
                  <a:pt x="9817639" y="3880472"/>
                  <a:pt x="9825316" y="4002022"/>
                  <a:pt x="9896024" y="4178295"/>
                </a:cubicBezTo>
                <a:lnTo>
                  <a:pt x="10028060" y="4267200"/>
                </a:lnTo>
                <a:lnTo>
                  <a:pt x="9651813" y="4267200"/>
                </a:lnTo>
                <a:lnTo>
                  <a:pt x="9814527" y="4248048"/>
                </a:lnTo>
                <a:cubicBezTo>
                  <a:pt x="9748431" y="4225943"/>
                  <a:pt x="9681848" y="4217991"/>
                  <a:pt x="9615182" y="4220499"/>
                </a:cubicBezTo>
                <a:cubicBezTo>
                  <a:pt x="9565183" y="4222381"/>
                  <a:pt x="9515136" y="4230147"/>
                  <a:pt x="9465210" y="4242240"/>
                </a:cubicBezTo>
                <a:lnTo>
                  <a:pt x="9387108" y="4267200"/>
                </a:lnTo>
                <a:lnTo>
                  <a:pt x="9268441" y="4267200"/>
                </a:lnTo>
                <a:lnTo>
                  <a:pt x="9307676" y="4251276"/>
                </a:lnTo>
                <a:cubicBezTo>
                  <a:pt x="9459842" y="4196603"/>
                  <a:pt x="9613869" y="4164948"/>
                  <a:pt x="9761570" y="4182283"/>
                </a:cubicBezTo>
                <a:cubicBezTo>
                  <a:pt x="9633677" y="4101602"/>
                  <a:pt x="9502269" y="4023929"/>
                  <a:pt x="9368237" y="3949470"/>
                </a:cubicBezTo>
                <a:cubicBezTo>
                  <a:pt x="9363677" y="3950852"/>
                  <a:pt x="9358768" y="3951697"/>
                  <a:pt x="9354614" y="3951288"/>
                </a:cubicBezTo>
                <a:cubicBezTo>
                  <a:pt x="9045666" y="4112095"/>
                  <a:pt x="8711508" y="4184792"/>
                  <a:pt x="8364351" y="4159267"/>
                </a:cubicBezTo>
                <a:cubicBezTo>
                  <a:pt x="8322605" y="4156073"/>
                  <a:pt x="8373028" y="4125362"/>
                  <a:pt x="8386567" y="4119760"/>
                </a:cubicBezTo>
                <a:cubicBezTo>
                  <a:pt x="8661942" y="4017222"/>
                  <a:pt x="8938634" y="3857115"/>
                  <a:pt x="9231713" y="3873539"/>
                </a:cubicBezTo>
                <a:cubicBezTo>
                  <a:pt x="9162796" y="3836374"/>
                  <a:pt x="9093324" y="3799562"/>
                  <a:pt x="9023301" y="3763109"/>
                </a:cubicBezTo>
                <a:cubicBezTo>
                  <a:pt x="9018245" y="3762512"/>
                  <a:pt x="9014299" y="3761207"/>
                  <a:pt x="9010556" y="3758998"/>
                </a:cubicBezTo>
                <a:cubicBezTo>
                  <a:pt x="8818026" y="3719652"/>
                  <a:pt x="8714888" y="3571783"/>
                  <a:pt x="8604324" y="3417171"/>
                </a:cubicBezTo>
                <a:cubicBezTo>
                  <a:pt x="8460937" y="3216099"/>
                  <a:pt x="8313620" y="2999153"/>
                  <a:pt x="8218577" y="2770227"/>
                </a:cubicBezTo>
                <a:cubicBezTo>
                  <a:pt x="8215211" y="2762227"/>
                  <a:pt x="8217371" y="2755481"/>
                  <a:pt x="8222774" y="2749954"/>
                </a:cubicBezTo>
                <a:cubicBezTo>
                  <a:pt x="8238990" y="2733370"/>
                  <a:pt x="8284424" y="2727735"/>
                  <a:pt x="8297623" y="2731935"/>
                </a:cubicBezTo>
                <a:cubicBezTo>
                  <a:pt x="8726387" y="2883841"/>
                  <a:pt x="8964880" y="3311498"/>
                  <a:pt x="9090618" y="3716225"/>
                </a:cubicBezTo>
                <a:cubicBezTo>
                  <a:pt x="9321070" y="3835548"/>
                  <a:pt x="9546131" y="3959850"/>
                  <a:pt x="9762441" y="4093587"/>
                </a:cubicBezTo>
                <a:cubicBezTo>
                  <a:pt x="9739891" y="4035197"/>
                  <a:pt x="9720655" y="3974696"/>
                  <a:pt x="9717826" y="3916719"/>
                </a:cubicBezTo>
                <a:cubicBezTo>
                  <a:pt x="9716379" y="3916883"/>
                  <a:pt x="9714371" y="3917401"/>
                  <a:pt x="9713123" y="3916663"/>
                </a:cubicBezTo>
                <a:cubicBezTo>
                  <a:pt x="9419408" y="3876118"/>
                  <a:pt x="9276568" y="3571232"/>
                  <a:pt x="9175594" y="3326950"/>
                </a:cubicBezTo>
                <a:cubicBezTo>
                  <a:pt x="9162477" y="3295477"/>
                  <a:pt x="9234580" y="3273123"/>
                  <a:pt x="9253941" y="3287566"/>
                </a:cubicBezTo>
                <a:cubicBezTo>
                  <a:pt x="9396995" y="3390749"/>
                  <a:pt x="9519263" y="3506453"/>
                  <a:pt x="9625671" y="3639960"/>
                </a:cubicBezTo>
                <a:cubicBezTo>
                  <a:pt x="9622492" y="3540061"/>
                  <a:pt x="9637797" y="3439839"/>
                  <a:pt x="9656881" y="3333361"/>
                </a:cubicBezTo>
                <a:cubicBezTo>
                  <a:pt x="9696972" y="3116116"/>
                  <a:pt x="9713720" y="2891570"/>
                  <a:pt x="9782066" y="2680771"/>
                </a:cubicBezTo>
                <a:cubicBezTo>
                  <a:pt x="9788129" y="2661952"/>
                  <a:pt x="9829478" y="2637374"/>
                  <a:pt x="9854151" y="2642862"/>
                </a:cubicBezTo>
                <a:close/>
                <a:moveTo>
                  <a:pt x="11114299" y="2390555"/>
                </a:moveTo>
                <a:lnTo>
                  <a:pt x="11113373" y="2392739"/>
                </a:lnTo>
                <a:lnTo>
                  <a:pt x="11117197" y="2394358"/>
                </a:lnTo>
                <a:cubicBezTo>
                  <a:pt x="11116333" y="2393349"/>
                  <a:pt x="11115474" y="2392343"/>
                  <a:pt x="11114299" y="2390555"/>
                </a:cubicBezTo>
                <a:close/>
                <a:moveTo>
                  <a:pt x="10506276" y="2118977"/>
                </a:moveTo>
                <a:cubicBezTo>
                  <a:pt x="10510550" y="2257918"/>
                  <a:pt x="10470507" y="2393544"/>
                  <a:pt x="10431542" y="2525128"/>
                </a:cubicBezTo>
                <a:cubicBezTo>
                  <a:pt x="10417502" y="2571972"/>
                  <a:pt x="10403548" y="2620144"/>
                  <a:pt x="10391375" y="2667145"/>
                </a:cubicBezTo>
                <a:cubicBezTo>
                  <a:pt x="10377290" y="2721696"/>
                  <a:pt x="10366481" y="2777642"/>
                  <a:pt x="10355047" y="2832031"/>
                </a:cubicBezTo>
                <a:lnTo>
                  <a:pt x="10336080" y="2927011"/>
                </a:lnTo>
                <a:cubicBezTo>
                  <a:pt x="10349636" y="2893472"/>
                  <a:pt x="10367643" y="2846374"/>
                  <a:pt x="10389394" y="2782834"/>
                </a:cubicBezTo>
                <a:cubicBezTo>
                  <a:pt x="10448427" y="2611467"/>
                  <a:pt x="10546967" y="2325483"/>
                  <a:pt x="10506276" y="2118977"/>
                </a:cubicBezTo>
                <a:close/>
                <a:moveTo>
                  <a:pt x="11538179" y="2090376"/>
                </a:moveTo>
                <a:cubicBezTo>
                  <a:pt x="11552237" y="2136248"/>
                  <a:pt x="11565750" y="2181883"/>
                  <a:pt x="11577479" y="2228695"/>
                </a:cubicBezTo>
                <a:lnTo>
                  <a:pt x="11586754" y="2266098"/>
                </a:lnTo>
                <a:cubicBezTo>
                  <a:pt x="11593656" y="2295423"/>
                  <a:pt x="11600787" y="2324193"/>
                  <a:pt x="11609011" y="2353427"/>
                </a:cubicBezTo>
                <a:cubicBezTo>
                  <a:pt x="11644349" y="2475257"/>
                  <a:pt x="11704023" y="2591295"/>
                  <a:pt x="11761579" y="2703223"/>
                </a:cubicBezTo>
                <a:cubicBezTo>
                  <a:pt x="11802170" y="2782214"/>
                  <a:pt x="11843944" y="2862994"/>
                  <a:pt x="11877711" y="2947465"/>
                </a:cubicBezTo>
                <a:cubicBezTo>
                  <a:pt x="11815017" y="2640863"/>
                  <a:pt x="11724956" y="2342636"/>
                  <a:pt x="11538179" y="2090376"/>
                </a:cubicBezTo>
                <a:close/>
                <a:moveTo>
                  <a:pt x="6604735" y="2041381"/>
                </a:moveTo>
                <a:cubicBezTo>
                  <a:pt x="6726311" y="2327927"/>
                  <a:pt x="6916754" y="2606522"/>
                  <a:pt x="7204487" y="2742112"/>
                </a:cubicBezTo>
                <a:cubicBezTo>
                  <a:pt x="7179895" y="2719491"/>
                  <a:pt x="7154936" y="2696378"/>
                  <a:pt x="7131592" y="2672096"/>
                </a:cubicBezTo>
                <a:cubicBezTo>
                  <a:pt x="7084181" y="2622518"/>
                  <a:pt x="7039271" y="2569608"/>
                  <a:pt x="6996344" y="2518310"/>
                </a:cubicBezTo>
                <a:cubicBezTo>
                  <a:pt x="6908871" y="2414600"/>
                  <a:pt x="6818501" y="2306884"/>
                  <a:pt x="6735495" y="2196890"/>
                </a:cubicBezTo>
                <a:lnTo>
                  <a:pt x="6721901" y="2179274"/>
                </a:lnTo>
                <a:cubicBezTo>
                  <a:pt x="6685654" y="2131523"/>
                  <a:pt x="6648317" y="2082278"/>
                  <a:pt x="6604735" y="2041381"/>
                </a:cubicBezTo>
                <a:close/>
                <a:moveTo>
                  <a:pt x="11488421" y="2034549"/>
                </a:moveTo>
                <a:cubicBezTo>
                  <a:pt x="11459234" y="2371132"/>
                  <a:pt x="11651925" y="2658088"/>
                  <a:pt x="11840356" y="2932293"/>
                </a:cubicBezTo>
                <a:cubicBezTo>
                  <a:pt x="11809128" y="2858555"/>
                  <a:pt x="11772688" y="2786473"/>
                  <a:pt x="11736331" y="2715710"/>
                </a:cubicBezTo>
                <a:cubicBezTo>
                  <a:pt x="11678147" y="2602235"/>
                  <a:pt x="11617611" y="2485181"/>
                  <a:pt x="11581560" y="2360474"/>
                </a:cubicBezTo>
                <a:cubicBezTo>
                  <a:pt x="11573334" y="2331239"/>
                  <a:pt x="11565889" y="2301693"/>
                  <a:pt x="11558442" y="2272139"/>
                </a:cubicBezTo>
                <a:lnTo>
                  <a:pt x="11549169" y="2234734"/>
                </a:lnTo>
                <a:cubicBezTo>
                  <a:pt x="11532130" y="2167007"/>
                  <a:pt x="11511443" y="2100302"/>
                  <a:pt x="11488421" y="2034549"/>
                </a:cubicBezTo>
                <a:close/>
                <a:moveTo>
                  <a:pt x="10468916" y="2032338"/>
                </a:moveTo>
                <a:cubicBezTo>
                  <a:pt x="10450533" y="2081859"/>
                  <a:pt x="10434093" y="2132840"/>
                  <a:pt x="10421480" y="2185446"/>
                </a:cubicBezTo>
                <a:cubicBezTo>
                  <a:pt x="10388668" y="2317695"/>
                  <a:pt x="10374105" y="2457032"/>
                  <a:pt x="10351264" y="2591574"/>
                </a:cubicBezTo>
                <a:cubicBezTo>
                  <a:pt x="10332355" y="2700098"/>
                  <a:pt x="10281261" y="2959166"/>
                  <a:pt x="10294485" y="2991809"/>
                </a:cubicBezTo>
                <a:lnTo>
                  <a:pt x="10327850" y="2826310"/>
                </a:lnTo>
                <a:cubicBezTo>
                  <a:pt x="10338741" y="2771690"/>
                  <a:pt x="10350331" y="2715434"/>
                  <a:pt x="10364099" y="2660098"/>
                </a:cubicBezTo>
                <a:cubicBezTo>
                  <a:pt x="10376185" y="2611783"/>
                  <a:pt x="10390682" y="2563843"/>
                  <a:pt x="10404725" y="2516991"/>
                </a:cubicBezTo>
                <a:cubicBezTo>
                  <a:pt x="10443463" y="2385961"/>
                  <a:pt x="10483500" y="2250332"/>
                  <a:pt x="10478071" y="2114122"/>
                </a:cubicBezTo>
                <a:cubicBezTo>
                  <a:pt x="10476867" y="2086568"/>
                  <a:pt x="10473555" y="2059413"/>
                  <a:pt x="10468916" y="2032338"/>
                </a:cubicBezTo>
                <a:close/>
                <a:moveTo>
                  <a:pt x="10573132" y="1991479"/>
                </a:moveTo>
                <a:cubicBezTo>
                  <a:pt x="10722027" y="2144650"/>
                  <a:pt x="10877543" y="2280670"/>
                  <a:pt x="11066880" y="2371770"/>
                </a:cubicBezTo>
                <a:cubicBezTo>
                  <a:pt x="10930664" y="2234271"/>
                  <a:pt x="10767866" y="2088089"/>
                  <a:pt x="10573132" y="1991479"/>
                </a:cubicBezTo>
                <a:close/>
                <a:moveTo>
                  <a:pt x="6591670" y="1988277"/>
                </a:moveTo>
                <a:cubicBezTo>
                  <a:pt x="6653650" y="2036451"/>
                  <a:pt x="6701310" y="2098809"/>
                  <a:pt x="6747349" y="2160069"/>
                </a:cubicBezTo>
                <a:lnTo>
                  <a:pt x="6760943" y="2177686"/>
                </a:lnTo>
                <a:cubicBezTo>
                  <a:pt x="6844486" y="2287290"/>
                  <a:pt x="6934499" y="2394502"/>
                  <a:pt x="7021065" y="2498102"/>
                </a:cubicBezTo>
                <a:cubicBezTo>
                  <a:pt x="7063629" y="2548900"/>
                  <a:pt x="7108178" y="2601313"/>
                  <a:pt x="7155223" y="2650386"/>
                </a:cubicBezTo>
                <a:cubicBezTo>
                  <a:pt x="7170968" y="2666443"/>
                  <a:pt x="7186885" y="2681619"/>
                  <a:pt x="7203167" y="2697288"/>
                </a:cubicBezTo>
                <a:cubicBezTo>
                  <a:pt x="7124362" y="2565928"/>
                  <a:pt x="7030837" y="2441422"/>
                  <a:pt x="6937703" y="2321981"/>
                </a:cubicBezTo>
                <a:cubicBezTo>
                  <a:pt x="6842752" y="2200032"/>
                  <a:pt x="6742965" y="2048781"/>
                  <a:pt x="6591670" y="1988277"/>
                </a:cubicBezTo>
                <a:close/>
                <a:moveTo>
                  <a:pt x="5798671" y="1981601"/>
                </a:moveTo>
                <a:cubicBezTo>
                  <a:pt x="5784234" y="2008086"/>
                  <a:pt x="5768551" y="2036236"/>
                  <a:pt x="5754709" y="2071454"/>
                </a:cubicBezTo>
                <a:cubicBezTo>
                  <a:pt x="5651219" y="2330361"/>
                  <a:pt x="5694208" y="2592217"/>
                  <a:pt x="5763044" y="2842206"/>
                </a:cubicBezTo>
                <a:lnTo>
                  <a:pt x="5764974" y="2799609"/>
                </a:lnTo>
                <a:cubicBezTo>
                  <a:pt x="5766710" y="2755616"/>
                  <a:pt x="5768626" y="2710738"/>
                  <a:pt x="5767665" y="2666409"/>
                </a:cubicBezTo>
                <a:cubicBezTo>
                  <a:pt x="5766964" y="2637156"/>
                  <a:pt x="5764828" y="2608182"/>
                  <a:pt x="5763055" y="2579705"/>
                </a:cubicBezTo>
                <a:cubicBezTo>
                  <a:pt x="5760913" y="2550734"/>
                  <a:pt x="5758780" y="2521760"/>
                  <a:pt x="5758079" y="2492508"/>
                </a:cubicBezTo>
                <a:cubicBezTo>
                  <a:pt x="5755745" y="2394242"/>
                  <a:pt x="5767619" y="2294070"/>
                  <a:pt x="5779325" y="2197069"/>
                </a:cubicBezTo>
                <a:cubicBezTo>
                  <a:pt x="5787753" y="2126095"/>
                  <a:pt x="5796001" y="2053736"/>
                  <a:pt x="5798671" y="1981601"/>
                </a:cubicBezTo>
                <a:close/>
                <a:moveTo>
                  <a:pt x="5829202" y="1971679"/>
                </a:moveTo>
                <a:cubicBezTo>
                  <a:pt x="5826736" y="2047481"/>
                  <a:pt x="5818154" y="2123904"/>
                  <a:pt x="5809558" y="2198043"/>
                </a:cubicBezTo>
                <a:cubicBezTo>
                  <a:pt x="5798026" y="2294159"/>
                  <a:pt x="5785973" y="2392938"/>
                  <a:pt x="5788653" y="2489430"/>
                </a:cubicBezTo>
                <a:cubicBezTo>
                  <a:pt x="5789524" y="2517790"/>
                  <a:pt x="5791665" y="2546759"/>
                  <a:pt x="5793439" y="2575235"/>
                </a:cubicBezTo>
                <a:cubicBezTo>
                  <a:pt x="5794815" y="2596366"/>
                  <a:pt x="5795822" y="2617001"/>
                  <a:pt x="5796837" y="2637633"/>
                </a:cubicBezTo>
                <a:cubicBezTo>
                  <a:pt x="5803017" y="2582794"/>
                  <a:pt x="5810098" y="2528066"/>
                  <a:pt x="5818614" y="2473055"/>
                </a:cubicBezTo>
                <a:cubicBezTo>
                  <a:pt x="5845917" y="2299125"/>
                  <a:pt x="5877599" y="2135758"/>
                  <a:pt x="5829202" y="1971679"/>
                </a:cubicBezTo>
                <a:close/>
                <a:moveTo>
                  <a:pt x="10578769" y="1962963"/>
                </a:moveTo>
                <a:cubicBezTo>
                  <a:pt x="10773649" y="2057701"/>
                  <a:pt x="10936285" y="2201237"/>
                  <a:pt x="11073823" y="2338658"/>
                </a:cubicBezTo>
                <a:cubicBezTo>
                  <a:pt x="10938241" y="2169232"/>
                  <a:pt x="10752627" y="1968969"/>
                  <a:pt x="10578769" y="1962963"/>
                </a:cubicBezTo>
                <a:close/>
                <a:moveTo>
                  <a:pt x="5911389" y="1898371"/>
                </a:moveTo>
                <a:cubicBezTo>
                  <a:pt x="6006914" y="2026768"/>
                  <a:pt x="6112955" y="2136857"/>
                  <a:pt x="6237627" y="2231921"/>
                </a:cubicBezTo>
                <a:cubicBezTo>
                  <a:pt x="6161282" y="2090381"/>
                  <a:pt x="6060308" y="1952200"/>
                  <a:pt x="5911389" y="1898371"/>
                </a:cubicBezTo>
                <a:close/>
                <a:moveTo>
                  <a:pt x="6944437" y="1575402"/>
                </a:moveTo>
                <a:cubicBezTo>
                  <a:pt x="6732842" y="1643305"/>
                  <a:pt x="6518352" y="1707201"/>
                  <a:pt x="6304730" y="1766654"/>
                </a:cubicBezTo>
                <a:cubicBezTo>
                  <a:pt x="6527947" y="1784949"/>
                  <a:pt x="6737901" y="1680839"/>
                  <a:pt x="6944437" y="1575402"/>
                </a:cubicBezTo>
                <a:close/>
                <a:moveTo>
                  <a:pt x="7019523" y="1519450"/>
                </a:moveTo>
                <a:cubicBezTo>
                  <a:pt x="6766096" y="1537552"/>
                  <a:pt x="6524653" y="1609537"/>
                  <a:pt x="6298091" y="1737122"/>
                </a:cubicBezTo>
                <a:cubicBezTo>
                  <a:pt x="6539381" y="1670594"/>
                  <a:pt x="6780997" y="1597715"/>
                  <a:pt x="7019523" y="151945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9518298" y="1338235"/>
                </a:moveTo>
                <a:cubicBezTo>
                  <a:pt x="9531977" y="1651120"/>
                  <a:pt x="9677527" y="1999242"/>
                  <a:pt x="9838009" y="2272553"/>
                </a:cubicBezTo>
                <a:cubicBezTo>
                  <a:pt x="9825312" y="2235634"/>
                  <a:pt x="9815180" y="2197225"/>
                  <a:pt x="9805906" y="2159819"/>
                </a:cubicBezTo>
                <a:lnTo>
                  <a:pt x="9801623" y="2142555"/>
                </a:lnTo>
                <a:cubicBezTo>
                  <a:pt x="9756626" y="1964482"/>
                  <a:pt x="9698390" y="1787247"/>
                  <a:pt x="9628671" y="1617375"/>
                </a:cubicBezTo>
                <a:cubicBezTo>
                  <a:pt x="9618364" y="1593060"/>
                  <a:pt x="9608603" y="1568967"/>
                  <a:pt x="9598299" y="1544643"/>
                </a:cubicBezTo>
                <a:cubicBezTo>
                  <a:pt x="9570133" y="1477354"/>
                  <a:pt x="9541339" y="1408510"/>
                  <a:pt x="9518298" y="1338235"/>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5052692" y="1292994"/>
                </a:moveTo>
                <a:cubicBezTo>
                  <a:pt x="5103155" y="1406739"/>
                  <a:pt x="5153078" y="1520878"/>
                  <a:pt x="5200661" y="1635186"/>
                </a:cubicBezTo>
                <a:cubicBezTo>
                  <a:pt x="5238218" y="1725483"/>
                  <a:pt x="5273610" y="1815047"/>
                  <a:pt x="5297138" y="1906351"/>
                </a:cubicBezTo>
                <a:cubicBezTo>
                  <a:pt x="5281533" y="1683399"/>
                  <a:pt x="5177210" y="1491946"/>
                  <a:pt x="5052692" y="1292994"/>
                </a:cubicBezTo>
                <a:close/>
                <a:moveTo>
                  <a:pt x="9528078" y="1278636"/>
                </a:moveTo>
                <a:cubicBezTo>
                  <a:pt x="9552982" y="1365794"/>
                  <a:pt x="9588937" y="1451189"/>
                  <a:pt x="9623946" y="1534260"/>
                </a:cubicBezTo>
                <a:lnTo>
                  <a:pt x="9654858" y="1607218"/>
                </a:lnTo>
                <a:cubicBezTo>
                  <a:pt x="9724183" y="1774989"/>
                  <a:pt x="9781702" y="1949347"/>
                  <a:pt x="9826304" y="2125320"/>
                </a:cubicBezTo>
                <a:cubicBezTo>
                  <a:pt x="9794296" y="1963695"/>
                  <a:pt x="9753660" y="1804203"/>
                  <a:pt x="9701198" y="1646797"/>
                </a:cubicBezTo>
                <a:cubicBezTo>
                  <a:pt x="9655682" y="1511000"/>
                  <a:pt x="9586050" y="1397178"/>
                  <a:pt x="9528078" y="1278636"/>
                </a:cubicBezTo>
                <a:close/>
                <a:moveTo>
                  <a:pt x="5009948" y="1273619"/>
                </a:moveTo>
                <a:cubicBezTo>
                  <a:pt x="5013363" y="1406203"/>
                  <a:pt x="5078144" y="1538571"/>
                  <a:pt x="5121777" y="1654213"/>
                </a:cubicBezTo>
                <a:cubicBezTo>
                  <a:pt x="5175625" y="1795269"/>
                  <a:pt x="5233597" y="1934093"/>
                  <a:pt x="5293545" y="2072247"/>
                </a:cubicBezTo>
                <a:cubicBezTo>
                  <a:pt x="5293533" y="2069971"/>
                  <a:pt x="5294060" y="2067298"/>
                  <a:pt x="5294042" y="2065019"/>
                </a:cubicBezTo>
                <a:cubicBezTo>
                  <a:pt x="5282123" y="1924099"/>
                  <a:pt x="5230273" y="1786942"/>
                  <a:pt x="5171936" y="1647613"/>
                </a:cubicBezTo>
                <a:cubicBezTo>
                  <a:pt x="5119977" y="1522743"/>
                  <a:pt x="5065315" y="1397539"/>
                  <a:pt x="5009948" y="1273619"/>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6516292" y="1263064"/>
                </a:moveTo>
                <a:cubicBezTo>
                  <a:pt x="6288018" y="1373581"/>
                  <a:pt x="6031500" y="1451909"/>
                  <a:pt x="5736320" y="1501803"/>
                </a:cubicBezTo>
                <a:cubicBezTo>
                  <a:pt x="6001708" y="1565837"/>
                  <a:pt x="6267694" y="1408906"/>
                  <a:pt x="6516292" y="1263064"/>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9441752" y="1245311"/>
                </a:moveTo>
                <a:cubicBezTo>
                  <a:pt x="9367449" y="1271794"/>
                  <a:pt x="9313207" y="1329954"/>
                  <a:pt x="9278979" y="1406236"/>
                </a:cubicBezTo>
                <a:cubicBezTo>
                  <a:pt x="9261017" y="1445630"/>
                  <a:pt x="9242585" y="1502850"/>
                  <a:pt x="9235540" y="1546869"/>
                </a:cubicBezTo>
                <a:cubicBezTo>
                  <a:pt x="9223867" y="1618535"/>
                  <a:pt x="9230001" y="1614698"/>
                  <a:pt x="9264074" y="1557016"/>
                </a:cubicBezTo>
                <a:cubicBezTo>
                  <a:pt x="9325587" y="1454296"/>
                  <a:pt x="9384605" y="1349880"/>
                  <a:pt x="9441752" y="1245311"/>
                </a:cubicBezTo>
                <a:close/>
                <a:moveTo>
                  <a:pt x="6691602" y="1140573"/>
                </a:moveTo>
                <a:cubicBezTo>
                  <a:pt x="6646175" y="1158238"/>
                  <a:pt x="6598950" y="1175684"/>
                  <a:pt x="6571100" y="1183662"/>
                </a:cubicBezTo>
                <a:cubicBezTo>
                  <a:pt x="6462406" y="1213607"/>
                  <a:pt x="6352215" y="1234713"/>
                  <a:pt x="6241687" y="1257600"/>
                </a:cubicBezTo>
                <a:cubicBezTo>
                  <a:pt x="6040746" y="1299467"/>
                  <a:pt x="5893317" y="1420819"/>
                  <a:pt x="5693009" y="1478256"/>
                </a:cubicBezTo>
                <a:cubicBezTo>
                  <a:pt x="6021285" y="1426507"/>
                  <a:pt x="6301876" y="1340642"/>
                  <a:pt x="6548420" y="1214599"/>
                </a:cubicBezTo>
                <a:cubicBezTo>
                  <a:pt x="6567440" y="1204628"/>
                  <a:pt x="6586456" y="1194658"/>
                  <a:pt x="6605473" y="1184686"/>
                </a:cubicBezTo>
                <a:cubicBezTo>
                  <a:pt x="6633823" y="1169483"/>
                  <a:pt x="6662531" y="1154778"/>
                  <a:pt x="6691602" y="1140573"/>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473491" y="3921431"/>
                  <a:pt x="1402113" y="4025542"/>
                  <a:pt x="1325720" y="4125411"/>
                </a:cubicBezTo>
                <a:lnTo>
                  <a:pt x="1206279" y="4267200"/>
                </a:lnTo>
                <a:lnTo>
                  <a:pt x="1115040" y="4267200"/>
                </a:lnTo>
                <a:lnTo>
                  <a:pt x="1258195" y="4099624"/>
                </a:lnTo>
                <a:cubicBezTo>
                  <a:pt x="1315987" y="4027073"/>
                  <a:pt x="1371166" y="3952247"/>
                  <a:pt x="1423113" y="3874565"/>
                </a:cubicBezTo>
                <a:lnTo>
                  <a:pt x="1260565" y="4031982"/>
                </a:lnTo>
                <a:cubicBezTo>
                  <a:pt x="1197929" y="4092559"/>
                  <a:pt x="1134310" y="4154329"/>
                  <a:pt x="1073327" y="4218727"/>
                </a:cubicBezTo>
                <a:lnTo>
                  <a:pt x="1032294" y="4267200"/>
                </a:lnTo>
                <a:lnTo>
                  <a:pt x="993830" y="4267200"/>
                </a:lnTo>
                <a:lnTo>
                  <a:pt x="1051860" y="4198693"/>
                </a:lnTo>
                <a:cubicBezTo>
                  <a:pt x="1113440" y="4133732"/>
                  <a:pt x="1177549" y="4071540"/>
                  <a:pt x="1240607" y="4010401"/>
                </a:cubicBezTo>
                <a:lnTo>
                  <a:pt x="1310106" y="3943217"/>
                </a:lnTo>
                <a:cubicBezTo>
                  <a:pt x="1174685" y="4033303"/>
                  <a:pt x="1054913" y="4139624"/>
                  <a:pt x="952103" y="4265972"/>
                </a:cubicBezTo>
                <a:lnTo>
                  <a:pt x="951207" y="4267200"/>
                </a:lnTo>
                <a:lnTo>
                  <a:pt x="862760" y="4267200"/>
                </a:lnTo>
                <a:lnTo>
                  <a:pt x="909145" y="4199225"/>
                </a:lnTo>
                <a:cubicBezTo>
                  <a:pt x="998789" y="4086824"/>
                  <a:pt x="1101084" y="3991246"/>
                  <a:pt x="1214067" y="3908561"/>
                </a:cubicBezTo>
                <a:cubicBezTo>
                  <a:pt x="1023317" y="3973399"/>
                  <a:pt x="824392" y="4020568"/>
                  <a:pt x="640967" y="4105601"/>
                </a:cubicBezTo>
                <a:cubicBezTo>
                  <a:pt x="549674" y="4147907"/>
                  <a:pt x="460581" y="4194508"/>
                  <a:pt x="372807" y="4243651"/>
                </a:cubicBezTo>
                <a:lnTo>
                  <a:pt x="332830" y="4267200"/>
                </a:lnTo>
                <a:lnTo>
                  <a:pt x="168301" y="4267200"/>
                </a:lnTo>
                <a:lnTo>
                  <a:pt x="278002" y="4201399"/>
                </a:lnTo>
                <a:cubicBezTo>
                  <a:pt x="359885" y="4153808"/>
                  <a:pt x="442683" y="4107866"/>
                  <a:pt x="527241" y="4065078"/>
                </a:cubicBezTo>
                <a:cubicBezTo>
                  <a:pt x="838255" y="3908281"/>
                  <a:pt x="1212318" y="3863093"/>
                  <a:pt x="1510397" y="3684705"/>
                </a:cubicBezTo>
                <a:cubicBezTo>
                  <a:pt x="1390337" y="3729510"/>
                  <a:pt x="1267181" y="3766747"/>
                  <a:pt x="1146550" y="3802012"/>
                </a:cubicBezTo>
                <a:cubicBezTo>
                  <a:pt x="997862" y="3845736"/>
                  <a:pt x="843568" y="3890871"/>
                  <a:pt x="698834" y="3952272"/>
                </a:cubicBezTo>
                <a:cubicBezTo>
                  <a:pt x="519814" y="4027898"/>
                  <a:pt x="352828" y="4127506"/>
                  <a:pt x="192528" y="4236299"/>
                </a:cubicBezTo>
                <a:lnTo>
                  <a:pt x="148586" y="4267200"/>
                </a:lnTo>
                <a:lnTo>
                  <a:pt x="98116" y="4267200"/>
                </a:lnTo>
                <a:lnTo>
                  <a:pt x="169669" y="4216852"/>
                </a:lnTo>
                <a:cubicBezTo>
                  <a:pt x="333361" y="4105506"/>
                  <a:pt x="504130" y="4002947"/>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ubicBezTo>
                  <a:pt x="1247578" y="3654578"/>
                  <a:pt x="1180153" y="3656293"/>
                  <a:pt x="1109304" y="3669030"/>
                </a:cubicBezTo>
                <a:cubicBezTo>
                  <a:pt x="794692" y="3725281"/>
                  <a:pt x="516258" y="3901624"/>
                  <a:pt x="258951" y="4111994"/>
                </a:cubicBezTo>
                <a:lnTo>
                  <a:pt x="80807" y="4267200"/>
                </a:lnTo>
                <a:lnTo>
                  <a:pt x="0" y="4267200"/>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12149131" y="959050"/>
                </a:moveTo>
                <a:cubicBezTo>
                  <a:pt x="12135265" y="975072"/>
                  <a:pt x="12121401" y="991089"/>
                  <a:pt x="12105664" y="1006960"/>
                </a:cubicBezTo>
                <a:cubicBezTo>
                  <a:pt x="12040174" y="1071943"/>
                  <a:pt x="11966532" y="1125748"/>
                  <a:pt x="11883102" y="1184424"/>
                </a:cubicBezTo>
                <a:cubicBezTo>
                  <a:pt x="11822339" y="1227583"/>
                  <a:pt x="11746281" y="1281016"/>
                  <a:pt x="11665174" y="1317493"/>
                </a:cubicBezTo>
                <a:cubicBezTo>
                  <a:pt x="11640620" y="1328342"/>
                  <a:pt x="11615753" y="1338416"/>
                  <a:pt x="11590337" y="1348256"/>
                </a:cubicBezTo>
                <a:cubicBezTo>
                  <a:pt x="11556383" y="1361567"/>
                  <a:pt x="11523739" y="1374791"/>
                  <a:pt x="11492588" y="1390573"/>
                </a:cubicBezTo>
                <a:cubicBezTo>
                  <a:pt x="11632969" y="1358579"/>
                  <a:pt x="11770492" y="1298342"/>
                  <a:pt x="11888865" y="1220988"/>
                </a:cubicBezTo>
                <a:cubicBezTo>
                  <a:pt x="11984266" y="1158366"/>
                  <a:pt x="12085135" y="1064584"/>
                  <a:pt x="12149131" y="959050"/>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5870151" y="898890"/>
                </a:moveTo>
                <a:cubicBezTo>
                  <a:pt x="5866911" y="898948"/>
                  <a:pt x="5864574" y="899121"/>
                  <a:pt x="5861335" y="899177"/>
                </a:cubicBezTo>
                <a:lnTo>
                  <a:pt x="5843702" y="899748"/>
                </a:lnTo>
                <a:cubicBezTo>
                  <a:pt x="5780018" y="902412"/>
                  <a:pt x="5714210" y="911192"/>
                  <a:pt x="5651107" y="920306"/>
                </a:cubicBezTo>
                <a:cubicBezTo>
                  <a:pt x="5588537" y="929031"/>
                  <a:pt x="5523624" y="937920"/>
                  <a:pt x="5459407" y="940975"/>
                </a:cubicBezTo>
                <a:cubicBezTo>
                  <a:pt x="5431523" y="942110"/>
                  <a:pt x="5402918" y="942237"/>
                  <a:pt x="5374846" y="941988"/>
                </a:cubicBezTo>
                <a:cubicBezTo>
                  <a:pt x="5336157" y="941792"/>
                  <a:pt x="5295497" y="942268"/>
                  <a:pt x="5256105" y="945632"/>
                </a:cubicBezTo>
                <a:cubicBezTo>
                  <a:pt x="5206829" y="950064"/>
                  <a:pt x="5155964" y="960232"/>
                  <a:pt x="5107071" y="969720"/>
                </a:cubicBezTo>
                <a:cubicBezTo>
                  <a:pt x="5071129" y="976700"/>
                  <a:pt x="5035177" y="983681"/>
                  <a:pt x="4998681" y="988771"/>
                </a:cubicBezTo>
                <a:cubicBezTo>
                  <a:pt x="5256175" y="1057755"/>
                  <a:pt x="5597864" y="989418"/>
                  <a:pt x="5870151" y="898890"/>
                </a:cubicBezTo>
                <a:close/>
                <a:moveTo>
                  <a:pt x="12190084" y="854709"/>
                </a:moveTo>
                <a:cubicBezTo>
                  <a:pt x="12181324" y="863235"/>
                  <a:pt x="12172252" y="870980"/>
                  <a:pt x="12162947" y="879275"/>
                </a:cubicBezTo>
                <a:cubicBezTo>
                  <a:pt x="12028326" y="998039"/>
                  <a:pt x="11883371" y="1121443"/>
                  <a:pt x="11721478" y="1216434"/>
                </a:cubicBezTo>
                <a:lnTo>
                  <a:pt x="11680712" y="1239730"/>
                </a:lnTo>
                <a:cubicBezTo>
                  <a:pt x="11620220" y="1274640"/>
                  <a:pt x="11558177" y="1310180"/>
                  <a:pt x="11505347" y="1352837"/>
                </a:cubicBezTo>
                <a:cubicBezTo>
                  <a:pt x="11530133" y="1341442"/>
                  <a:pt x="11555544" y="1331600"/>
                  <a:pt x="11580962" y="1321759"/>
                </a:cubicBezTo>
                <a:cubicBezTo>
                  <a:pt x="11605590" y="1312227"/>
                  <a:pt x="11630227" y="1302697"/>
                  <a:pt x="11654234" y="1291618"/>
                </a:cubicBezTo>
                <a:cubicBezTo>
                  <a:pt x="11733018" y="1256083"/>
                  <a:pt x="11807521" y="1203284"/>
                  <a:pt x="11867274" y="1160983"/>
                </a:cubicBezTo>
                <a:cubicBezTo>
                  <a:pt x="11949151" y="1102940"/>
                  <a:pt x="12022324" y="1050225"/>
                  <a:pt x="12086035" y="986418"/>
                </a:cubicBezTo>
                <a:cubicBezTo>
                  <a:pt x="12128278" y="944429"/>
                  <a:pt x="12163191" y="899980"/>
                  <a:pt x="12190084" y="854709"/>
                </a:cubicBezTo>
                <a:close/>
                <a:moveTo>
                  <a:pt x="5504425" y="848067"/>
                </a:moveTo>
                <a:cubicBezTo>
                  <a:pt x="5313518" y="848319"/>
                  <a:pt x="5144450" y="894555"/>
                  <a:pt x="4968849" y="962318"/>
                </a:cubicBezTo>
                <a:cubicBezTo>
                  <a:pt x="5013986" y="957830"/>
                  <a:pt x="5059460" y="949291"/>
                  <a:pt x="5104039" y="940634"/>
                </a:cubicBezTo>
                <a:cubicBezTo>
                  <a:pt x="5153465" y="930752"/>
                  <a:pt x="5205230" y="920703"/>
                  <a:pt x="5256311" y="916490"/>
                </a:cubicBezTo>
                <a:cubicBezTo>
                  <a:pt x="5297138" y="912849"/>
                  <a:pt x="5338158" y="912871"/>
                  <a:pt x="5377381" y="912671"/>
                </a:cubicBezTo>
                <a:cubicBezTo>
                  <a:pt x="5405093" y="912428"/>
                  <a:pt x="5432627" y="913077"/>
                  <a:pt x="5460148" y="911442"/>
                </a:cubicBezTo>
                <a:cubicBezTo>
                  <a:pt x="5522934" y="908669"/>
                  <a:pt x="5586937" y="899666"/>
                  <a:pt x="5648971" y="891331"/>
                </a:cubicBezTo>
                <a:cubicBezTo>
                  <a:pt x="5712974" y="882328"/>
                  <a:pt x="5779324" y="873155"/>
                  <a:pt x="5844807" y="870718"/>
                </a:cubicBezTo>
                <a:lnTo>
                  <a:pt x="5862975" y="869756"/>
                </a:lnTo>
                <a:cubicBezTo>
                  <a:pt x="5882405" y="869405"/>
                  <a:pt x="5902011" y="868171"/>
                  <a:pt x="5920887" y="865929"/>
                </a:cubicBezTo>
                <a:cubicBezTo>
                  <a:pt x="5782825" y="855356"/>
                  <a:pt x="5643867" y="846954"/>
                  <a:pt x="5504425" y="848067"/>
                </a:cubicBezTo>
                <a:close/>
                <a:moveTo>
                  <a:pt x="8924104" y="777000"/>
                </a:moveTo>
                <a:cubicBezTo>
                  <a:pt x="8923664" y="782606"/>
                  <a:pt x="8922673" y="787979"/>
                  <a:pt x="8921999" y="794136"/>
                </a:cubicBezTo>
                <a:cubicBezTo>
                  <a:pt x="8919582" y="810498"/>
                  <a:pt x="8917940" y="826538"/>
                  <a:pt x="8916066" y="843129"/>
                </a:cubicBezTo>
                <a:cubicBezTo>
                  <a:pt x="8910698" y="896870"/>
                  <a:pt x="8909926" y="951907"/>
                  <a:pt x="8909852" y="1005313"/>
                </a:cubicBezTo>
                <a:cubicBezTo>
                  <a:pt x="8907936" y="1206014"/>
                  <a:pt x="8906433" y="1413328"/>
                  <a:pt x="8936982" y="1614896"/>
                </a:cubicBezTo>
                <a:lnTo>
                  <a:pt x="8939706" y="1632791"/>
                </a:lnTo>
                <a:lnTo>
                  <a:pt x="8946691" y="1680170"/>
                </a:lnTo>
                <a:cubicBezTo>
                  <a:pt x="8947341" y="1669501"/>
                  <a:pt x="8947217" y="1659149"/>
                  <a:pt x="8947643" y="1649028"/>
                </a:cubicBezTo>
                <a:cubicBezTo>
                  <a:pt x="8950646" y="1394060"/>
                  <a:pt x="8954155" y="1130296"/>
                  <a:pt x="8931687" y="871628"/>
                </a:cubicBezTo>
                <a:lnTo>
                  <a:pt x="8929804" y="850229"/>
                </a:lnTo>
                <a:cubicBezTo>
                  <a:pt x="8927750" y="826182"/>
                  <a:pt x="8925696" y="802134"/>
                  <a:pt x="8924104" y="777000"/>
                </a:cubicBezTo>
                <a:close/>
                <a:moveTo>
                  <a:pt x="8951219" y="764662"/>
                </a:moveTo>
                <a:cubicBezTo>
                  <a:pt x="8952434" y="792211"/>
                  <a:pt x="8955277" y="820458"/>
                  <a:pt x="8957270" y="847698"/>
                </a:cubicBezTo>
                <a:lnTo>
                  <a:pt x="8959153" y="869097"/>
                </a:lnTo>
                <a:cubicBezTo>
                  <a:pt x="8981354" y="1119277"/>
                  <a:pt x="8978808" y="1373147"/>
                  <a:pt x="8976081" y="1619865"/>
                </a:cubicBezTo>
                <a:cubicBezTo>
                  <a:pt x="9043646" y="1335574"/>
                  <a:pt x="9035127" y="1045475"/>
                  <a:pt x="8951219" y="764662"/>
                </a:cubicBezTo>
                <a:close/>
                <a:moveTo>
                  <a:pt x="8898081" y="630137"/>
                </a:moveTo>
                <a:cubicBezTo>
                  <a:pt x="8735190" y="940376"/>
                  <a:pt x="8800852" y="1302315"/>
                  <a:pt x="8910095" y="1626691"/>
                </a:cubicBezTo>
                <a:lnTo>
                  <a:pt x="8908822" y="1619067"/>
                </a:lnTo>
                <a:cubicBezTo>
                  <a:pt x="8877873" y="1415398"/>
                  <a:pt x="8879292" y="1206762"/>
                  <a:pt x="8881669" y="1004967"/>
                </a:cubicBezTo>
                <a:cubicBezTo>
                  <a:pt x="8881975" y="951016"/>
                  <a:pt x="8882434" y="895204"/>
                  <a:pt x="8888265" y="840369"/>
                </a:cubicBezTo>
                <a:cubicBezTo>
                  <a:pt x="8890137" y="823783"/>
                  <a:pt x="8892011" y="807192"/>
                  <a:pt x="8894429" y="790831"/>
                </a:cubicBezTo>
                <a:cubicBezTo>
                  <a:pt x="8901122" y="737010"/>
                  <a:pt x="8907725" y="681866"/>
                  <a:pt x="8898081" y="630137"/>
                </a:cubicBezTo>
                <a:close/>
                <a:moveTo>
                  <a:pt x="11491396" y="623931"/>
                </a:moveTo>
                <a:cubicBezTo>
                  <a:pt x="11465686" y="637515"/>
                  <a:pt x="11440209" y="650546"/>
                  <a:pt x="11413329" y="662344"/>
                </a:cubicBezTo>
                <a:cubicBezTo>
                  <a:pt x="11268660" y="727282"/>
                  <a:pt x="11113102" y="758642"/>
                  <a:pt x="10966547" y="818916"/>
                </a:cubicBezTo>
                <a:cubicBezTo>
                  <a:pt x="10793574" y="889896"/>
                  <a:pt x="10652020" y="1008307"/>
                  <a:pt x="10498883" y="1111507"/>
                </a:cubicBezTo>
                <a:cubicBezTo>
                  <a:pt x="10559155" y="1098395"/>
                  <a:pt x="10616158" y="1067158"/>
                  <a:pt x="10671292" y="1035777"/>
                </a:cubicBezTo>
                <a:lnTo>
                  <a:pt x="10685894" y="1027151"/>
                </a:lnTo>
                <a:cubicBezTo>
                  <a:pt x="10821548" y="950027"/>
                  <a:pt x="10965272" y="882756"/>
                  <a:pt x="11104337" y="817377"/>
                </a:cubicBezTo>
                <a:cubicBezTo>
                  <a:pt x="11233375" y="757414"/>
                  <a:pt x="11364889" y="694633"/>
                  <a:pt x="11491396" y="623931"/>
                </a:cubicBezTo>
                <a:close/>
                <a:moveTo>
                  <a:pt x="10779304" y="584486"/>
                </a:moveTo>
                <a:cubicBezTo>
                  <a:pt x="10740583" y="648568"/>
                  <a:pt x="10699136" y="711502"/>
                  <a:pt x="10658378" y="772788"/>
                </a:cubicBezTo>
                <a:cubicBezTo>
                  <a:pt x="10594579" y="868744"/>
                  <a:pt x="10529620" y="967431"/>
                  <a:pt x="10475581" y="1070739"/>
                </a:cubicBezTo>
                <a:cubicBezTo>
                  <a:pt x="10578194" y="966751"/>
                  <a:pt x="10672522" y="819977"/>
                  <a:pt x="10735178" y="693281"/>
                </a:cubicBezTo>
                <a:close/>
                <a:moveTo>
                  <a:pt x="10132488" y="518596"/>
                </a:moveTo>
                <a:cubicBezTo>
                  <a:pt x="10047856" y="532980"/>
                  <a:pt x="9963302" y="548687"/>
                  <a:pt x="9879465" y="567273"/>
                </a:cubicBezTo>
                <a:cubicBezTo>
                  <a:pt x="9683016" y="611580"/>
                  <a:pt x="9523495" y="697916"/>
                  <a:pt x="9364243" y="809468"/>
                </a:cubicBezTo>
                <a:cubicBezTo>
                  <a:pt x="9364793" y="809701"/>
                  <a:pt x="9365336" y="809931"/>
                  <a:pt x="9366655" y="809848"/>
                </a:cubicBezTo>
                <a:cubicBezTo>
                  <a:pt x="9558665" y="728900"/>
                  <a:pt x="9742999" y="656935"/>
                  <a:pt x="9914233" y="596159"/>
                </a:cubicBezTo>
                <a:close/>
                <a:moveTo>
                  <a:pt x="10264524" y="501747"/>
                </a:moveTo>
                <a:lnTo>
                  <a:pt x="9922837" y="622979"/>
                </a:lnTo>
                <a:cubicBezTo>
                  <a:pt x="9763806" y="679263"/>
                  <a:pt x="9594234" y="745243"/>
                  <a:pt x="9416908" y="818889"/>
                </a:cubicBezTo>
                <a:cubicBezTo>
                  <a:pt x="9417689" y="818579"/>
                  <a:pt x="9417689" y="818579"/>
                  <a:pt x="9418234" y="818810"/>
                </a:cubicBezTo>
                <a:cubicBezTo>
                  <a:pt x="9717394" y="764555"/>
                  <a:pt x="10002904" y="633058"/>
                  <a:pt x="10264524" y="501747"/>
                </a:cubicBezTo>
                <a:close/>
                <a:moveTo>
                  <a:pt x="10802699" y="488163"/>
                </a:moveTo>
                <a:lnTo>
                  <a:pt x="10618739" y="734118"/>
                </a:lnTo>
                <a:lnTo>
                  <a:pt x="10604580" y="753877"/>
                </a:lnTo>
                <a:cubicBezTo>
                  <a:pt x="10575714" y="793161"/>
                  <a:pt x="10550336" y="828772"/>
                  <a:pt x="10529643" y="867004"/>
                </a:cubicBezTo>
                <a:cubicBezTo>
                  <a:pt x="10501301" y="918746"/>
                  <a:pt x="10479284" y="973805"/>
                  <a:pt x="10462194" y="1035452"/>
                </a:cubicBezTo>
                <a:cubicBezTo>
                  <a:pt x="10514547" y="939156"/>
                  <a:pt x="10575176" y="847655"/>
                  <a:pt x="10635117" y="757788"/>
                </a:cubicBezTo>
                <a:cubicBezTo>
                  <a:pt x="10692800" y="670189"/>
                  <a:pt x="10751735" y="581180"/>
                  <a:pt x="10802699" y="488163"/>
                </a:cubicBezTo>
                <a:close/>
                <a:moveTo>
                  <a:pt x="10359107" y="485136"/>
                </a:moveTo>
                <a:cubicBezTo>
                  <a:pt x="10100692" y="616512"/>
                  <a:pt x="9815681" y="755947"/>
                  <a:pt x="9515108" y="825701"/>
                </a:cubicBezTo>
                <a:cubicBezTo>
                  <a:pt x="9825509" y="831572"/>
                  <a:pt x="10104184" y="667562"/>
                  <a:pt x="10359107" y="485136"/>
                </a:cubicBezTo>
                <a:close/>
                <a:moveTo>
                  <a:pt x="11886089" y="483936"/>
                </a:moveTo>
                <a:cubicBezTo>
                  <a:pt x="11800033" y="547295"/>
                  <a:pt x="11710455" y="605296"/>
                  <a:pt x="11622890" y="661575"/>
                </a:cubicBezTo>
                <a:cubicBezTo>
                  <a:pt x="11437051" y="781189"/>
                  <a:pt x="11244843" y="905190"/>
                  <a:pt x="11038640" y="996875"/>
                </a:cubicBezTo>
                <a:cubicBezTo>
                  <a:pt x="10885656" y="1064725"/>
                  <a:pt x="10725662" y="1114166"/>
                  <a:pt x="10561310" y="1145020"/>
                </a:cubicBezTo>
                <a:cubicBezTo>
                  <a:pt x="10596460" y="1154752"/>
                  <a:pt x="10632933" y="1164394"/>
                  <a:pt x="10675127" y="1163586"/>
                </a:cubicBezTo>
                <a:cubicBezTo>
                  <a:pt x="10827145" y="1160350"/>
                  <a:pt x="10989398" y="1058435"/>
                  <a:pt x="11120351" y="990907"/>
                </a:cubicBezTo>
                <a:cubicBezTo>
                  <a:pt x="11302032" y="897860"/>
                  <a:pt x="11481110" y="797268"/>
                  <a:pt x="11648506" y="680145"/>
                </a:cubicBezTo>
                <a:cubicBezTo>
                  <a:pt x="11691733" y="649515"/>
                  <a:pt x="11821224" y="550475"/>
                  <a:pt x="11886089" y="483936"/>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10784544" y="465669"/>
                </a:moveTo>
                <a:cubicBezTo>
                  <a:pt x="10662409" y="521478"/>
                  <a:pt x="10422179" y="894258"/>
                  <a:pt x="10426419" y="1062158"/>
                </a:cubicBezTo>
                <a:cubicBezTo>
                  <a:pt x="10438657" y="1011968"/>
                  <a:pt x="10453241" y="965354"/>
                  <a:pt x="10471732" y="921679"/>
                </a:cubicBezTo>
                <a:cubicBezTo>
                  <a:pt x="10481672" y="898200"/>
                  <a:pt x="10492705" y="875187"/>
                  <a:pt x="10504824" y="852631"/>
                </a:cubicBezTo>
                <a:cubicBezTo>
                  <a:pt x="10526215" y="812759"/>
                  <a:pt x="10552604" y="776291"/>
                  <a:pt x="10582237" y="736692"/>
                </a:cubicBezTo>
                <a:lnTo>
                  <a:pt x="10596401" y="716935"/>
                </a:lnTo>
                <a:cubicBezTo>
                  <a:pt x="10661482" y="628604"/>
                  <a:pt x="10720448" y="548625"/>
                  <a:pt x="10784544" y="465669"/>
                </a:cubicBezTo>
                <a:close/>
                <a:moveTo>
                  <a:pt x="11916494" y="422768"/>
                </a:moveTo>
                <a:cubicBezTo>
                  <a:pt x="11840345" y="436884"/>
                  <a:pt x="11770712" y="482734"/>
                  <a:pt x="11703185" y="528178"/>
                </a:cubicBezTo>
                <a:lnTo>
                  <a:pt x="11680755" y="543149"/>
                </a:lnTo>
                <a:cubicBezTo>
                  <a:pt x="11503085" y="661715"/>
                  <a:pt x="11307002" y="753816"/>
                  <a:pt x="11116818" y="842623"/>
                </a:cubicBezTo>
                <a:cubicBezTo>
                  <a:pt x="10977992" y="907459"/>
                  <a:pt x="10835051" y="974411"/>
                  <a:pt x="10700164" y="1051220"/>
                </a:cubicBezTo>
                <a:lnTo>
                  <a:pt x="10685570" y="1059849"/>
                </a:lnTo>
                <a:cubicBezTo>
                  <a:pt x="10652486" y="1078679"/>
                  <a:pt x="10619176" y="1098052"/>
                  <a:pt x="10584288" y="1113543"/>
                </a:cubicBezTo>
                <a:cubicBezTo>
                  <a:pt x="10736655" y="1082118"/>
                  <a:pt x="10884823" y="1034762"/>
                  <a:pt x="11026698" y="971858"/>
                </a:cubicBezTo>
                <a:cubicBezTo>
                  <a:pt x="11231114" y="881353"/>
                  <a:pt x="11422542" y="757667"/>
                  <a:pt x="11607604" y="638368"/>
                </a:cubicBezTo>
                <a:cubicBezTo>
                  <a:pt x="11712249" y="570645"/>
                  <a:pt x="11819449" y="501435"/>
                  <a:pt x="11919452" y="423380"/>
                </a:cubicBezTo>
                <a:cubicBezTo>
                  <a:pt x="11918363" y="422918"/>
                  <a:pt x="11917811" y="422686"/>
                  <a:pt x="11916494" y="422768"/>
                </a:cubicBezTo>
                <a:close/>
                <a:moveTo>
                  <a:pt x="8148168" y="416949"/>
                </a:moveTo>
                <a:cubicBezTo>
                  <a:pt x="8041447" y="489578"/>
                  <a:pt x="7951585" y="589312"/>
                  <a:pt x="7862052" y="694330"/>
                </a:cubicBezTo>
                <a:lnTo>
                  <a:pt x="7808002" y="759654"/>
                </a:lnTo>
                <a:close/>
                <a:moveTo>
                  <a:pt x="8295299" y="416143"/>
                </a:moveTo>
                <a:cubicBezTo>
                  <a:pt x="8303328" y="454953"/>
                  <a:pt x="8309263" y="494162"/>
                  <a:pt x="8309124" y="534021"/>
                </a:cubicBezTo>
                <a:cubicBezTo>
                  <a:pt x="8309177" y="581042"/>
                  <a:pt x="8301211" y="627240"/>
                  <a:pt x="8293154" y="672115"/>
                </a:cubicBezTo>
                <a:cubicBezTo>
                  <a:pt x="8287455" y="703824"/>
                  <a:pt x="8281839" y="736857"/>
                  <a:pt x="8279099" y="769176"/>
                </a:cubicBezTo>
                <a:cubicBezTo>
                  <a:pt x="8271208" y="866910"/>
                  <a:pt x="8290164" y="965070"/>
                  <a:pt x="8309186" y="1060039"/>
                </a:cubicBezTo>
                <a:cubicBezTo>
                  <a:pt x="8338258" y="1208834"/>
                  <a:pt x="8368983" y="1362838"/>
                  <a:pt x="8410512" y="1511108"/>
                </a:cubicBezTo>
                <a:cubicBezTo>
                  <a:pt x="8445511" y="1186645"/>
                  <a:pt x="8463496" y="815698"/>
                  <a:pt x="8351657" y="521768"/>
                </a:cubicBezTo>
                <a:cubicBezTo>
                  <a:pt x="8336376" y="481820"/>
                  <a:pt x="8314355" y="448679"/>
                  <a:pt x="8295299" y="416143"/>
                </a:cubicBezTo>
                <a:close/>
                <a:moveTo>
                  <a:pt x="8266483" y="414244"/>
                </a:moveTo>
                <a:cubicBezTo>
                  <a:pt x="8162811" y="736679"/>
                  <a:pt x="8223592" y="1050836"/>
                  <a:pt x="8343425" y="1357811"/>
                </a:cubicBezTo>
                <a:cubicBezTo>
                  <a:pt x="8320496" y="1259904"/>
                  <a:pt x="8300994" y="1161513"/>
                  <a:pt x="8282114" y="1064671"/>
                </a:cubicBezTo>
                <a:cubicBezTo>
                  <a:pt x="8263238" y="967838"/>
                  <a:pt x="8243336" y="867346"/>
                  <a:pt x="8251298" y="766414"/>
                </a:cubicBezTo>
                <a:cubicBezTo>
                  <a:pt x="8253954" y="732777"/>
                  <a:pt x="8259797" y="699198"/>
                  <a:pt x="8265729" y="666939"/>
                </a:cubicBezTo>
                <a:cubicBezTo>
                  <a:pt x="8273319" y="623158"/>
                  <a:pt x="8281376" y="578281"/>
                  <a:pt x="8281494" y="533909"/>
                </a:cubicBezTo>
                <a:cubicBezTo>
                  <a:pt x="8281080" y="493822"/>
                  <a:pt x="8274834" y="453832"/>
                  <a:pt x="8266483" y="414244"/>
                </a:cubicBezTo>
                <a:close/>
                <a:moveTo>
                  <a:pt x="8140802" y="388720"/>
                </a:moveTo>
                <a:cubicBezTo>
                  <a:pt x="8028462" y="422924"/>
                  <a:pt x="7941106" y="490876"/>
                  <a:pt x="7860379" y="596411"/>
                </a:cubicBezTo>
                <a:cubicBezTo>
                  <a:pt x="7812773" y="658663"/>
                  <a:pt x="7772566" y="720182"/>
                  <a:pt x="7737688" y="790400"/>
                </a:cubicBezTo>
                <a:cubicBezTo>
                  <a:pt x="7733439" y="798902"/>
                  <a:pt x="7729892" y="805767"/>
                  <a:pt x="7726885" y="812869"/>
                </a:cubicBezTo>
                <a:cubicBezTo>
                  <a:pt x="7764906" y="767160"/>
                  <a:pt x="7802380" y="721219"/>
                  <a:pt x="7840490" y="676832"/>
                </a:cubicBezTo>
                <a:cubicBezTo>
                  <a:pt x="7933738" y="567590"/>
                  <a:pt x="8028101" y="463327"/>
                  <a:pt x="8140802" y="388720"/>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5805386" y="239240"/>
                </a:moveTo>
                <a:cubicBezTo>
                  <a:pt x="5783116" y="246988"/>
                  <a:pt x="5760847" y="254734"/>
                  <a:pt x="5736947" y="261367"/>
                </a:cubicBezTo>
                <a:cubicBezTo>
                  <a:pt x="5638133" y="287976"/>
                  <a:pt x="5538513" y="299897"/>
                  <a:pt x="5427012" y="311272"/>
                </a:cubicBezTo>
                <a:cubicBezTo>
                  <a:pt x="5345554" y="319953"/>
                  <a:pt x="5243942" y="330268"/>
                  <a:pt x="5147818" y="322112"/>
                </a:cubicBezTo>
                <a:cubicBezTo>
                  <a:pt x="5118835" y="319462"/>
                  <a:pt x="5090027" y="315925"/>
                  <a:pt x="5060854" y="311882"/>
                </a:cubicBezTo>
                <a:cubicBezTo>
                  <a:pt x="5021780" y="306636"/>
                  <a:pt x="4983964" y="301993"/>
                  <a:pt x="4945989" y="300516"/>
                </a:cubicBezTo>
                <a:cubicBezTo>
                  <a:pt x="5093776" y="343728"/>
                  <a:pt x="5255799" y="359063"/>
                  <a:pt x="5410479" y="348434"/>
                </a:cubicBezTo>
                <a:cubicBezTo>
                  <a:pt x="5535307" y="339607"/>
                  <a:pt x="5683741" y="304513"/>
                  <a:pt x="5805386" y="239240"/>
                </a:cubicBezTo>
                <a:close/>
                <a:moveTo>
                  <a:pt x="5905192" y="163079"/>
                </a:moveTo>
                <a:cubicBezTo>
                  <a:pt x="5892074" y="166484"/>
                  <a:pt x="5879136" y="168997"/>
                  <a:pt x="5865655" y="171901"/>
                </a:cubicBezTo>
                <a:cubicBezTo>
                  <a:pt x="5671371" y="212758"/>
                  <a:pt x="5464843" y="252569"/>
                  <a:pt x="5259740" y="257013"/>
                </a:cubicBezTo>
                <a:cubicBezTo>
                  <a:pt x="5242649" y="257191"/>
                  <a:pt x="5225558" y="257369"/>
                  <a:pt x="5208466" y="257550"/>
                </a:cubicBezTo>
                <a:cubicBezTo>
                  <a:pt x="5132177" y="258666"/>
                  <a:pt x="5054091" y="259560"/>
                  <a:pt x="4980204" y="271903"/>
                </a:cubicBezTo>
                <a:cubicBezTo>
                  <a:pt x="5009725" y="274165"/>
                  <a:pt x="5038894" y="278201"/>
                  <a:pt x="5068068" y="282244"/>
                </a:cubicBezTo>
                <a:cubicBezTo>
                  <a:pt x="5096338" y="286164"/>
                  <a:pt x="5124608" y="290090"/>
                  <a:pt x="5153231" y="292240"/>
                </a:cubicBezTo>
                <a:cubicBezTo>
                  <a:pt x="5246661" y="300067"/>
                  <a:pt x="5346469" y="289533"/>
                  <a:pt x="5426491" y="281128"/>
                </a:cubicBezTo>
                <a:cubicBezTo>
                  <a:pt x="5536189" y="269536"/>
                  <a:pt x="5634727" y="258390"/>
                  <a:pt x="5731212" y="231951"/>
                </a:cubicBezTo>
                <a:cubicBezTo>
                  <a:pt x="5794995" y="214721"/>
                  <a:pt x="5853525" y="191373"/>
                  <a:pt x="5905192" y="163079"/>
                </a:cubicBezTo>
                <a:close/>
                <a:moveTo>
                  <a:pt x="5944437" y="113829"/>
                </a:moveTo>
                <a:cubicBezTo>
                  <a:pt x="5917256" y="119186"/>
                  <a:pt x="5863594" y="140199"/>
                  <a:pt x="5825032" y="146405"/>
                </a:cubicBezTo>
                <a:cubicBezTo>
                  <a:pt x="5539893" y="189777"/>
                  <a:pt x="5237140" y="170377"/>
                  <a:pt x="4955599" y="247008"/>
                </a:cubicBezTo>
                <a:cubicBezTo>
                  <a:pt x="5038637" y="230314"/>
                  <a:pt x="5125543" y="229138"/>
                  <a:pt x="5210104" y="228123"/>
                </a:cubicBezTo>
                <a:cubicBezTo>
                  <a:pt x="5227195" y="227945"/>
                  <a:pt x="5244285" y="227765"/>
                  <a:pt x="5261015" y="227087"/>
                </a:cubicBezTo>
                <a:cubicBezTo>
                  <a:pt x="5463242" y="223204"/>
                  <a:pt x="5667966" y="183171"/>
                  <a:pt x="5861181" y="143093"/>
                </a:cubicBezTo>
                <a:cubicBezTo>
                  <a:pt x="5895331" y="135893"/>
                  <a:pt x="5928215" y="128080"/>
                  <a:pt x="5961252" y="114820"/>
                </a:cubicBezTo>
                <a:cubicBezTo>
                  <a:pt x="5959615" y="111998"/>
                  <a:pt x="5953497" y="112044"/>
                  <a:pt x="5944437" y="113829"/>
                </a:cubicBezTo>
                <a:close/>
                <a:moveTo>
                  <a:pt x="9095810" y="0"/>
                </a:moveTo>
                <a:lnTo>
                  <a:pt x="9215999" y="0"/>
                </a:lnTo>
                <a:lnTo>
                  <a:pt x="9250991" y="17650"/>
                </a:lnTo>
                <a:cubicBezTo>
                  <a:pt x="9345825" y="54329"/>
                  <a:pt x="9448424" y="64330"/>
                  <a:pt x="9551793" y="69947"/>
                </a:cubicBezTo>
                <a:cubicBezTo>
                  <a:pt x="9773323" y="81971"/>
                  <a:pt x="9993517" y="56091"/>
                  <a:pt x="10211701" y="15192"/>
                </a:cubicBezTo>
                <a:cubicBezTo>
                  <a:pt x="10030564" y="37013"/>
                  <a:pt x="9847820" y="45912"/>
                  <a:pt x="9665014" y="41266"/>
                </a:cubicBezTo>
                <a:cubicBezTo>
                  <a:pt x="9560295" y="38460"/>
                  <a:pt x="9467175" y="31066"/>
                  <a:pt x="9382567" y="18583"/>
                </a:cubicBezTo>
                <a:lnTo>
                  <a:pt x="9283159" y="0"/>
                </a:lnTo>
                <a:lnTo>
                  <a:pt x="9469266" y="0"/>
                </a:lnTo>
                <a:lnTo>
                  <a:pt x="9504117" y="4274"/>
                </a:lnTo>
                <a:cubicBezTo>
                  <a:pt x="9555272" y="8689"/>
                  <a:pt x="9609472" y="11637"/>
                  <a:pt x="9667223" y="13232"/>
                </a:cubicBezTo>
                <a:cubicBezTo>
                  <a:pt x="9740740" y="15225"/>
                  <a:pt x="9814266" y="15008"/>
                  <a:pt x="9887703" y="12601"/>
                </a:cubicBezTo>
                <a:lnTo>
                  <a:pt x="10088930" y="0"/>
                </a:lnTo>
                <a:lnTo>
                  <a:pt x="10544171" y="0"/>
                </a:lnTo>
                <a:lnTo>
                  <a:pt x="10392396" y="36772"/>
                </a:lnTo>
                <a:cubicBezTo>
                  <a:pt x="10070832" y="110795"/>
                  <a:pt x="9739873" y="167441"/>
                  <a:pt x="9413803" y="131277"/>
                </a:cubicBezTo>
                <a:cubicBezTo>
                  <a:pt x="9315472" y="120226"/>
                  <a:pt x="9243539" y="84460"/>
                  <a:pt x="9174626" y="44983"/>
                </a:cubicBezTo>
                <a:close/>
                <a:moveTo>
                  <a:pt x="8474998" y="0"/>
                </a:moveTo>
                <a:lnTo>
                  <a:pt x="8573502" y="0"/>
                </a:lnTo>
                <a:lnTo>
                  <a:pt x="8659539" y="117664"/>
                </a:lnTo>
                <a:cubicBezTo>
                  <a:pt x="8833725" y="341427"/>
                  <a:pt x="9029703" y="551148"/>
                  <a:pt x="9248507" y="743734"/>
                </a:cubicBezTo>
                <a:cubicBezTo>
                  <a:pt x="9268744" y="761313"/>
                  <a:pt x="9289217" y="778348"/>
                  <a:pt x="9309457" y="795932"/>
                </a:cubicBezTo>
                <a:cubicBezTo>
                  <a:pt x="9458210" y="686371"/>
                  <a:pt x="9607233" y="585288"/>
                  <a:pt x="9785496" y="530713"/>
                </a:cubicBezTo>
                <a:cubicBezTo>
                  <a:pt x="10009630" y="462073"/>
                  <a:pt x="10250992" y="434854"/>
                  <a:pt x="10482828" y="399738"/>
                </a:cubicBezTo>
                <a:cubicBezTo>
                  <a:pt x="10519933" y="394202"/>
                  <a:pt x="10478550" y="453937"/>
                  <a:pt x="10468382" y="461219"/>
                </a:cubicBezTo>
                <a:cubicBezTo>
                  <a:pt x="10161572" y="688641"/>
                  <a:pt x="9818370" y="924476"/>
                  <a:pt x="9430790" y="895589"/>
                </a:cubicBezTo>
                <a:cubicBezTo>
                  <a:pt x="9617112" y="1044003"/>
                  <a:pt x="9813963" y="1178199"/>
                  <a:pt x="10019780" y="1298815"/>
                </a:cubicBezTo>
                <a:cubicBezTo>
                  <a:pt x="10142151" y="1263712"/>
                  <a:pt x="10256792" y="1186061"/>
                  <a:pt x="10372218" y="1146081"/>
                </a:cubicBezTo>
                <a:cubicBezTo>
                  <a:pt x="10279439" y="901425"/>
                  <a:pt x="10751513" y="443317"/>
                  <a:pt x="10896429" y="310883"/>
                </a:cubicBezTo>
                <a:cubicBezTo>
                  <a:pt x="10907980" y="300321"/>
                  <a:pt x="10927341" y="295643"/>
                  <a:pt x="10919735" y="318176"/>
                </a:cubicBezTo>
                <a:cubicBezTo>
                  <a:pt x="10845552" y="531416"/>
                  <a:pt x="10769057" y="750112"/>
                  <a:pt x="10637064" y="935661"/>
                </a:cubicBezTo>
                <a:cubicBezTo>
                  <a:pt x="10618262" y="961821"/>
                  <a:pt x="10471373" y="1105010"/>
                  <a:pt x="10516995" y="1070245"/>
                </a:cubicBezTo>
                <a:cubicBezTo>
                  <a:pt x="10630585" y="984423"/>
                  <a:pt x="10740230" y="886628"/>
                  <a:pt x="10868835" y="815534"/>
                </a:cubicBezTo>
                <a:cubicBezTo>
                  <a:pt x="11133493" y="669415"/>
                  <a:pt x="11435682" y="612577"/>
                  <a:pt x="11704547" y="465665"/>
                </a:cubicBezTo>
                <a:cubicBezTo>
                  <a:pt x="11748194" y="441649"/>
                  <a:pt x="11962368" y="287033"/>
                  <a:pt x="12033562" y="350012"/>
                </a:cubicBezTo>
                <a:cubicBezTo>
                  <a:pt x="12042008" y="357446"/>
                  <a:pt x="12029170" y="377121"/>
                  <a:pt x="12025537" y="382666"/>
                </a:cubicBezTo>
                <a:cubicBezTo>
                  <a:pt x="11835636" y="694348"/>
                  <a:pt x="11402055" y="895784"/>
                  <a:pt x="11088649" y="1056676"/>
                </a:cubicBezTo>
                <a:cubicBezTo>
                  <a:pt x="10916755" y="1144851"/>
                  <a:pt x="10757473" y="1230645"/>
                  <a:pt x="10561600" y="1229477"/>
                </a:cubicBezTo>
                <a:cubicBezTo>
                  <a:pt x="10456897" y="1228927"/>
                  <a:pt x="10388434" y="1221837"/>
                  <a:pt x="10280797" y="1263181"/>
                </a:cubicBezTo>
                <a:cubicBezTo>
                  <a:pt x="10214114" y="1288380"/>
                  <a:pt x="10149765" y="1312641"/>
                  <a:pt x="10083376" y="1334114"/>
                </a:cubicBezTo>
                <a:cubicBezTo>
                  <a:pt x="10323674" y="1470609"/>
                  <a:pt x="10574467" y="1588379"/>
                  <a:pt x="10832582" y="1687356"/>
                </a:cubicBezTo>
                <a:cubicBezTo>
                  <a:pt x="10835145" y="1685866"/>
                  <a:pt x="10837160" y="1684144"/>
                  <a:pt x="10839263" y="1683743"/>
                </a:cubicBezTo>
                <a:cubicBezTo>
                  <a:pt x="11026680" y="1639479"/>
                  <a:pt x="11198523" y="1559010"/>
                  <a:pt x="11350910" y="1443899"/>
                </a:cubicBezTo>
                <a:cubicBezTo>
                  <a:pt x="11353302" y="1439761"/>
                  <a:pt x="11356166" y="1434532"/>
                  <a:pt x="11360346" y="1429225"/>
                </a:cubicBezTo>
                <a:cubicBezTo>
                  <a:pt x="11568454" y="1154547"/>
                  <a:pt x="11893126" y="995756"/>
                  <a:pt x="12167580" y="789523"/>
                </a:cubicBezTo>
                <a:lnTo>
                  <a:pt x="12192000" y="769876"/>
                </a:lnTo>
                <a:lnTo>
                  <a:pt x="12192000" y="802845"/>
                </a:lnTo>
                <a:lnTo>
                  <a:pt x="12173558" y="821317"/>
                </a:lnTo>
                <a:cubicBezTo>
                  <a:pt x="12156328" y="839775"/>
                  <a:pt x="12135859" y="862655"/>
                  <a:pt x="12117398" y="877374"/>
                </a:cubicBezTo>
                <a:cubicBezTo>
                  <a:pt x="11911342" y="1038644"/>
                  <a:pt x="11659100" y="1158472"/>
                  <a:pt x="11472926" y="1344259"/>
                </a:cubicBezTo>
                <a:cubicBezTo>
                  <a:pt x="11530856" y="1294104"/>
                  <a:pt x="11599815" y="1254410"/>
                  <a:pt x="11666978" y="1215889"/>
                </a:cubicBezTo>
                <a:cubicBezTo>
                  <a:pt x="11680568" y="1208123"/>
                  <a:pt x="11694155" y="1200357"/>
                  <a:pt x="11707200" y="1192361"/>
                </a:cubicBezTo>
                <a:cubicBezTo>
                  <a:pt x="11867081" y="1099094"/>
                  <a:pt x="12010478" y="976320"/>
                  <a:pt x="12144637" y="858646"/>
                </a:cubicBezTo>
                <a:lnTo>
                  <a:pt x="12192000" y="810414"/>
                </a:lnTo>
                <a:lnTo>
                  <a:pt x="12192000" y="916439"/>
                </a:lnTo>
                <a:lnTo>
                  <a:pt x="12150630" y="982925"/>
                </a:lnTo>
                <a:cubicBezTo>
                  <a:pt x="11972246" y="1237618"/>
                  <a:pt x="11719654" y="1416530"/>
                  <a:pt x="11389484" y="1469889"/>
                </a:cubicBezTo>
                <a:cubicBezTo>
                  <a:pt x="11249700" y="1582602"/>
                  <a:pt x="11093517" y="1667134"/>
                  <a:pt x="10923736" y="1721439"/>
                </a:cubicBezTo>
                <a:cubicBezTo>
                  <a:pt x="10979487" y="1741826"/>
                  <a:pt x="11035469" y="1761662"/>
                  <a:pt x="11091913" y="1780406"/>
                </a:cubicBezTo>
                <a:cubicBezTo>
                  <a:pt x="11318237" y="1855623"/>
                  <a:pt x="11544464" y="1908264"/>
                  <a:pt x="11771238" y="1944400"/>
                </a:cubicBezTo>
                <a:cubicBezTo>
                  <a:pt x="11775181" y="1939634"/>
                  <a:pt x="11778904" y="1935410"/>
                  <a:pt x="11783166" y="1931422"/>
                </a:cubicBezTo>
                <a:cubicBezTo>
                  <a:pt x="11885723" y="1797152"/>
                  <a:pt x="11990570" y="1669642"/>
                  <a:pt x="12131988" y="1574357"/>
                </a:cubicBezTo>
                <a:lnTo>
                  <a:pt x="12192000" y="1537429"/>
                </a:lnTo>
                <a:lnTo>
                  <a:pt x="12192000" y="1589108"/>
                </a:lnTo>
                <a:lnTo>
                  <a:pt x="12112105" y="1640352"/>
                </a:lnTo>
                <a:cubicBezTo>
                  <a:pt x="12011319" y="1713959"/>
                  <a:pt x="11928638" y="1801479"/>
                  <a:pt x="11849203" y="1900149"/>
                </a:cubicBezTo>
                <a:cubicBezTo>
                  <a:pt x="11883038" y="1876488"/>
                  <a:pt x="11915071" y="1849494"/>
                  <a:pt x="11946326" y="1822808"/>
                </a:cubicBezTo>
                <a:cubicBezTo>
                  <a:pt x="11980834" y="1792997"/>
                  <a:pt x="12017130" y="1762011"/>
                  <a:pt x="12055863" y="1735914"/>
                </a:cubicBezTo>
                <a:cubicBezTo>
                  <a:pt x="12086678" y="1714840"/>
                  <a:pt x="12119524" y="1696556"/>
                  <a:pt x="12150816" y="1678902"/>
                </a:cubicBezTo>
                <a:lnTo>
                  <a:pt x="12192000" y="1655121"/>
                </a:lnTo>
                <a:lnTo>
                  <a:pt x="12192000" y="1686869"/>
                </a:lnTo>
                <a:lnTo>
                  <a:pt x="12163772" y="1703058"/>
                </a:lnTo>
                <a:cubicBezTo>
                  <a:pt x="12132704" y="1720165"/>
                  <a:pt x="12100405" y="1738677"/>
                  <a:pt x="12070597" y="1758893"/>
                </a:cubicBezTo>
                <a:cubicBezTo>
                  <a:pt x="12033422" y="1784357"/>
                  <a:pt x="11997904" y="1815035"/>
                  <a:pt x="11963621" y="1844299"/>
                </a:cubicBezTo>
                <a:cubicBezTo>
                  <a:pt x="11938421" y="1865816"/>
                  <a:pt x="11913214" y="1887338"/>
                  <a:pt x="11886604" y="1907617"/>
                </a:cubicBezTo>
                <a:cubicBezTo>
                  <a:pt x="11977116" y="1884856"/>
                  <a:pt x="12067233" y="1841647"/>
                  <a:pt x="12153575" y="1786372"/>
                </a:cubicBezTo>
                <a:lnTo>
                  <a:pt x="12192000" y="1759693"/>
                </a:lnTo>
                <a:lnTo>
                  <a:pt x="12192000" y="1809459"/>
                </a:lnTo>
                <a:lnTo>
                  <a:pt x="12121362" y="1857561"/>
                </a:lnTo>
                <a:cubicBezTo>
                  <a:pt x="12048187" y="1902591"/>
                  <a:pt x="11972544" y="1939172"/>
                  <a:pt x="11895949" y="1963079"/>
                </a:cubicBezTo>
                <a:lnTo>
                  <a:pt x="12192000" y="1990579"/>
                </a:lnTo>
                <a:lnTo>
                  <a:pt x="12192000" y="2065582"/>
                </a:lnTo>
                <a:lnTo>
                  <a:pt x="12153918" y="2063926"/>
                </a:lnTo>
                <a:lnTo>
                  <a:pt x="12192000" y="2085104"/>
                </a:lnTo>
                <a:lnTo>
                  <a:pt x="12192000" y="2178471"/>
                </a:lnTo>
                <a:lnTo>
                  <a:pt x="12085355" y="2122457"/>
                </a:lnTo>
                <a:lnTo>
                  <a:pt x="12192000" y="2196158"/>
                </a:lnTo>
                <a:lnTo>
                  <a:pt x="12192000" y="2230374"/>
                </a:lnTo>
                <a:lnTo>
                  <a:pt x="12041237" y="2126309"/>
                </a:lnTo>
                <a:cubicBezTo>
                  <a:pt x="12076493" y="2177612"/>
                  <a:pt x="12124001" y="2222030"/>
                  <a:pt x="12174450" y="2262541"/>
                </a:cubicBezTo>
                <a:lnTo>
                  <a:pt x="12192000" y="2275857"/>
                </a:lnTo>
                <a:lnTo>
                  <a:pt x="12192000" y="2377131"/>
                </a:lnTo>
                <a:lnTo>
                  <a:pt x="12155801" y="2349925"/>
                </a:lnTo>
                <a:cubicBezTo>
                  <a:pt x="12047062" y="2264619"/>
                  <a:pt x="11950704" y="2181979"/>
                  <a:pt x="11930164" y="2041945"/>
                </a:cubicBezTo>
                <a:cubicBezTo>
                  <a:pt x="11807338" y="2027929"/>
                  <a:pt x="11684723" y="2008847"/>
                  <a:pt x="11561767" y="1984479"/>
                </a:cubicBezTo>
                <a:cubicBezTo>
                  <a:pt x="11829168" y="2318516"/>
                  <a:pt x="11916257" y="2737804"/>
                  <a:pt x="11987997" y="3153822"/>
                </a:cubicBezTo>
                <a:cubicBezTo>
                  <a:pt x="11991834" y="3176690"/>
                  <a:pt x="11945766" y="3233800"/>
                  <a:pt x="11926558" y="3203134"/>
                </a:cubicBezTo>
                <a:cubicBezTo>
                  <a:pt x="11688637" y="2826855"/>
                  <a:pt x="11343207" y="2452063"/>
                  <a:pt x="11440430" y="1973028"/>
                </a:cubicBezTo>
                <a:cubicBezTo>
                  <a:pt x="11441503" y="1968973"/>
                  <a:pt x="11443583" y="1964061"/>
                  <a:pt x="11446754" y="1959605"/>
                </a:cubicBezTo>
                <a:cubicBezTo>
                  <a:pt x="11314670" y="1929437"/>
                  <a:pt x="11182797" y="1894208"/>
                  <a:pt x="11050651" y="1850495"/>
                </a:cubicBezTo>
                <a:cubicBezTo>
                  <a:pt x="10825423" y="1775743"/>
                  <a:pt x="10604642" y="1687421"/>
                  <a:pt x="10389960" y="1586232"/>
                </a:cubicBezTo>
                <a:cubicBezTo>
                  <a:pt x="10423849" y="1697796"/>
                  <a:pt x="10481699" y="1805979"/>
                  <a:pt x="10500699" y="1913175"/>
                </a:cubicBezTo>
                <a:cubicBezTo>
                  <a:pt x="10502971" y="1915419"/>
                  <a:pt x="10505550" y="1918445"/>
                  <a:pt x="10507814" y="1920694"/>
                </a:cubicBezTo>
                <a:cubicBezTo>
                  <a:pt x="10511536" y="1916469"/>
                  <a:pt x="10515800" y="1912482"/>
                  <a:pt x="10518908" y="1911226"/>
                </a:cubicBezTo>
                <a:cubicBezTo>
                  <a:pt x="10803133" y="1788841"/>
                  <a:pt x="11118572" y="2264893"/>
                  <a:pt x="11258935" y="2442781"/>
                </a:cubicBezTo>
                <a:cubicBezTo>
                  <a:pt x="11271929" y="2459223"/>
                  <a:pt x="11230610" y="2515770"/>
                  <a:pt x="11211663" y="2510325"/>
                </a:cubicBezTo>
                <a:cubicBezTo>
                  <a:pt x="10952813" y="2437432"/>
                  <a:pt x="10754880" y="2286035"/>
                  <a:pt x="10571295" y="2105302"/>
                </a:cubicBezTo>
                <a:cubicBezTo>
                  <a:pt x="10593939" y="2333141"/>
                  <a:pt x="10477445" y="2625036"/>
                  <a:pt x="10435737" y="2805672"/>
                </a:cubicBezTo>
                <a:cubicBezTo>
                  <a:pt x="10398299" y="2965580"/>
                  <a:pt x="10359478" y="3078554"/>
                  <a:pt x="10206831" y="3151701"/>
                </a:cubicBezTo>
                <a:cubicBezTo>
                  <a:pt x="10193935" y="3157832"/>
                  <a:pt x="10194572" y="3142650"/>
                  <a:pt x="10196482" y="3135084"/>
                </a:cubicBezTo>
                <a:cubicBezTo>
                  <a:pt x="10274073" y="2811909"/>
                  <a:pt x="10304290" y="2478979"/>
                  <a:pt x="10381882" y="2155807"/>
                </a:cubicBezTo>
                <a:cubicBezTo>
                  <a:pt x="10395105" y="2100241"/>
                  <a:pt x="10437104" y="2020803"/>
                  <a:pt x="10439260" y="1962486"/>
                </a:cubicBezTo>
                <a:cubicBezTo>
                  <a:pt x="10439491" y="1961942"/>
                  <a:pt x="10439175" y="1961166"/>
                  <a:pt x="10439409" y="1960615"/>
                </a:cubicBezTo>
                <a:cubicBezTo>
                  <a:pt x="10439475" y="1957427"/>
                  <a:pt x="10440085" y="1954468"/>
                  <a:pt x="10439915" y="1951821"/>
                </a:cubicBezTo>
                <a:cubicBezTo>
                  <a:pt x="10433959" y="1836632"/>
                  <a:pt x="10332627" y="1683636"/>
                  <a:pt x="10314241" y="1556749"/>
                </a:cubicBezTo>
                <a:cubicBezTo>
                  <a:pt x="10313847" y="1554649"/>
                  <a:pt x="10314451" y="1551688"/>
                  <a:pt x="10315061" y="1548729"/>
                </a:cubicBezTo>
                <a:cubicBezTo>
                  <a:pt x="10038413" y="1412938"/>
                  <a:pt x="9774128" y="1254043"/>
                  <a:pt x="9526158" y="1071804"/>
                </a:cubicBezTo>
                <a:cubicBezTo>
                  <a:pt x="9586547" y="1245450"/>
                  <a:pt x="9699054" y="1407035"/>
                  <a:pt x="9758689" y="1585512"/>
                </a:cubicBezTo>
                <a:cubicBezTo>
                  <a:pt x="9851296" y="1860991"/>
                  <a:pt x="9909066" y="2144264"/>
                  <a:pt x="9941392" y="2432858"/>
                </a:cubicBezTo>
                <a:cubicBezTo>
                  <a:pt x="9942776" y="2446319"/>
                  <a:pt x="9898852" y="2512059"/>
                  <a:pt x="9887724" y="2495762"/>
                </a:cubicBezTo>
                <a:cubicBezTo>
                  <a:pt x="9758830" y="2305989"/>
                  <a:pt x="9675953" y="2083557"/>
                  <a:pt x="9587446" y="1872898"/>
                </a:cubicBezTo>
                <a:cubicBezTo>
                  <a:pt x="9504836" y="1675682"/>
                  <a:pt x="9450239" y="1492905"/>
                  <a:pt x="9462810" y="1288346"/>
                </a:cubicBezTo>
                <a:cubicBezTo>
                  <a:pt x="9416080" y="1372857"/>
                  <a:pt x="9368030" y="1457457"/>
                  <a:pt x="9318575" y="1540820"/>
                </a:cubicBezTo>
                <a:cubicBezTo>
                  <a:pt x="9284037" y="1599587"/>
                  <a:pt x="9257140" y="1661598"/>
                  <a:pt x="9191090" y="1688355"/>
                </a:cubicBezTo>
                <a:cubicBezTo>
                  <a:pt x="9186426" y="1690241"/>
                  <a:pt x="9179411" y="1688563"/>
                  <a:pt x="9177757" y="1683354"/>
                </a:cubicBezTo>
                <a:cubicBezTo>
                  <a:pt x="9143528" y="1583238"/>
                  <a:pt x="9220115" y="1420588"/>
                  <a:pt x="9274865" y="1336896"/>
                </a:cubicBezTo>
                <a:cubicBezTo>
                  <a:pt x="9324504" y="1260695"/>
                  <a:pt x="9393212" y="1200294"/>
                  <a:pt x="9478649" y="1173376"/>
                </a:cubicBezTo>
                <a:cubicBezTo>
                  <a:pt x="9479343" y="1171736"/>
                  <a:pt x="9480811" y="1169782"/>
                  <a:pt x="9482281" y="1167830"/>
                </a:cubicBezTo>
                <a:cubicBezTo>
                  <a:pt x="9463542" y="1119335"/>
                  <a:pt x="9448141" y="1069035"/>
                  <a:pt x="9438637" y="1015438"/>
                </a:cubicBezTo>
                <a:cubicBezTo>
                  <a:pt x="9438473" y="1012795"/>
                  <a:pt x="9438847" y="1010377"/>
                  <a:pt x="9439458" y="1007420"/>
                </a:cubicBezTo>
                <a:cubicBezTo>
                  <a:pt x="9356819" y="944106"/>
                  <a:pt x="9275563" y="877509"/>
                  <a:pt x="9197105" y="808882"/>
                </a:cubicBezTo>
                <a:cubicBezTo>
                  <a:pt x="9119732" y="740719"/>
                  <a:pt x="9045390" y="669969"/>
                  <a:pt x="8973607" y="597733"/>
                </a:cubicBezTo>
                <a:cubicBezTo>
                  <a:pt x="9117865" y="988437"/>
                  <a:pt x="9115639" y="1402749"/>
                  <a:pt x="8967512" y="1795211"/>
                </a:cubicBezTo>
                <a:cubicBezTo>
                  <a:pt x="8964595" y="1803635"/>
                  <a:pt x="8922055" y="1866099"/>
                  <a:pt x="8912526" y="1841464"/>
                </a:cubicBezTo>
                <a:cubicBezTo>
                  <a:pt x="8756044" y="1433999"/>
                  <a:pt x="8647107" y="967467"/>
                  <a:pt x="8893391" y="572788"/>
                </a:cubicBezTo>
                <a:cubicBezTo>
                  <a:pt x="8896018" y="568101"/>
                  <a:pt x="8899507" y="564428"/>
                  <a:pt x="8902990" y="560750"/>
                </a:cubicBezTo>
                <a:cubicBezTo>
                  <a:pt x="8907633" y="554349"/>
                  <a:pt x="8913596" y="547863"/>
                  <a:pt x="8919102" y="542471"/>
                </a:cubicBezTo>
                <a:cubicBezTo>
                  <a:pt x="8828814" y="448553"/>
                  <a:pt x="8743025" y="351231"/>
                  <a:pt x="8661728" y="250903"/>
                </a:cubicBezTo>
                <a:close/>
                <a:moveTo>
                  <a:pt x="8357758" y="0"/>
                </a:moveTo>
                <a:lnTo>
                  <a:pt x="8405492" y="0"/>
                </a:lnTo>
                <a:lnTo>
                  <a:pt x="8392083" y="30495"/>
                </a:lnTo>
                <a:cubicBezTo>
                  <a:pt x="8354166" y="121698"/>
                  <a:pt x="8324318" y="217584"/>
                  <a:pt x="8339888" y="306259"/>
                </a:cubicBezTo>
                <a:cubicBezTo>
                  <a:pt x="8364400" y="446040"/>
                  <a:pt x="8455049" y="577127"/>
                  <a:pt x="8473847" y="727373"/>
                </a:cubicBezTo>
                <a:cubicBezTo>
                  <a:pt x="8510300" y="1013846"/>
                  <a:pt x="8488635" y="1326579"/>
                  <a:pt x="8454081" y="1611960"/>
                </a:cubicBezTo>
                <a:cubicBezTo>
                  <a:pt x="8452268" y="1625361"/>
                  <a:pt x="8409518" y="1692886"/>
                  <a:pt x="8396000" y="1663986"/>
                </a:cubicBezTo>
                <a:cubicBezTo>
                  <a:pt x="8190763" y="1233305"/>
                  <a:pt x="8063839" y="818387"/>
                  <a:pt x="8238881" y="368438"/>
                </a:cubicBezTo>
                <a:lnTo>
                  <a:pt x="7668140" y="942511"/>
                </a:lnTo>
                <a:cubicBezTo>
                  <a:pt x="7658137" y="952438"/>
                  <a:pt x="7629107" y="972341"/>
                  <a:pt x="7637853" y="942567"/>
                </a:cubicBezTo>
                <a:cubicBezTo>
                  <a:pt x="7690270" y="771614"/>
                  <a:pt x="7793861" y="624255"/>
                  <a:pt x="7909649" y="489150"/>
                </a:cubicBezTo>
                <a:cubicBezTo>
                  <a:pt x="8010566" y="370919"/>
                  <a:pt x="8112174" y="322520"/>
                  <a:pt x="8256182" y="301724"/>
                </a:cubicBezTo>
                <a:cubicBezTo>
                  <a:pt x="8255907" y="293239"/>
                  <a:pt x="8255408" y="285302"/>
                  <a:pt x="8255912" y="276498"/>
                </a:cubicBezTo>
                <a:cubicBezTo>
                  <a:pt x="8260651" y="221208"/>
                  <a:pt x="8285427" y="155085"/>
                  <a:pt x="8315225" y="89075"/>
                </a:cubicBezTo>
                <a:close/>
                <a:moveTo>
                  <a:pt x="7497388" y="0"/>
                </a:moveTo>
                <a:lnTo>
                  <a:pt x="7560921" y="0"/>
                </a:lnTo>
                <a:lnTo>
                  <a:pt x="7546742" y="68966"/>
                </a:lnTo>
                <a:cubicBezTo>
                  <a:pt x="7513334" y="225436"/>
                  <a:pt x="7494394" y="379659"/>
                  <a:pt x="7488853" y="535687"/>
                </a:cubicBezTo>
                <a:lnTo>
                  <a:pt x="7529509" y="380358"/>
                </a:lnTo>
                <a:cubicBezTo>
                  <a:pt x="7546426" y="316055"/>
                  <a:pt x="7563725" y="249346"/>
                  <a:pt x="7585939" y="184712"/>
                </a:cubicBezTo>
                <a:cubicBezTo>
                  <a:pt x="7597162" y="152119"/>
                  <a:pt x="7609478" y="119997"/>
                  <a:pt x="7621792" y="87864"/>
                </a:cubicBezTo>
                <a:lnTo>
                  <a:pt x="7654204" y="0"/>
                </a:lnTo>
                <a:lnTo>
                  <a:pt x="7683986" y="0"/>
                </a:lnTo>
                <a:lnTo>
                  <a:pt x="7647914" y="97640"/>
                </a:lnTo>
                <a:cubicBezTo>
                  <a:pt x="7635833" y="129221"/>
                  <a:pt x="7623516" y="161350"/>
                  <a:pt x="7612524" y="193392"/>
                </a:cubicBezTo>
                <a:cubicBezTo>
                  <a:pt x="7590775" y="256933"/>
                  <a:pt x="7573702" y="323103"/>
                  <a:pt x="7557013" y="386853"/>
                </a:cubicBezTo>
                <a:lnTo>
                  <a:pt x="7517286" y="539999"/>
                </a:lnTo>
                <a:cubicBezTo>
                  <a:pt x="7579804" y="409054"/>
                  <a:pt x="7648790" y="283748"/>
                  <a:pt x="7704204" y="152292"/>
                </a:cubicBezTo>
                <a:lnTo>
                  <a:pt x="7756975" y="0"/>
                </a:lnTo>
                <a:lnTo>
                  <a:pt x="7837329" y="0"/>
                </a:lnTo>
                <a:lnTo>
                  <a:pt x="7821760" y="65656"/>
                </a:lnTo>
                <a:cubicBezTo>
                  <a:pt x="7739780" y="311007"/>
                  <a:pt x="7576279" y="519263"/>
                  <a:pt x="7488925" y="763628"/>
                </a:cubicBezTo>
                <a:cubicBezTo>
                  <a:pt x="7478308" y="793254"/>
                  <a:pt x="7422482" y="826275"/>
                  <a:pt x="7419999" y="774360"/>
                </a:cubicBezTo>
                <a:cubicBezTo>
                  <a:pt x="7407159" y="524115"/>
                  <a:pt x="7434412" y="279259"/>
                  <a:pt x="7487820" y="37416"/>
                </a:cubicBezTo>
                <a:close/>
                <a:moveTo>
                  <a:pt x="3882765" y="0"/>
                </a:moveTo>
                <a:lnTo>
                  <a:pt x="3995099" y="0"/>
                </a:lnTo>
                <a:lnTo>
                  <a:pt x="4163818" y="234104"/>
                </a:lnTo>
                <a:cubicBezTo>
                  <a:pt x="4167056" y="234046"/>
                  <a:pt x="4169933" y="233486"/>
                  <a:pt x="4172099" y="234207"/>
                </a:cubicBezTo>
                <a:cubicBezTo>
                  <a:pt x="4370329" y="290447"/>
                  <a:pt x="4575890" y="304753"/>
                  <a:pt x="4784282" y="276561"/>
                </a:cubicBezTo>
                <a:cubicBezTo>
                  <a:pt x="4788943" y="273941"/>
                  <a:pt x="4794689" y="270546"/>
                  <a:pt x="4801687" y="267764"/>
                </a:cubicBezTo>
                <a:cubicBezTo>
                  <a:pt x="5207052" y="98325"/>
                  <a:pt x="5661672" y="149587"/>
                  <a:pt x="6082788" y="64119"/>
                </a:cubicBezTo>
                <a:cubicBezTo>
                  <a:pt x="6097705" y="60940"/>
                  <a:pt x="6122565" y="65809"/>
                  <a:pt x="6099442" y="82568"/>
                </a:cubicBezTo>
                <a:cubicBezTo>
                  <a:pt x="5702970" y="366122"/>
                  <a:pt x="5250177" y="483706"/>
                  <a:pt x="4804137" y="320931"/>
                </a:cubicBezTo>
                <a:cubicBezTo>
                  <a:pt x="4608728" y="353445"/>
                  <a:pt x="4415104" y="351091"/>
                  <a:pt x="4227047" y="313415"/>
                </a:cubicBezTo>
                <a:cubicBezTo>
                  <a:pt x="4265992" y="361495"/>
                  <a:pt x="4305481" y="409180"/>
                  <a:pt x="4346041" y="456086"/>
                </a:cubicBezTo>
                <a:cubicBezTo>
                  <a:pt x="4508645" y="644218"/>
                  <a:pt x="4684629" y="811207"/>
                  <a:pt x="4870967" y="963061"/>
                </a:cubicBezTo>
                <a:cubicBezTo>
                  <a:pt x="4877428" y="960662"/>
                  <a:pt x="4883360" y="958653"/>
                  <a:pt x="4889647" y="957147"/>
                </a:cubicBezTo>
                <a:cubicBezTo>
                  <a:pt x="5063790" y="885104"/>
                  <a:pt x="5235998" y="820573"/>
                  <a:pt x="5422504" y="805191"/>
                </a:cubicBezTo>
                <a:cubicBezTo>
                  <a:pt x="5643719" y="786779"/>
                  <a:pt x="5869113" y="808075"/>
                  <a:pt x="6087656" y="826703"/>
                </a:cubicBezTo>
                <a:cubicBezTo>
                  <a:pt x="6118977" y="829180"/>
                  <a:pt x="6064821" y="863092"/>
                  <a:pt x="6058717" y="865992"/>
                </a:cubicBezTo>
                <a:cubicBezTo>
                  <a:pt x="5757093" y="988464"/>
                  <a:pt x="5312094" y="1115658"/>
                  <a:pt x="4974153" y="1045456"/>
                </a:cubicBezTo>
                <a:cubicBezTo>
                  <a:pt x="5180499" y="1203411"/>
                  <a:pt x="5398986" y="1344171"/>
                  <a:pt x="5627835" y="1472077"/>
                </a:cubicBezTo>
                <a:cubicBezTo>
                  <a:pt x="5628372" y="1471688"/>
                  <a:pt x="5629279" y="1471800"/>
                  <a:pt x="5629817" y="1471412"/>
                </a:cubicBezTo>
                <a:cubicBezTo>
                  <a:pt x="5631249" y="1471132"/>
                  <a:pt x="5633225" y="1470462"/>
                  <a:pt x="5634124" y="1470572"/>
                </a:cubicBezTo>
                <a:cubicBezTo>
                  <a:pt x="5647257" y="1469448"/>
                  <a:pt x="5751167" y="1386498"/>
                  <a:pt x="5755832" y="1383886"/>
                </a:cubicBezTo>
                <a:cubicBezTo>
                  <a:pt x="5837996" y="1338827"/>
                  <a:pt x="5925989" y="1306339"/>
                  <a:pt x="6014186" y="1279799"/>
                </a:cubicBezTo>
                <a:cubicBezTo>
                  <a:pt x="6310230" y="1190367"/>
                  <a:pt x="6608567" y="1157268"/>
                  <a:pt x="6901619" y="1047874"/>
                </a:cubicBezTo>
                <a:cubicBezTo>
                  <a:pt x="6921553" y="1040293"/>
                  <a:pt x="6976591" y="1037028"/>
                  <a:pt x="6931566" y="1062034"/>
                </a:cubicBezTo>
                <a:cubicBezTo>
                  <a:pt x="6610108" y="1243134"/>
                  <a:pt x="6183662" y="1573592"/>
                  <a:pt x="5790982" y="1561380"/>
                </a:cubicBezTo>
                <a:cubicBezTo>
                  <a:pt x="5920545" y="1629240"/>
                  <a:pt x="6053507" y="1693876"/>
                  <a:pt x="6188971" y="1755168"/>
                </a:cubicBezTo>
                <a:cubicBezTo>
                  <a:pt x="6193458" y="1753446"/>
                  <a:pt x="6198307" y="1752214"/>
                  <a:pt x="6202446" y="1752268"/>
                </a:cubicBezTo>
                <a:cubicBezTo>
                  <a:pt x="6504288" y="1570118"/>
                  <a:pt x="6833930" y="1471594"/>
                  <a:pt x="7179560" y="1467551"/>
                </a:cubicBezTo>
                <a:cubicBezTo>
                  <a:pt x="7221126" y="1467186"/>
                  <a:pt x="7172003" y="1501258"/>
                  <a:pt x="7158730" y="1507835"/>
                </a:cubicBezTo>
                <a:cubicBezTo>
                  <a:pt x="6888412" y="1630502"/>
                  <a:pt x="6618589" y="1809287"/>
                  <a:pt x="6326959" y="1817686"/>
                </a:cubicBezTo>
                <a:cubicBezTo>
                  <a:pt x="6396578" y="1848113"/>
                  <a:pt x="6466739" y="1878148"/>
                  <a:pt x="6537433" y="1907790"/>
                </a:cubicBezTo>
                <a:cubicBezTo>
                  <a:pt x="6542473" y="1907949"/>
                  <a:pt x="6546435" y="1908891"/>
                  <a:pt x="6550221" y="1910729"/>
                </a:cubicBezTo>
                <a:cubicBezTo>
                  <a:pt x="6742694" y="1932993"/>
                  <a:pt x="6849771" y="2068278"/>
                  <a:pt x="6964438" y="2209505"/>
                </a:cubicBezTo>
                <a:cubicBezTo>
                  <a:pt x="7113162" y="2393201"/>
                  <a:pt x="7266286" y="2592015"/>
                  <a:pt x="7367862" y="2806833"/>
                </a:cubicBezTo>
                <a:cubicBezTo>
                  <a:pt x="7371456" y="2814338"/>
                  <a:pt x="7369522" y="2821080"/>
                  <a:pt x="7364329" y="2826907"/>
                </a:cubicBezTo>
                <a:cubicBezTo>
                  <a:pt x="7348741" y="2844389"/>
                  <a:pt x="7303788" y="2853651"/>
                  <a:pt x="7290545" y="2850663"/>
                </a:cubicBezTo>
                <a:cubicBezTo>
                  <a:pt x="6859896" y="2738539"/>
                  <a:pt x="6609607" y="2342306"/>
                  <a:pt x="6472036" y="1959003"/>
                </a:cubicBezTo>
                <a:cubicBezTo>
                  <a:pt x="6239391" y="1862081"/>
                  <a:pt x="6011946" y="1759868"/>
                  <a:pt x="5792897" y="1647747"/>
                </a:cubicBezTo>
                <a:cubicBezTo>
                  <a:pt x="5817125" y="1702679"/>
                  <a:pt x="5838127" y="1759942"/>
                  <a:pt x="5842751" y="1816112"/>
                </a:cubicBezTo>
                <a:cubicBezTo>
                  <a:pt x="5844184" y="1815832"/>
                  <a:pt x="5846161" y="1815162"/>
                  <a:pt x="5847424" y="1815776"/>
                </a:cubicBezTo>
                <a:cubicBezTo>
                  <a:pt x="6140442" y="1830791"/>
                  <a:pt x="6291873" y="2115536"/>
                  <a:pt x="6399821" y="2344799"/>
                </a:cubicBezTo>
                <a:cubicBezTo>
                  <a:pt x="6413837" y="2374329"/>
                  <a:pt x="6342916" y="2402075"/>
                  <a:pt x="6323232" y="2389634"/>
                </a:cubicBezTo>
                <a:cubicBezTo>
                  <a:pt x="6177906" y="2301146"/>
                  <a:pt x="6052833" y="2198747"/>
                  <a:pt x="5942958" y="2077708"/>
                </a:cubicBezTo>
                <a:cubicBezTo>
                  <a:pt x="5949243" y="2174636"/>
                  <a:pt x="5937179" y="2273417"/>
                  <a:pt x="5921559" y="2378596"/>
                </a:cubicBezTo>
                <a:cubicBezTo>
                  <a:pt x="5888539" y="2593290"/>
                  <a:pt x="5878937" y="2813146"/>
                  <a:pt x="5817651" y="3023919"/>
                </a:cubicBezTo>
                <a:cubicBezTo>
                  <a:pt x="5810408" y="3049005"/>
                  <a:pt x="5741174" y="3089270"/>
                  <a:pt x="5729634" y="3051849"/>
                </a:cubicBezTo>
                <a:cubicBezTo>
                  <a:pt x="5657096" y="2815984"/>
                  <a:pt x="5581632" y="2571559"/>
                  <a:pt x="5611018" y="2316769"/>
                </a:cubicBezTo>
                <a:cubicBezTo>
                  <a:pt x="5622715" y="2217484"/>
                  <a:pt x="5656813" y="2135538"/>
                  <a:pt x="5687608" y="2039972"/>
                </a:cubicBezTo>
                <a:cubicBezTo>
                  <a:pt x="5744741" y="1859679"/>
                  <a:pt x="5733310" y="1742061"/>
                  <a:pt x="5657554" y="1576445"/>
                </a:cubicBezTo>
                <a:cubicBezTo>
                  <a:pt x="5483232" y="1483028"/>
                  <a:pt x="5313009" y="1382833"/>
                  <a:pt x="5150475" y="1274012"/>
                </a:cubicBezTo>
                <a:cubicBezTo>
                  <a:pt x="5326569" y="1559959"/>
                  <a:pt x="5457991" y="1838600"/>
                  <a:pt x="5349142" y="2204405"/>
                </a:cubicBezTo>
                <a:cubicBezTo>
                  <a:pt x="5342604" y="2225928"/>
                  <a:pt x="5273881" y="2261245"/>
                  <a:pt x="5262214" y="2233836"/>
                </a:cubicBezTo>
                <a:cubicBezTo>
                  <a:pt x="5160759" y="2006724"/>
                  <a:pt x="5064863" y="1777114"/>
                  <a:pt x="4981539" y="1542201"/>
                </a:cubicBezTo>
                <a:cubicBezTo>
                  <a:pt x="4932755" y="1405876"/>
                  <a:pt x="4893729" y="1278486"/>
                  <a:pt x="4958461" y="1136957"/>
                </a:cubicBezTo>
                <a:cubicBezTo>
                  <a:pt x="4854219" y="1059900"/>
                  <a:pt x="4753195" y="978221"/>
                  <a:pt x="4655015" y="891426"/>
                </a:cubicBez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70" name="Rectangle 69">
            <a:extLst>
              <a:ext uri="{FF2B5EF4-FFF2-40B4-BE49-F238E27FC236}">
                <a16:creationId xmlns:a16="http://schemas.microsoft.com/office/drawing/2014/main" id="{ED888B23-07FA-482A-96DF-47E31AF1A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457201"/>
            <a:ext cx="11277600" cy="5943598"/>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974FA87E-2D7C-EC23-9FE7-631AB6B25FCB}"/>
              </a:ext>
            </a:extLst>
          </p:cNvPr>
          <p:cNvSpPr>
            <a:spLocks noGrp="1"/>
          </p:cNvSpPr>
          <p:nvPr>
            <p:ph type="title"/>
          </p:nvPr>
        </p:nvSpPr>
        <p:spPr>
          <a:xfrm>
            <a:off x="457198" y="457200"/>
            <a:ext cx="9906000" cy="685800"/>
          </a:xfrm>
        </p:spPr>
        <p:txBody>
          <a:bodyPr vert="horz" lIns="91440" tIns="45720" rIns="91440" bIns="45720" rtlCol="0" anchor="t">
            <a:normAutofit/>
          </a:bodyPr>
          <a:lstStyle/>
          <a:p>
            <a:pPr algn="ctr"/>
            <a:r>
              <a:rPr lang="en-US" sz="4000" kern="1200" dirty="0">
                <a:latin typeface="Times New Roman" panose="02020603050405020304" pitchFamily="18" charset="0"/>
                <a:cs typeface="Times New Roman" panose="02020603050405020304" pitchFamily="18" charset="0"/>
              </a:rPr>
              <a:t>CONTRIBUTION :</a:t>
            </a:r>
          </a:p>
        </p:txBody>
      </p:sp>
      <p:graphicFrame>
        <p:nvGraphicFramePr>
          <p:cNvPr id="4" name="Content Placeholder 3">
            <a:extLst>
              <a:ext uri="{FF2B5EF4-FFF2-40B4-BE49-F238E27FC236}">
                <a16:creationId xmlns:a16="http://schemas.microsoft.com/office/drawing/2014/main" id="{B8EFC7DA-9B39-9DA6-3FEE-89897131B3CE}"/>
              </a:ext>
            </a:extLst>
          </p:cNvPr>
          <p:cNvGraphicFramePr>
            <a:graphicFrameLocks noGrp="1"/>
          </p:cNvGraphicFramePr>
          <p:nvPr>
            <p:ph idx="1"/>
            <p:extLst>
              <p:ext uri="{D42A27DB-BD31-4B8C-83A1-F6EECF244321}">
                <p14:modId xmlns:p14="http://schemas.microsoft.com/office/powerpoint/2010/main" val="549447885"/>
              </p:ext>
            </p:extLst>
          </p:nvPr>
        </p:nvGraphicFramePr>
        <p:xfrm>
          <a:off x="457198" y="1143000"/>
          <a:ext cx="11277600" cy="5558191"/>
        </p:xfrm>
        <a:graphic>
          <a:graphicData uri="http://schemas.openxmlformats.org/drawingml/2006/table">
            <a:tbl>
              <a:tblPr>
                <a:solidFill>
                  <a:schemeClr val="bg1">
                    <a:lumMod val="95000"/>
                  </a:schemeClr>
                </a:solidFill>
              </a:tblPr>
              <a:tblGrid>
                <a:gridCol w="3662218">
                  <a:extLst>
                    <a:ext uri="{9D8B030D-6E8A-4147-A177-3AD203B41FA5}">
                      <a16:colId xmlns:a16="http://schemas.microsoft.com/office/drawing/2014/main" val="4074198327"/>
                    </a:ext>
                  </a:extLst>
                </a:gridCol>
                <a:gridCol w="3320914">
                  <a:extLst>
                    <a:ext uri="{9D8B030D-6E8A-4147-A177-3AD203B41FA5}">
                      <a16:colId xmlns:a16="http://schemas.microsoft.com/office/drawing/2014/main" val="1143051372"/>
                    </a:ext>
                  </a:extLst>
                </a:gridCol>
                <a:gridCol w="4294468">
                  <a:extLst>
                    <a:ext uri="{9D8B030D-6E8A-4147-A177-3AD203B41FA5}">
                      <a16:colId xmlns:a16="http://schemas.microsoft.com/office/drawing/2014/main" val="3135805305"/>
                    </a:ext>
                  </a:extLst>
                </a:gridCol>
              </a:tblGrid>
              <a:tr h="268251">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Section</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1200" b="1" cap="none" spc="0" dirty="0">
                          <a:solidFill>
                            <a:schemeClr val="tx1"/>
                          </a:solidFill>
                          <a:latin typeface="Times New Roman" panose="02020603050405020304" pitchFamily="18" charset="0"/>
                          <a:cs typeface="Times New Roman" panose="02020603050405020304" pitchFamily="18" charset="0"/>
                        </a:rPr>
                        <a:t>Responsible Member(s)</a:t>
                      </a:r>
                      <a:endParaRPr lang="en-IN" sz="1200" cap="none" spc="0" dirty="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buNone/>
                      </a:pPr>
                      <a:r>
                        <a:rPr lang="en-IN" sz="1200" b="1" cap="none" spc="0" dirty="0">
                          <a:solidFill>
                            <a:schemeClr val="tx1"/>
                          </a:solidFill>
                          <a:latin typeface="Times New Roman" panose="02020603050405020304" pitchFamily="18" charset="0"/>
                          <a:cs typeface="Times New Roman" panose="02020603050405020304" pitchFamily="18" charset="0"/>
                        </a:rPr>
                        <a:t>Key Tasks / Contributions</a:t>
                      </a:r>
                      <a:endParaRPr lang="en-IN" sz="1200" cap="none" spc="0" dirty="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778801725"/>
                  </a:ext>
                </a:extLst>
              </a:tr>
              <a:tr h="554394">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1. Introduction &amp; Objective</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Rithwik Raj Suram,  Sharath Kasula </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Defined the project scope, objectives, and significance.</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Explained the CKD problem statement, its global burden, and why prediction is important.</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Drafted introduction and overview content for the first slide.</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454033272"/>
                  </a:ext>
                </a:extLst>
              </a:tr>
              <a:tr h="554394">
                <a:tc>
                  <a:txBody>
                    <a:bodyPr/>
                    <a:lstStyle/>
                    <a:p>
                      <a:pPr>
                        <a:buNone/>
                      </a:pPr>
                      <a:r>
                        <a:rPr lang="en-US" sz="1050" b="1" cap="none" spc="0" dirty="0">
                          <a:solidFill>
                            <a:schemeClr val="tx1"/>
                          </a:solidFill>
                          <a:latin typeface="Times New Roman" panose="02020603050405020304" pitchFamily="18" charset="0"/>
                          <a:cs typeface="Times New Roman" panose="02020603050405020304" pitchFamily="18" charset="0"/>
                        </a:rPr>
                        <a:t>2. Data Collection &amp; Data Description</a:t>
                      </a:r>
                      <a:endParaRPr lang="en-US" sz="1050" cap="none" spc="0" dirty="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Vaishnavi Madhiraju, Sai Kiran Boddu, Varshini Guthi</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Identified dataset source (Kaggle CKD dataset).</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Summarized data type, attributes, and number of records.</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Explained dataset purpose and clinical relevance.</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406725343"/>
                  </a:ext>
                </a:extLst>
              </a:tr>
              <a:tr h="554394">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3. Data Cleaning &amp; Preprocessing</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b="1" cap="none" spc="0" dirty="0">
                          <a:solidFill>
                            <a:schemeClr val="tx1"/>
                          </a:solidFill>
                          <a:latin typeface="Times New Roman" panose="02020603050405020304" pitchFamily="18" charset="0"/>
                          <a:cs typeface="Times New Roman" panose="02020603050405020304" pitchFamily="18" charset="0"/>
                        </a:rPr>
                        <a:t>R</a:t>
                      </a:r>
                      <a:r>
                        <a:rPr lang="en-IN" sz="1050" b="1" cap="none" spc="0" dirty="0" err="1">
                          <a:solidFill>
                            <a:schemeClr val="tx1"/>
                          </a:solidFill>
                          <a:latin typeface="Times New Roman" panose="02020603050405020304" pitchFamily="18" charset="0"/>
                          <a:cs typeface="Times New Roman" panose="02020603050405020304" pitchFamily="18" charset="0"/>
                        </a:rPr>
                        <a:t>ithwik</a:t>
                      </a:r>
                      <a:r>
                        <a:rPr lang="en-IN" sz="1050" b="1" cap="none" spc="0" dirty="0">
                          <a:solidFill>
                            <a:schemeClr val="tx1"/>
                          </a:solidFill>
                          <a:latin typeface="Times New Roman" panose="02020603050405020304" pitchFamily="18" charset="0"/>
                          <a:cs typeface="Times New Roman" panose="02020603050405020304" pitchFamily="18" charset="0"/>
                        </a:rPr>
                        <a:t> Raj Suram,  Sharath Kasula</a:t>
                      </a:r>
                      <a:endParaRPr lang="en-IN" sz="1050" cap="none" spc="0" dirty="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Handled missing values and standardized categorical data.</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Applied preprocessing (numeric conversion, label consistency).</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Prepared dataset for analysis and model training.</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075450052"/>
                  </a:ext>
                </a:extLst>
              </a:tr>
              <a:tr h="554394">
                <a:tc>
                  <a:txBody>
                    <a:bodyPr/>
                    <a:lstStyle/>
                    <a:p>
                      <a:pPr>
                        <a:buNone/>
                      </a:pPr>
                      <a:r>
                        <a:rPr lang="en-US" sz="1050" b="1" cap="none" spc="0">
                          <a:solidFill>
                            <a:schemeClr val="tx1"/>
                          </a:solidFill>
                          <a:latin typeface="Times New Roman" panose="02020603050405020304" pitchFamily="18" charset="0"/>
                          <a:cs typeface="Times New Roman" panose="02020603050405020304" pitchFamily="18" charset="0"/>
                        </a:rPr>
                        <a:t>4. Exploratory Data Analysis (EDA) &amp; Visualization</a:t>
                      </a:r>
                      <a:endParaRPr lang="en-US"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Rithwik Raj Suram,  Sharath Kasula, Varshini Guthi,  Vaishnavi Madhiraju, Sai Kiran Boddu</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cap="none" spc="0">
                          <a:solidFill>
                            <a:schemeClr val="tx1"/>
                          </a:solidFill>
                          <a:latin typeface="Times New Roman" panose="02020603050405020304" pitchFamily="18" charset="0"/>
                          <a:cs typeface="Times New Roman" panose="02020603050405020304" pitchFamily="18" charset="0"/>
                        </a:rPr>
                        <a:t>- Performed visual exploration (pie charts, boxplots, scatter plots).</a:t>
                      </a:r>
                      <a:br>
                        <a:rPr lang="en-IN" sz="1050" cap="none" spc="0">
                          <a:solidFill>
                            <a:schemeClr val="tx1"/>
                          </a:solidFill>
                          <a:latin typeface="Times New Roman" panose="02020603050405020304" pitchFamily="18" charset="0"/>
                          <a:cs typeface="Times New Roman" panose="02020603050405020304" pitchFamily="18" charset="0"/>
                        </a:rPr>
                      </a:br>
                      <a:r>
                        <a:rPr lang="en-IN" sz="1050" cap="none" spc="0">
                          <a:solidFill>
                            <a:schemeClr val="tx1"/>
                          </a:solidFill>
                          <a:latin typeface="Times New Roman" panose="02020603050405020304" pitchFamily="18" charset="0"/>
                          <a:cs typeface="Times New Roman" panose="02020603050405020304" pitchFamily="18" charset="0"/>
                        </a:rPr>
                        <a:t>- Identified trends in blood pressure, serum creatinine, and diabetes.</a:t>
                      </a:r>
                      <a:br>
                        <a:rPr lang="en-IN" sz="1050" cap="none" spc="0">
                          <a:solidFill>
                            <a:schemeClr val="tx1"/>
                          </a:solidFill>
                          <a:latin typeface="Times New Roman" panose="02020603050405020304" pitchFamily="18" charset="0"/>
                          <a:cs typeface="Times New Roman" panose="02020603050405020304" pitchFamily="18" charset="0"/>
                        </a:rPr>
                      </a:br>
                      <a:r>
                        <a:rPr lang="en-IN" sz="1050" cap="none" spc="0">
                          <a:solidFill>
                            <a:schemeClr val="tx1"/>
                          </a:solidFill>
                          <a:latin typeface="Times New Roman" panose="02020603050405020304" pitchFamily="18" charset="0"/>
                          <a:cs typeface="Times New Roman" panose="02020603050405020304" pitchFamily="18" charset="0"/>
                        </a:rPr>
                        <a:t>- Interpreted clinical patterns in data visualization slides.</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348895316"/>
                  </a:ext>
                </a:extLst>
              </a:tr>
              <a:tr h="554394">
                <a:tc>
                  <a:txBody>
                    <a:bodyPr/>
                    <a:lstStyle/>
                    <a:p>
                      <a:pPr>
                        <a:buNone/>
                      </a:pPr>
                      <a:r>
                        <a:rPr lang="en-US" sz="1050" b="1" cap="none" spc="0">
                          <a:solidFill>
                            <a:schemeClr val="tx1"/>
                          </a:solidFill>
                          <a:latin typeface="Times New Roman" panose="02020603050405020304" pitchFamily="18" charset="0"/>
                          <a:cs typeface="Times New Roman" panose="02020603050405020304" pitchFamily="18" charset="0"/>
                        </a:rPr>
                        <a:t>5. Model Development (KNN, Naïve Bayes, SVM, Logistic Regression)</a:t>
                      </a:r>
                      <a:endParaRPr lang="en-US"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Vaishnavi Madhiraju, Sai Kiran Boddu, Varshini Guthi</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Implemented and compared multiple machine learning models.</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Analyzed accuracy for KNN, Naïve Bayes, and SVM kernels.</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Created accuracy graphs and summarized performance results.</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254713901"/>
                  </a:ext>
                </a:extLst>
              </a:tr>
              <a:tr h="554394">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6. Random Forest Analysis (Step 6)</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Rithwik Raj Suram</a:t>
                      </a:r>
                      <a:r>
                        <a:rPr lang="en-IN" sz="1050" cap="none" spc="0">
                          <a:solidFill>
                            <a:schemeClr val="tx1"/>
                          </a:solidFill>
                          <a:latin typeface="Times New Roman" panose="02020603050405020304" pitchFamily="18" charset="0"/>
                          <a:cs typeface="Times New Roman" panose="02020603050405020304" pitchFamily="18" charset="0"/>
                        </a:rPr>
                        <a:t> , </a:t>
                      </a:r>
                      <a:r>
                        <a:rPr lang="en-IN" sz="1050" b="1" cap="none" spc="0">
                          <a:solidFill>
                            <a:schemeClr val="tx1"/>
                          </a:solidFill>
                          <a:latin typeface="Times New Roman" panose="02020603050405020304" pitchFamily="18" charset="0"/>
                          <a:cs typeface="Times New Roman" panose="02020603050405020304" pitchFamily="18" charset="0"/>
                        </a:rPr>
                        <a:t>Sharath Kasula</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a:solidFill>
                            <a:schemeClr val="tx1"/>
                          </a:solidFill>
                          <a:latin typeface="Times New Roman" panose="02020603050405020304" pitchFamily="18" charset="0"/>
                          <a:cs typeface="Times New Roman" panose="02020603050405020304" pitchFamily="18" charset="0"/>
                        </a:rPr>
                        <a:t>- Trained Random Forest classifier with bp, sc, and age features.</a:t>
                      </a:r>
                      <a:br>
                        <a:rPr lang="en-US" sz="1050" cap="none" spc="0">
                          <a:solidFill>
                            <a:schemeClr val="tx1"/>
                          </a:solidFill>
                          <a:latin typeface="Times New Roman" panose="02020603050405020304" pitchFamily="18" charset="0"/>
                          <a:cs typeface="Times New Roman" panose="02020603050405020304" pitchFamily="18" charset="0"/>
                        </a:rPr>
                      </a:br>
                      <a:r>
                        <a:rPr lang="en-US" sz="1050" cap="none" spc="0">
                          <a:solidFill>
                            <a:schemeClr val="tx1"/>
                          </a:solidFill>
                          <a:latin typeface="Times New Roman" panose="02020603050405020304" pitchFamily="18" charset="0"/>
                          <a:cs typeface="Times New Roman" panose="02020603050405020304" pitchFamily="18" charset="0"/>
                        </a:rPr>
                        <a:t>- Evaluated performance (accuracy = 96.2%).</a:t>
                      </a:r>
                      <a:br>
                        <a:rPr lang="en-US" sz="1050" cap="none" spc="0">
                          <a:solidFill>
                            <a:schemeClr val="tx1"/>
                          </a:solidFill>
                          <a:latin typeface="Times New Roman" panose="02020603050405020304" pitchFamily="18" charset="0"/>
                          <a:cs typeface="Times New Roman" panose="02020603050405020304" pitchFamily="18" charset="0"/>
                        </a:rPr>
                      </a:br>
                      <a:r>
                        <a:rPr lang="en-US" sz="1050" cap="none" spc="0">
                          <a:solidFill>
                            <a:schemeClr val="tx1"/>
                          </a:solidFill>
                          <a:latin typeface="Times New Roman" panose="02020603050405020304" pitchFamily="18" charset="0"/>
                          <a:cs typeface="Times New Roman" panose="02020603050405020304" pitchFamily="18" charset="0"/>
                        </a:rPr>
                        <a:t>- Created feature importance plot and confusion matrix.</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929082994"/>
                  </a:ext>
                </a:extLst>
              </a:tr>
              <a:tr h="554394">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7. Result Interpretation &amp; Discussion</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Varshini Guthi,  Vaishnavi Madhiraju, Sai Kiran Boddu</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Analyzed model outputs, accuracy, and feature importance.</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Interpreted clinical relevance of results (serum creatinine, age, bp).</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Drafted “Discussion” and “Interpretation” slides.</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555522692"/>
                  </a:ext>
                </a:extLst>
              </a:tr>
              <a:tr h="554394">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8. Final Conclusion</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a:solidFill>
                            <a:schemeClr val="tx1"/>
                          </a:solidFill>
                          <a:latin typeface="Times New Roman" panose="02020603050405020304" pitchFamily="18" charset="0"/>
                          <a:cs typeface="Times New Roman" panose="02020603050405020304" pitchFamily="18" charset="0"/>
                        </a:rPr>
                        <a:t>Sai Kiran Boddu,  Varshini Guthi, Vaishnavi Madhiraju</a:t>
                      </a:r>
                      <a:endParaRPr lang="en-IN" sz="1050" cap="none" spc="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Summarized overall findings and model comparison.</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Highlighted Random Forest as the most accurate and clinically interpretable model.</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Prepared concluding statement and final slide.</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381434267"/>
                  </a:ext>
                </a:extLst>
              </a:tr>
              <a:tr h="554394">
                <a:tc>
                  <a:txBody>
                    <a:bodyPr/>
                    <a:lstStyle/>
                    <a:p>
                      <a:pPr>
                        <a:buNone/>
                      </a:pPr>
                      <a:r>
                        <a:rPr lang="en-IN" sz="1050" b="1" cap="none" spc="0" dirty="0">
                          <a:solidFill>
                            <a:schemeClr val="tx1"/>
                          </a:solidFill>
                          <a:latin typeface="Times New Roman" panose="02020603050405020304" pitchFamily="18" charset="0"/>
                          <a:cs typeface="Times New Roman" panose="02020603050405020304" pitchFamily="18" charset="0"/>
                        </a:rPr>
                        <a:t>9. References &amp; Formatting</a:t>
                      </a:r>
                      <a:endParaRPr lang="en-IN" sz="1050" cap="none" spc="0" dirty="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IN" sz="1050" b="1" cap="none" spc="0" dirty="0">
                          <a:solidFill>
                            <a:schemeClr val="tx1"/>
                          </a:solidFill>
                          <a:latin typeface="Times New Roman" panose="02020603050405020304" pitchFamily="18" charset="0"/>
                          <a:cs typeface="Times New Roman" panose="02020603050405020304" pitchFamily="18" charset="0"/>
                        </a:rPr>
                        <a:t>Rithwik Raj Suram</a:t>
                      </a:r>
                      <a:r>
                        <a:rPr lang="en-IN" sz="1050" cap="none" spc="0" dirty="0">
                          <a:solidFill>
                            <a:schemeClr val="tx1"/>
                          </a:solidFill>
                          <a:latin typeface="Times New Roman" panose="02020603050405020304" pitchFamily="18" charset="0"/>
                          <a:cs typeface="Times New Roman" panose="02020603050405020304" pitchFamily="18" charset="0"/>
                        </a:rPr>
                        <a:t> , </a:t>
                      </a:r>
                      <a:r>
                        <a:rPr lang="en-IN" sz="1050" b="1" cap="none" spc="0" dirty="0">
                          <a:solidFill>
                            <a:schemeClr val="tx1"/>
                          </a:solidFill>
                          <a:latin typeface="Times New Roman" panose="02020603050405020304" pitchFamily="18" charset="0"/>
                          <a:cs typeface="Times New Roman" panose="02020603050405020304" pitchFamily="18" charset="0"/>
                        </a:rPr>
                        <a:t>Sharath Kasula</a:t>
                      </a:r>
                      <a:endParaRPr lang="en-IN" sz="1050" cap="none" spc="0" dirty="0">
                        <a:solidFill>
                          <a:schemeClr val="tx1"/>
                        </a:solidFill>
                        <a:latin typeface="Times New Roman" panose="02020603050405020304" pitchFamily="18" charset="0"/>
                        <a:cs typeface="Times New Roman" panose="02020603050405020304" pitchFamily="18" charset="0"/>
                      </a:endParaRP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050" cap="none" spc="0" dirty="0">
                          <a:solidFill>
                            <a:schemeClr val="tx1"/>
                          </a:solidFill>
                          <a:latin typeface="Times New Roman" panose="02020603050405020304" pitchFamily="18" charset="0"/>
                          <a:cs typeface="Times New Roman" panose="02020603050405020304" pitchFamily="18" charset="0"/>
                        </a:rPr>
                        <a:t>- Compiled all references (Kaggle dataset, ML research papers).</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Formatted slides, icons, visuals, and layout consistency.</a:t>
                      </a:r>
                      <a:br>
                        <a:rPr lang="en-US" sz="1050" cap="none" spc="0" dirty="0">
                          <a:solidFill>
                            <a:schemeClr val="tx1"/>
                          </a:solidFill>
                          <a:latin typeface="Times New Roman" panose="02020603050405020304" pitchFamily="18" charset="0"/>
                          <a:cs typeface="Times New Roman" panose="02020603050405020304" pitchFamily="18" charset="0"/>
                        </a:rPr>
                      </a:br>
                      <a:r>
                        <a:rPr lang="en-US" sz="1050" cap="none" spc="0" dirty="0">
                          <a:solidFill>
                            <a:schemeClr val="tx1"/>
                          </a:solidFill>
                          <a:latin typeface="Times New Roman" panose="02020603050405020304" pitchFamily="18" charset="0"/>
                          <a:cs typeface="Times New Roman" panose="02020603050405020304" pitchFamily="18" charset="0"/>
                        </a:rPr>
                        <a:t>- Proofread the PPT for clarity and academic style.</a:t>
                      </a:r>
                    </a:p>
                  </a:txBody>
                  <a:tcPr marL="25794" marR="25794" marT="38717" marB="25794"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227851803"/>
                  </a:ext>
                </a:extLst>
              </a:tr>
            </a:tbl>
          </a:graphicData>
        </a:graphic>
      </p:graphicFrame>
    </p:spTree>
    <p:extLst>
      <p:ext uri="{BB962C8B-B14F-4D97-AF65-F5344CB8AC3E}">
        <p14:creationId xmlns:p14="http://schemas.microsoft.com/office/powerpoint/2010/main" val="3317768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2878</TotalTime>
  <Words>3753</Words>
  <Application>Microsoft Office PowerPoint</Application>
  <PresentationFormat>Widescreen</PresentationFormat>
  <Paragraphs>252</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Aptos Display</vt:lpstr>
      <vt:lpstr>Arial</vt:lpstr>
      <vt:lpstr>Calibri</vt:lpstr>
      <vt:lpstr>Times New Roman</vt:lpstr>
      <vt:lpstr>Office Theme</vt:lpstr>
      <vt:lpstr>Predictive Modeling of Chronic Kidney Disease Based on Diabetes and Hypertension Factors</vt:lpstr>
      <vt:lpstr>Table of Contents</vt:lpstr>
      <vt:lpstr>Defining the Project</vt:lpstr>
      <vt:lpstr>PowerPoint Presentation</vt:lpstr>
      <vt:lpstr>Data Description</vt:lpstr>
      <vt:lpstr>Attribute Information</vt:lpstr>
      <vt:lpstr>Data cleaning</vt:lpstr>
      <vt:lpstr>Data processing </vt:lpstr>
      <vt:lpstr>Exploratory Data Analysis (EDA) </vt:lpstr>
      <vt:lpstr>Visualization &amp; Interpretation</vt:lpstr>
      <vt:lpstr>Pie chart (share of diabetes) </vt:lpstr>
      <vt:lpstr>Histogram (serum creatinine, sc) </vt:lpstr>
      <vt:lpstr>Box plot (blood pressure, bp) </vt:lpstr>
      <vt:lpstr>Scatter plot (relationship: sc vs bp) </vt:lpstr>
      <vt:lpstr>Scatter matrix (bonus overview)</vt:lpstr>
      <vt:lpstr>Final output</vt:lpstr>
      <vt:lpstr>PowerPoint Presentation</vt:lpstr>
      <vt:lpstr>PowerPoint Presentation</vt:lpstr>
      <vt:lpstr>PowerPoint Presentation</vt:lpstr>
      <vt:lpstr>PowerPoint Presentation</vt:lpstr>
      <vt:lpstr>PowerPoint Presentation</vt:lpstr>
      <vt:lpstr>Interpretation of Results</vt:lpstr>
      <vt:lpstr>Features selected</vt:lpstr>
      <vt:lpstr>PowerPoint Presentation</vt:lpstr>
      <vt:lpstr>Model Performance Comparison – KNN vs Naïve Bayes</vt:lpstr>
      <vt:lpstr>SVM Model Comparison for CKD Prediction</vt:lpstr>
      <vt:lpstr>PowerPoint Presentation</vt:lpstr>
      <vt:lpstr>Linear Kernel SVM Model</vt:lpstr>
      <vt:lpstr>Polynomial SVM (Accuracy = 70.9%)</vt:lpstr>
      <vt:lpstr>RBF SVM (Accuracy = 75.9%)</vt:lpstr>
      <vt:lpstr>Sigmoid SVM (Accuracy = 54.4%)</vt:lpstr>
      <vt:lpstr>Interpretation</vt:lpstr>
      <vt:lpstr>Random Forest</vt:lpstr>
      <vt:lpstr>PowerPoint Presentation</vt:lpstr>
      <vt:lpstr>Results</vt:lpstr>
      <vt:lpstr>PowerPoint Presentation</vt:lpstr>
      <vt:lpstr>REFERENCES :</vt:lpstr>
      <vt:lpstr>CONTRIBUTION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sharath kasula</dc:creator>
  <cp:lastModifiedBy>rithwik raj suram</cp:lastModifiedBy>
  <cp:revision>14</cp:revision>
  <dcterms:created xsi:type="dcterms:W3CDTF">2025-09-01T20:51:57Z</dcterms:created>
  <dcterms:modified xsi:type="dcterms:W3CDTF">2025-12-02T19:56:28Z</dcterms:modified>
</cp:coreProperties>
</file>